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0B4D8"/>
          </a:solidFill>
          <a:ln w="12700">
            <a:solidFill>
              <a:srgbClr val="00B4D8"/>
            </a:solidFill>
            <a:prstDash val="solid"/>
          </a:ln>
        </p:spPr>
      </p:sp>
      <p:sp>
        <p:nvSpPr>
          <p:cNvPr id="3" name="Text 1"/>
          <p:cNvSpPr/>
          <p:nvPr/>
        </p:nvSpPr>
        <p:spPr>
          <a:xfrm>
            <a:off x="457200" y="731520"/>
            <a:ext cx="8229600" cy="1280160"/>
          </a:xfrm>
          <a:prstGeom prst="rect">
            <a:avLst/>
          </a:prstGeom>
          <a:noFill/>
          <a:ln/>
        </p:spPr>
        <p:txBody>
          <a:bodyPr wrap="square" lIns="0" tIns="0" rIns="0" bIns="0" rtlCol="0" anchor="ctr"/>
          <a:lstStyle/>
          <a:p>
            <a:pPr indent="0" marL="0">
              <a:buNone/>
            </a:pPr>
            <a:r>
              <a:rPr lang="en-US" sz="8800" b="1" spc="1800" kern="0" dirty="0">
                <a:solidFill>
                  <a:srgbClr val="FFFFFF"/>
                </a:solidFill>
                <a:latin typeface="Calibri" pitchFamily="34" charset="0"/>
                <a:ea typeface="Calibri" pitchFamily="34" charset="-122"/>
                <a:cs typeface="Calibri" pitchFamily="34" charset="-120"/>
              </a:rPr>
              <a:t>ARIA</a:t>
            </a:r>
            <a:endParaRPr lang="en-US" sz="8800" dirty="0"/>
          </a:p>
        </p:txBody>
      </p:sp>
      <p:sp>
        <p:nvSpPr>
          <p:cNvPr id="4" name="Text 2"/>
          <p:cNvSpPr/>
          <p:nvPr/>
        </p:nvSpPr>
        <p:spPr>
          <a:xfrm>
            <a:off x="457200" y="1920240"/>
            <a:ext cx="7315200" cy="411480"/>
          </a:xfrm>
          <a:prstGeom prst="rect">
            <a:avLst/>
          </a:prstGeom>
          <a:noFill/>
          <a:ln/>
        </p:spPr>
        <p:txBody>
          <a:bodyPr wrap="square" lIns="0" tIns="0" rIns="0" bIns="0" rtlCol="0" anchor="ctr"/>
          <a:lstStyle/>
          <a:p>
            <a:pPr indent="0" marL="0">
              <a:buNone/>
            </a:pPr>
            <a:r>
              <a:rPr lang="en-US" sz="1800" i="1" dirty="0">
                <a:solidFill>
                  <a:srgbClr val="90E0EF"/>
                </a:solidFill>
                <a:latin typeface="Calibri" pitchFamily="34" charset="0"/>
                <a:ea typeface="Calibri" pitchFamily="34" charset="-122"/>
                <a:cs typeface="Calibri" pitchFamily="34" charset="-120"/>
              </a:rPr>
              <a:t>Adaptive Reasoning &amp; Intelligence Assistant</a:t>
            </a:r>
            <a:endParaRPr lang="en-US" sz="1800" dirty="0"/>
          </a:p>
        </p:txBody>
      </p:sp>
      <p:sp>
        <p:nvSpPr>
          <p:cNvPr id="5" name="Shape 3"/>
          <p:cNvSpPr/>
          <p:nvPr/>
        </p:nvSpPr>
        <p:spPr>
          <a:xfrm>
            <a:off x="457200" y="2423160"/>
            <a:ext cx="8229600" cy="0"/>
          </a:xfrm>
          <a:prstGeom prst="line">
            <a:avLst/>
          </a:prstGeom>
          <a:noFill/>
          <a:ln w="12700">
            <a:solidFill>
              <a:srgbClr val="0077A8"/>
            </a:solidFill>
            <a:prstDash val="solid"/>
          </a:ln>
        </p:spPr>
      </p:sp>
      <p:sp>
        <p:nvSpPr>
          <p:cNvPr id="6" name="Text 4"/>
          <p:cNvSpPr/>
          <p:nvPr/>
        </p:nvSpPr>
        <p:spPr>
          <a:xfrm>
            <a:off x="457200" y="2560320"/>
            <a:ext cx="8229600" cy="320040"/>
          </a:xfrm>
          <a:prstGeom prst="rect">
            <a:avLst/>
          </a:prstGeom>
          <a:noFill/>
          <a:ln/>
        </p:spPr>
        <p:txBody>
          <a:bodyPr wrap="square" lIns="0" tIns="0" rIns="0" bIns="0" rtlCol="0" anchor="ctr"/>
          <a:lstStyle/>
          <a:p>
            <a:pPr indent="0" marL="0">
              <a:buNone/>
            </a:pPr>
            <a:r>
              <a:rPr lang="en-US" sz="1300" dirty="0">
                <a:solidFill>
                  <a:srgbClr val="718096"/>
                </a:solidFill>
                <a:latin typeface="Calibri" pitchFamily="34" charset="0"/>
                <a:ea typeface="Calibri" pitchFamily="34" charset="-122"/>
                <a:cs typeface="Calibri" pitchFamily="34" charset="-120"/>
              </a:rPr>
              <a:t>Hackathon Kickoff  ·  FinOps Edition  ·  June 2026</a:t>
            </a:r>
            <a:endParaRPr lang="en-US" sz="1300" dirty="0"/>
          </a:p>
        </p:txBody>
      </p:sp>
      <p:sp>
        <p:nvSpPr>
          <p:cNvPr id="7" name="Shape 5"/>
          <p:cNvSpPr/>
          <p:nvPr/>
        </p:nvSpPr>
        <p:spPr>
          <a:xfrm>
            <a:off x="457200" y="4389120"/>
            <a:ext cx="1920240" cy="292608"/>
          </a:xfrm>
          <a:prstGeom prst="roundRect">
            <a:avLst>
              <a:gd name="adj" fmla="val 18750"/>
            </a:avLst>
          </a:prstGeom>
          <a:solidFill>
            <a:srgbClr val="0077A8"/>
          </a:solidFill>
          <a:ln w="12700">
            <a:solidFill>
              <a:srgbClr val="0077A8"/>
            </a:solidFill>
            <a:prstDash val="solid"/>
          </a:ln>
        </p:spPr>
      </p:sp>
      <p:sp>
        <p:nvSpPr>
          <p:cNvPr id="8" name="Text 6"/>
          <p:cNvSpPr/>
          <p:nvPr/>
        </p:nvSpPr>
        <p:spPr>
          <a:xfrm>
            <a:off x="457200" y="4389120"/>
            <a:ext cx="192024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Enterprise AI Platform</a:t>
            </a:r>
            <a:endParaRPr lang="en-US" sz="900" dirty="0"/>
          </a:p>
        </p:txBody>
      </p:sp>
      <p:sp>
        <p:nvSpPr>
          <p:cNvPr id="9" name="Shape 7"/>
          <p:cNvSpPr/>
          <p:nvPr/>
        </p:nvSpPr>
        <p:spPr>
          <a:xfrm>
            <a:off x="2651760" y="4389120"/>
            <a:ext cx="1920240" cy="292608"/>
          </a:xfrm>
          <a:prstGeom prst="roundRect">
            <a:avLst>
              <a:gd name="adj" fmla="val 18750"/>
            </a:avLst>
          </a:prstGeom>
          <a:solidFill>
            <a:srgbClr val="0077A8"/>
          </a:solidFill>
          <a:ln w="12700">
            <a:solidFill>
              <a:srgbClr val="0077A8"/>
            </a:solidFill>
            <a:prstDash val="solid"/>
          </a:ln>
        </p:spPr>
      </p:sp>
      <p:sp>
        <p:nvSpPr>
          <p:cNvPr id="10" name="Text 8"/>
          <p:cNvSpPr/>
          <p:nvPr/>
        </p:nvSpPr>
        <p:spPr>
          <a:xfrm>
            <a:off x="2651760" y="4389120"/>
            <a:ext cx="192024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Cost Intelligence</a:t>
            </a:r>
            <a:endParaRPr lang="en-US" sz="900" dirty="0"/>
          </a:p>
        </p:txBody>
      </p:sp>
      <p:sp>
        <p:nvSpPr>
          <p:cNvPr id="11" name="Shape 9"/>
          <p:cNvSpPr/>
          <p:nvPr/>
        </p:nvSpPr>
        <p:spPr>
          <a:xfrm>
            <a:off x="4846320" y="4389120"/>
            <a:ext cx="1920240" cy="292608"/>
          </a:xfrm>
          <a:prstGeom prst="roundRect">
            <a:avLst>
              <a:gd name="adj" fmla="val 18750"/>
            </a:avLst>
          </a:prstGeom>
          <a:solidFill>
            <a:srgbClr val="0077A8"/>
          </a:solidFill>
          <a:ln w="12700">
            <a:solidFill>
              <a:srgbClr val="0077A8"/>
            </a:solidFill>
            <a:prstDash val="solid"/>
          </a:ln>
        </p:spPr>
      </p:sp>
      <p:sp>
        <p:nvSpPr>
          <p:cNvPr id="12" name="Text 10"/>
          <p:cNvSpPr/>
          <p:nvPr/>
        </p:nvSpPr>
        <p:spPr>
          <a:xfrm>
            <a:off x="4846320" y="4389120"/>
            <a:ext cx="192024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Banking Grade</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457200" y="137160"/>
            <a:ext cx="2011680" cy="256032"/>
          </a:xfrm>
          <a:prstGeom prst="roundRect">
            <a:avLst>
              <a:gd name="adj" fmla="val 17857"/>
            </a:avLst>
          </a:prstGeom>
          <a:solidFill>
            <a:srgbClr val="00B4D8"/>
          </a:solidFill>
          <a:ln w="12700">
            <a:solidFill>
              <a:srgbClr val="00B4D8"/>
            </a:solidFill>
            <a:prstDash val="solid"/>
          </a:ln>
        </p:spPr>
      </p:sp>
      <p:sp>
        <p:nvSpPr>
          <p:cNvPr id="3" name="Text 1"/>
          <p:cNvSpPr/>
          <p:nvPr/>
        </p:nvSpPr>
        <p:spPr>
          <a:xfrm>
            <a:off x="457200" y="137160"/>
            <a:ext cx="2011680" cy="256032"/>
          </a:xfrm>
          <a:prstGeom prst="rect">
            <a:avLst/>
          </a:prstGeom>
          <a:noFill/>
          <a:ln/>
        </p:spPr>
        <p:txBody>
          <a:bodyPr wrap="square" lIns="0" tIns="0" rIns="0" bIns="0" rtlCol="0" anchor="ctr"/>
          <a:lstStyle/>
          <a:p>
            <a:pPr algn="ctr" indent="0" marL="0">
              <a:buNone/>
            </a:pPr>
            <a:r>
              <a:rPr lang="en-US" sz="800" b="1" dirty="0">
                <a:solidFill>
                  <a:srgbClr val="0A1628"/>
                </a:solidFill>
                <a:latin typeface="Calibri" pitchFamily="34" charset="0"/>
                <a:ea typeface="Calibri" pitchFamily="34" charset="-122"/>
                <a:cs typeface="Calibri" pitchFamily="34" charset="-120"/>
              </a:rPr>
              <a:t>BIG PICTURE</a:t>
            </a:r>
            <a:endParaRPr lang="en-US" sz="800" dirty="0"/>
          </a:p>
        </p:txBody>
      </p:sp>
      <p:sp>
        <p:nvSpPr>
          <p:cNvPr id="4" name="Text 2"/>
          <p:cNvSpPr/>
          <p:nvPr/>
        </p:nvSpPr>
        <p:spPr>
          <a:xfrm>
            <a:off x="457200" y="502920"/>
            <a:ext cx="8229600" cy="457200"/>
          </a:xfrm>
          <a:prstGeom prst="rect">
            <a:avLst/>
          </a:prstGeom>
          <a:noFill/>
          <a:ln/>
        </p:spPr>
        <p:txBody>
          <a:bodyPr wrap="square" lIns="0" tIns="0" rIns="0" bIns="0" rtlCol="0" anchor="ctr"/>
          <a:lstStyle/>
          <a:p>
            <a:pPr indent="0" marL="0">
              <a:buNone/>
            </a:pPr>
            <a:r>
              <a:rPr lang="en-US" sz="2200" b="1" dirty="0">
                <a:solidFill>
                  <a:srgbClr val="0A1628"/>
                </a:solidFill>
                <a:latin typeface="Calibri" pitchFamily="34" charset="0"/>
                <a:ea typeface="Calibri" pitchFamily="34" charset="-122"/>
                <a:cs typeface="Calibri" pitchFamily="34" charset="-120"/>
              </a:rPr>
              <a:t>What is ARIA?</a:t>
            </a:r>
            <a:endParaRPr lang="en-US" sz="2200" dirty="0"/>
          </a:p>
        </p:txBody>
      </p:sp>
      <p:sp>
        <p:nvSpPr>
          <p:cNvPr id="5" name="Shape 3"/>
          <p:cNvSpPr/>
          <p:nvPr/>
        </p:nvSpPr>
        <p:spPr>
          <a:xfrm>
            <a:off x="457200" y="1005840"/>
            <a:ext cx="4023360" cy="3291840"/>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2000"/>
              </a:srgbClr>
            </a:outerShdw>
          </a:effectLst>
        </p:spPr>
      </p:sp>
      <p:sp>
        <p:nvSpPr>
          <p:cNvPr id="6" name="Shape 4"/>
          <p:cNvSpPr/>
          <p:nvPr/>
        </p:nvSpPr>
        <p:spPr>
          <a:xfrm>
            <a:off x="457200" y="1005840"/>
            <a:ext cx="45720" cy="3291840"/>
          </a:xfrm>
          <a:prstGeom prst="rect">
            <a:avLst/>
          </a:prstGeom>
          <a:solidFill>
            <a:srgbClr val="00B4D8"/>
          </a:solidFill>
          <a:ln w="12700">
            <a:solidFill>
              <a:srgbClr val="00B4D8"/>
            </a:solidFill>
            <a:prstDash val="solid"/>
          </a:ln>
        </p:spPr>
      </p:sp>
      <p:sp>
        <p:nvSpPr>
          <p:cNvPr id="7" name="Text 5"/>
          <p:cNvSpPr/>
          <p:nvPr/>
        </p:nvSpPr>
        <p:spPr>
          <a:xfrm>
            <a:off x="594360" y="1097280"/>
            <a:ext cx="3749040" cy="274320"/>
          </a:xfrm>
          <a:prstGeom prst="rect">
            <a:avLst/>
          </a:prstGeom>
          <a:noFill/>
          <a:ln/>
        </p:spPr>
        <p:txBody>
          <a:bodyPr wrap="square" lIns="0" tIns="0" rIns="0" bIns="0" rtlCol="0" anchor="ctr"/>
          <a:lstStyle/>
          <a:p>
            <a:pPr indent="0" marL="0">
              <a:buNone/>
            </a:pPr>
            <a:r>
              <a:rPr lang="en-US" sz="1300" b="1" dirty="0">
                <a:solidFill>
                  <a:srgbClr val="0077A8"/>
                </a:solidFill>
                <a:latin typeface="Calibri" pitchFamily="34" charset="0"/>
                <a:ea typeface="Calibri" pitchFamily="34" charset="-122"/>
                <a:cs typeface="Calibri" pitchFamily="34" charset="-120"/>
              </a:rPr>
              <a:t>The Platform</a:t>
            </a:r>
            <a:endParaRPr lang="en-US" sz="1300" dirty="0"/>
          </a:p>
        </p:txBody>
      </p:sp>
      <p:sp>
        <p:nvSpPr>
          <p:cNvPr id="8" name="Text 6"/>
          <p:cNvSpPr/>
          <p:nvPr/>
        </p:nvSpPr>
        <p:spPr>
          <a:xfrm>
            <a:off x="594360" y="1444752"/>
            <a:ext cx="3749040" cy="2651760"/>
          </a:xfrm>
          <a:prstGeom prst="rect">
            <a:avLst/>
          </a:prstGeom>
          <a:noFill/>
          <a:ln/>
        </p:spPr>
        <p:txBody>
          <a:bodyPr wrap="square" rtlCol="0" anchor="t"/>
          <a:lstStyle/>
          <a:p>
            <a:pPr indent="0" marL="0">
              <a:buNone/>
            </a:pPr>
            <a:r>
              <a:rPr lang="en-US" sz="1100" dirty="0">
                <a:solidFill>
                  <a:srgbClr val="4A5568"/>
                </a:solidFill>
                <a:latin typeface="Calibri" pitchFamily="34" charset="0"/>
                <a:ea typeface="Calibri" pitchFamily="34" charset="-122"/>
                <a:cs typeface="Calibri" pitchFamily="34" charset="-120"/>
              </a:rPr>
              <a:t>ARIA is an enterprise-grade agentic AI platform built for banking and regulated industries. It is not a chatbot or a single feature — it is a multi-capability platform that hosts AI agents for a wide range of business workflows.</a:t>
            </a:r>
            <a:endParaRPr lang="en-US" sz="1100" dirty="0"/>
          </a:p>
          <a:p>
            <a:pPr indent="0" marL="0">
              <a:buNone/>
            </a:pPr>
            <a:endParaRPr lang="en-US" sz="1100" dirty="0"/>
          </a:p>
          <a:p>
            <a:pPr indent="0" marL="0">
              <a:buNone/>
            </a:pPr>
            <a:r>
              <a:rPr lang="en-US" sz="1100" dirty="0">
                <a:solidFill>
                  <a:srgbClr val="4A5568"/>
                </a:solidFill>
                <a:latin typeface="Calibri" pitchFamily="34" charset="0"/>
                <a:ea typeface="Calibri" pitchFamily="34" charset="-122"/>
                <a:cs typeface="Calibri" pitchFamily="34" charset="-120"/>
              </a:rPr>
              <a:t>Think of ARIA as the operating layer that makes AI agents production-safe: cost-aware, secure, observable, and governable.</a:t>
            </a:r>
            <a:endParaRPr lang="en-US" sz="1100" dirty="0"/>
          </a:p>
        </p:txBody>
      </p:sp>
      <p:sp>
        <p:nvSpPr>
          <p:cNvPr id="9" name="Shape 7"/>
          <p:cNvSpPr/>
          <p:nvPr/>
        </p:nvSpPr>
        <p:spPr>
          <a:xfrm>
            <a:off x="4754880" y="1005840"/>
            <a:ext cx="3931920" cy="713232"/>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2000"/>
              </a:srgbClr>
            </a:outerShdw>
          </a:effectLst>
        </p:spPr>
      </p:sp>
      <p:sp>
        <p:nvSpPr>
          <p:cNvPr id="10" name="Text 8"/>
          <p:cNvSpPr/>
          <p:nvPr/>
        </p:nvSpPr>
        <p:spPr>
          <a:xfrm>
            <a:off x="4892040" y="1051560"/>
            <a:ext cx="3657600" cy="274320"/>
          </a:xfrm>
          <a:prstGeom prst="rect">
            <a:avLst/>
          </a:prstGeom>
          <a:noFill/>
          <a:ln/>
        </p:spPr>
        <p:txBody>
          <a:bodyPr wrap="square" lIns="0" tIns="0" rIns="0" bIns="0" rtlCol="0" anchor="ctr"/>
          <a:lstStyle/>
          <a:p>
            <a:pPr indent="0" marL="0">
              <a:buNone/>
            </a:pPr>
            <a:r>
              <a:rPr lang="en-US" sz="1100" b="1" dirty="0">
                <a:solidFill>
                  <a:srgbClr val="0A1628"/>
                </a:solidFill>
                <a:latin typeface="Calibri" pitchFamily="34" charset="0"/>
                <a:ea typeface="Calibri" pitchFamily="34" charset="-122"/>
                <a:cs typeface="Calibri" pitchFamily="34" charset="-120"/>
              </a:rPr>
              <a:t>🧠  Intelligent Agents</a:t>
            </a:r>
            <a:endParaRPr lang="en-US" sz="1100" dirty="0"/>
          </a:p>
        </p:txBody>
      </p:sp>
      <p:sp>
        <p:nvSpPr>
          <p:cNvPr id="11" name="Text 9"/>
          <p:cNvSpPr/>
          <p:nvPr/>
        </p:nvSpPr>
        <p:spPr>
          <a:xfrm>
            <a:off x="4892040" y="1307592"/>
            <a:ext cx="3657600" cy="274320"/>
          </a:xfrm>
          <a:prstGeom prst="rect">
            <a:avLst/>
          </a:prstGeom>
          <a:noFill/>
          <a:ln/>
        </p:spPr>
        <p:txBody>
          <a:bodyPr wrap="square" lIns="0" tIns="0" rIns="0" bIns="0" rtlCol="0" anchor="ctr"/>
          <a:lstStyle/>
          <a:p>
            <a:pPr indent="0" marL="0">
              <a:buNone/>
            </a:pPr>
            <a:r>
              <a:rPr lang="en-US" sz="1000" dirty="0">
                <a:solidFill>
                  <a:srgbClr val="4A5568"/>
                </a:solidFill>
                <a:latin typeface="Calibri" pitchFamily="34" charset="0"/>
                <a:ea typeface="Calibri" pitchFamily="34" charset="-122"/>
                <a:cs typeface="Calibri" pitchFamily="34" charset="-120"/>
              </a:rPr>
              <a:t>Multi-turn reasoning, tool use, RAG, memory</a:t>
            </a:r>
            <a:endParaRPr lang="en-US" sz="1000" dirty="0"/>
          </a:p>
        </p:txBody>
      </p:sp>
      <p:sp>
        <p:nvSpPr>
          <p:cNvPr id="12" name="Shape 10"/>
          <p:cNvSpPr/>
          <p:nvPr/>
        </p:nvSpPr>
        <p:spPr>
          <a:xfrm>
            <a:off x="4754880" y="1810512"/>
            <a:ext cx="3931920" cy="713232"/>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2000"/>
              </a:srgbClr>
            </a:outerShdw>
          </a:effectLst>
        </p:spPr>
      </p:sp>
      <p:sp>
        <p:nvSpPr>
          <p:cNvPr id="13" name="Text 11"/>
          <p:cNvSpPr/>
          <p:nvPr/>
        </p:nvSpPr>
        <p:spPr>
          <a:xfrm>
            <a:off x="4892040" y="1856232"/>
            <a:ext cx="3657600" cy="274320"/>
          </a:xfrm>
          <a:prstGeom prst="rect">
            <a:avLst/>
          </a:prstGeom>
          <a:noFill/>
          <a:ln/>
        </p:spPr>
        <p:txBody>
          <a:bodyPr wrap="square" lIns="0" tIns="0" rIns="0" bIns="0" rtlCol="0" anchor="ctr"/>
          <a:lstStyle/>
          <a:p>
            <a:pPr indent="0" marL="0">
              <a:buNone/>
            </a:pPr>
            <a:r>
              <a:rPr lang="en-US" sz="1100" b="1" dirty="0">
                <a:solidFill>
                  <a:srgbClr val="0A1628"/>
                </a:solidFill>
                <a:latin typeface="Calibri" pitchFamily="34" charset="0"/>
                <a:ea typeface="Calibri" pitchFamily="34" charset="-122"/>
                <a:cs typeface="Calibri" pitchFamily="34" charset="-120"/>
              </a:rPr>
              <a:t>💰  FinOps Intelligence</a:t>
            </a:r>
            <a:endParaRPr lang="en-US" sz="1100" dirty="0"/>
          </a:p>
        </p:txBody>
      </p:sp>
      <p:sp>
        <p:nvSpPr>
          <p:cNvPr id="14" name="Text 12"/>
          <p:cNvSpPr/>
          <p:nvPr/>
        </p:nvSpPr>
        <p:spPr>
          <a:xfrm>
            <a:off x="4892040" y="2112264"/>
            <a:ext cx="3657600" cy="274320"/>
          </a:xfrm>
          <a:prstGeom prst="rect">
            <a:avLst/>
          </a:prstGeom>
          <a:noFill/>
          <a:ln/>
        </p:spPr>
        <p:txBody>
          <a:bodyPr wrap="square" lIns="0" tIns="0" rIns="0" bIns="0" rtlCol="0" anchor="ctr"/>
          <a:lstStyle/>
          <a:p>
            <a:pPr indent="0" marL="0">
              <a:buNone/>
            </a:pPr>
            <a:r>
              <a:rPr lang="en-US" sz="1000" dirty="0">
                <a:solidFill>
                  <a:srgbClr val="4A5568"/>
                </a:solidFill>
                <a:latin typeface="Calibri" pitchFamily="34" charset="0"/>
                <a:ea typeface="Calibri" pitchFamily="34" charset="-122"/>
                <a:cs typeface="Calibri" pitchFamily="34" charset="-120"/>
              </a:rPr>
              <a:t>Token tracking, cost attribution, optimization</a:t>
            </a:r>
            <a:endParaRPr lang="en-US" sz="1000" dirty="0"/>
          </a:p>
        </p:txBody>
      </p:sp>
      <p:sp>
        <p:nvSpPr>
          <p:cNvPr id="15" name="Shape 13"/>
          <p:cNvSpPr/>
          <p:nvPr/>
        </p:nvSpPr>
        <p:spPr>
          <a:xfrm>
            <a:off x="4754880" y="2615184"/>
            <a:ext cx="3931920" cy="713232"/>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2000"/>
              </a:srgbClr>
            </a:outerShdw>
          </a:effectLst>
        </p:spPr>
      </p:sp>
      <p:sp>
        <p:nvSpPr>
          <p:cNvPr id="16" name="Text 14"/>
          <p:cNvSpPr/>
          <p:nvPr/>
        </p:nvSpPr>
        <p:spPr>
          <a:xfrm>
            <a:off x="4892040" y="2660904"/>
            <a:ext cx="3657600" cy="274320"/>
          </a:xfrm>
          <a:prstGeom prst="rect">
            <a:avLst/>
          </a:prstGeom>
          <a:noFill/>
          <a:ln/>
        </p:spPr>
        <p:txBody>
          <a:bodyPr wrap="square" lIns="0" tIns="0" rIns="0" bIns="0" rtlCol="0" anchor="ctr"/>
          <a:lstStyle/>
          <a:p>
            <a:pPr indent="0" marL="0">
              <a:buNone/>
            </a:pPr>
            <a:r>
              <a:rPr lang="en-US" sz="1100" b="1" dirty="0">
                <a:solidFill>
                  <a:srgbClr val="0A1628"/>
                </a:solidFill>
                <a:latin typeface="Calibri" pitchFamily="34" charset="0"/>
                <a:ea typeface="Calibri" pitchFamily="34" charset="-122"/>
                <a:cs typeface="Calibri" pitchFamily="34" charset="-120"/>
              </a:rPr>
              <a:t>🛡️  Security Hardening</a:t>
            </a:r>
            <a:endParaRPr lang="en-US" sz="1100" dirty="0"/>
          </a:p>
        </p:txBody>
      </p:sp>
      <p:sp>
        <p:nvSpPr>
          <p:cNvPr id="17" name="Text 15"/>
          <p:cNvSpPr/>
          <p:nvPr/>
        </p:nvSpPr>
        <p:spPr>
          <a:xfrm>
            <a:off x="4892040" y="2916936"/>
            <a:ext cx="3657600" cy="274320"/>
          </a:xfrm>
          <a:prstGeom prst="rect">
            <a:avLst/>
          </a:prstGeom>
          <a:noFill/>
          <a:ln/>
        </p:spPr>
        <p:txBody>
          <a:bodyPr wrap="square" lIns="0" tIns="0" rIns="0" bIns="0" rtlCol="0" anchor="ctr"/>
          <a:lstStyle/>
          <a:p>
            <a:pPr indent="0" marL="0">
              <a:buNone/>
            </a:pPr>
            <a:r>
              <a:rPr lang="en-US" sz="1000" dirty="0">
                <a:solidFill>
                  <a:srgbClr val="4A5568"/>
                </a:solidFill>
                <a:latin typeface="Calibri" pitchFamily="34" charset="0"/>
                <a:ea typeface="Calibri" pitchFamily="34" charset="-122"/>
                <a:cs typeface="Calibri" pitchFamily="34" charset="-120"/>
              </a:rPr>
              <a:t>Agent trap defenses, RAG provenance, circuit breakers</a:t>
            </a:r>
            <a:endParaRPr lang="en-US" sz="1000" dirty="0"/>
          </a:p>
        </p:txBody>
      </p:sp>
      <p:sp>
        <p:nvSpPr>
          <p:cNvPr id="18" name="Shape 16"/>
          <p:cNvSpPr/>
          <p:nvPr/>
        </p:nvSpPr>
        <p:spPr>
          <a:xfrm>
            <a:off x="4754880" y="3419856"/>
            <a:ext cx="3931920" cy="713232"/>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2000"/>
              </a:srgbClr>
            </a:outerShdw>
          </a:effectLst>
        </p:spPr>
      </p:sp>
      <p:sp>
        <p:nvSpPr>
          <p:cNvPr id="19" name="Text 17"/>
          <p:cNvSpPr/>
          <p:nvPr/>
        </p:nvSpPr>
        <p:spPr>
          <a:xfrm>
            <a:off x="4892040" y="3465576"/>
            <a:ext cx="3657600" cy="274320"/>
          </a:xfrm>
          <a:prstGeom prst="rect">
            <a:avLst/>
          </a:prstGeom>
          <a:noFill/>
          <a:ln/>
        </p:spPr>
        <p:txBody>
          <a:bodyPr wrap="square" lIns="0" tIns="0" rIns="0" bIns="0" rtlCol="0" anchor="ctr"/>
          <a:lstStyle/>
          <a:p>
            <a:pPr indent="0" marL="0">
              <a:buNone/>
            </a:pPr>
            <a:r>
              <a:rPr lang="en-US" sz="1100" b="1" dirty="0">
                <a:solidFill>
                  <a:srgbClr val="0A1628"/>
                </a:solidFill>
                <a:latin typeface="Calibri" pitchFamily="34" charset="0"/>
                <a:ea typeface="Calibri" pitchFamily="34" charset="-122"/>
                <a:cs typeface="Calibri" pitchFamily="34" charset="-120"/>
              </a:rPr>
              <a:t>📊  Business Outcomes</a:t>
            </a:r>
            <a:endParaRPr lang="en-US" sz="1100" dirty="0"/>
          </a:p>
        </p:txBody>
      </p:sp>
      <p:sp>
        <p:nvSpPr>
          <p:cNvPr id="20" name="Text 18"/>
          <p:cNvSpPr/>
          <p:nvPr/>
        </p:nvSpPr>
        <p:spPr>
          <a:xfrm>
            <a:off x="4892040" y="3721608"/>
            <a:ext cx="3657600" cy="274320"/>
          </a:xfrm>
          <a:prstGeom prst="rect">
            <a:avLst/>
          </a:prstGeom>
          <a:noFill/>
          <a:ln/>
        </p:spPr>
        <p:txBody>
          <a:bodyPr wrap="square" lIns="0" tIns="0" rIns="0" bIns="0" rtlCol="0" anchor="ctr"/>
          <a:lstStyle/>
          <a:p>
            <a:pPr indent="0" marL="0">
              <a:buNone/>
            </a:pPr>
            <a:r>
              <a:rPr lang="en-US" sz="1000" dirty="0">
                <a:solidFill>
                  <a:srgbClr val="4A5568"/>
                </a:solidFill>
                <a:latin typeface="Calibri" pitchFamily="34" charset="0"/>
                <a:ea typeface="Calibri" pitchFamily="34" charset="-122"/>
                <a:cs typeface="Calibri" pitchFamily="34" charset="-120"/>
              </a:rPr>
              <a:t>Cost per KYC check, per AML alert, per report</a:t>
            </a:r>
            <a:endParaRPr lang="en-US" sz="1000" dirty="0"/>
          </a:p>
        </p:txBody>
      </p:sp>
      <p:sp>
        <p:nvSpPr>
          <p:cNvPr id="21" name="Shape 19"/>
          <p:cNvSpPr/>
          <p:nvPr/>
        </p:nvSpPr>
        <p:spPr>
          <a:xfrm>
            <a:off x="457200" y="4434840"/>
            <a:ext cx="8229600" cy="411480"/>
          </a:xfrm>
          <a:prstGeom prst="rect">
            <a:avLst/>
          </a:prstGeom>
          <a:solidFill>
            <a:srgbClr val="0A1628"/>
          </a:solidFill>
          <a:ln w="12700">
            <a:solidFill>
              <a:srgbClr val="0A1628"/>
            </a:solidFill>
            <a:prstDash val="solid"/>
          </a:ln>
        </p:spPr>
      </p:sp>
      <p:sp>
        <p:nvSpPr>
          <p:cNvPr id="22" name="Text 20"/>
          <p:cNvSpPr/>
          <p:nvPr/>
        </p:nvSpPr>
        <p:spPr>
          <a:xfrm>
            <a:off x="548640" y="4434840"/>
            <a:ext cx="8046720" cy="411480"/>
          </a:xfrm>
          <a:prstGeom prst="rect">
            <a:avLst/>
          </a:prstGeom>
          <a:noFill/>
          <a:ln/>
        </p:spPr>
        <p:txBody>
          <a:bodyPr wrap="square" lIns="0" tIns="0" rIns="0" bIns="0" rtlCol="0" anchor="ctr"/>
          <a:lstStyle/>
          <a:p>
            <a:pPr indent="0" marL="0">
              <a:buNone/>
            </a:pPr>
            <a:r>
              <a:rPr lang="en-US" sz="1000" i="1" dirty="0">
                <a:solidFill>
                  <a:srgbClr val="90E0EF"/>
                </a:solidFill>
                <a:latin typeface="Calibri" pitchFamily="34" charset="0"/>
                <a:ea typeface="Calibri" pitchFamily="34" charset="-122"/>
                <a:cs typeface="Calibri" pitchFamily="34" charset="-120"/>
              </a:rPr>
              <a:t>Today's hackathon targets the FinOps Intelligence pillar — the most immediately measurable and demonstrable capability.</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457200" y="137160"/>
            <a:ext cx="2011680" cy="256032"/>
          </a:xfrm>
          <a:prstGeom prst="roundRect">
            <a:avLst>
              <a:gd name="adj" fmla="val 17857"/>
            </a:avLst>
          </a:prstGeom>
          <a:solidFill>
            <a:srgbClr val="00B4D8"/>
          </a:solidFill>
          <a:ln w="12700">
            <a:solidFill>
              <a:srgbClr val="00B4D8"/>
            </a:solidFill>
            <a:prstDash val="solid"/>
          </a:ln>
        </p:spPr>
      </p:sp>
      <p:sp>
        <p:nvSpPr>
          <p:cNvPr id="3" name="Text 1"/>
          <p:cNvSpPr/>
          <p:nvPr/>
        </p:nvSpPr>
        <p:spPr>
          <a:xfrm>
            <a:off x="457200" y="137160"/>
            <a:ext cx="2011680" cy="256032"/>
          </a:xfrm>
          <a:prstGeom prst="rect">
            <a:avLst/>
          </a:prstGeom>
          <a:noFill/>
          <a:ln/>
        </p:spPr>
        <p:txBody>
          <a:bodyPr wrap="square" lIns="0" tIns="0" rIns="0" bIns="0" rtlCol="0" anchor="ctr"/>
          <a:lstStyle/>
          <a:p>
            <a:pPr algn="ctr" indent="0" marL="0">
              <a:buNone/>
            </a:pPr>
            <a:r>
              <a:rPr lang="en-US" sz="800" b="1" dirty="0">
                <a:solidFill>
                  <a:srgbClr val="0A1628"/>
                </a:solidFill>
                <a:latin typeface="Calibri" pitchFamily="34" charset="0"/>
                <a:ea typeface="Calibri" pitchFamily="34" charset="-122"/>
                <a:cs typeface="Calibri" pitchFamily="34" charset="-120"/>
              </a:rPr>
              <a:t>USE CASES</a:t>
            </a:r>
            <a:endParaRPr lang="en-US" sz="800" dirty="0"/>
          </a:p>
        </p:txBody>
      </p:sp>
      <p:sp>
        <p:nvSpPr>
          <p:cNvPr id="4" name="Text 2"/>
          <p:cNvSpPr/>
          <p:nvPr/>
        </p:nvSpPr>
        <p:spPr>
          <a:xfrm>
            <a:off x="457200" y="502920"/>
            <a:ext cx="8229600" cy="457200"/>
          </a:xfrm>
          <a:prstGeom prst="rect">
            <a:avLst/>
          </a:prstGeom>
          <a:noFill/>
          <a:ln/>
        </p:spPr>
        <p:txBody>
          <a:bodyPr wrap="square" lIns="0" tIns="0" rIns="0" bIns="0" rtlCol="0" anchor="ctr"/>
          <a:lstStyle/>
          <a:p>
            <a:pPr indent="0" marL="0">
              <a:buNone/>
            </a:pPr>
            <a:r>
              <a:rPr lang="en-US" sz="2200" b="1" dirty="0">
                <a:solidFill>
                  <a:srgbClr val="0A1628"/>
                </a:solidFill>
                <a:latin typeface="Calibri" pitchFamily="34" charset="0"/>
                <a:ea typeface="Calibri" pitchFamily="34" charset="-122"/>
                <a:cs typeface="Calibri" pitchFamily="34" charset="-120"/>
              </a:rPr>
              <a:t>ARIA Across Banking — The Bigger Platform</a:t>
            </a:r>
            <a:endParaRPr lang="en-US" sz="2200" dirty="0"/>
          </a:p>
        </p:txBody>
      </p:sp>
      <p:sp>
        <p:nvSpPr>
          <p:cNvPr id="5" name="Shape 3"/>
          <p:cNvSpPr/>
          <p:nvPr/>
        </p:nvSpPr>
        <p:spPr>
          <a:xfrm>
            <a:off x="457200" y="960120"/>
            <a:ext cx="3977640" cy="1481328"/>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2000"/>
              </a:srgbClr>
            </a:outerShdw>
          </a:effectLst>
        </p:spPr>
      </p:sp>
      <p:sp>
        <p:nvSpPr>
          <p:cNvPr id="6" name="Shape 4"/>
          <p:cNvSpPr/>
          <p:nvPr/>
        </p:nvSpPr>
        <p:spPr>
          <a:xfrm>
            <a:off x="457200" y="960120"/>
            <a:ext cx="3977640" cy="347472"/>
          </a:xfrm>
          <a:prstGeom prst="rect">
            <a:avLst/>
          </a:prstGeom>
          <a:solidFill>
            <a:srgbClr val="00B4D8"/>
          </a:solidFill>
          <a:ln w="12700">
            <a:solidFill>
              <a:srgbClr val="00B4D8"/>
            </a:solidFill>
            <a:prstDash val="solid"/>
          </a:ln>
        </p:spPr>
      </p:sp>
      <p:sp>
        <p:nvSpPr>
          <p:cNvPr id="7" name="Text 5"/>
          <p:cNvSpPr/>
          <p:nvPr/>
        </p:nvSpPr>
        <p:spPr>
          <a:xfrm>
            <a:off x="594360" y="960120"/>
            <a:ext cx="3200400" cy="347472"/>
          </a:xfrm>
          <a:prstGeom prst="rect">
            <a:avLst/>
          </a:prstGeom>
          <a:noFill/>
          <a:ln/>
        </p:spPr>
        <p:txBody>
          <a:bodyPr wrap="square" lIns="0" tIns="0" rIns="0" bIns="0" rtlCol="0" anchor="ctr"/>
          <a:lstStyle/>
          <a:p>
            <a:pPr indent="0" marL="0">
              <a:buNone/>
            </a:pPr>
            <a:r>
              <a:rPr lang="en-US" sz="1200" b="1" dirty="0">
                <a:solidFill>
                  <a:srgbClr val="0A1628"/>
                </a:solidFill>
                <a:latin typeface="Calibri" pitchFamily="34" charset="0"/>
                <a:ea typeface="Calibri" pitchFamily="34" charset="-122"/>
                <a:cs typeface="Calibri" pitchFamily="34" charset="-120"/>
              </a:rPr>
              <a:t>💰  AI FinOps Intelligence</a:t>
            </a:r>
            <a:endParaRPr lang="en-US" sz="1200" dirty="0"/>
          </a:p>
        </p:txBody>
      </p:sp>
      <p:sp>
        <p:nvSpPr>
          <p:cNvPr id="8" name="Shape 6"/>
          <p:cNvSpPr/>
          <p:nvPr/>
        </p:nvSpPr>
        <p:spPr>
          <a:xfrm>
            <a:off x="3310128" y="987552"/>
            <a:ext cx="914400" cy="256032"/>
          </a:xfrm>
          <a:prstGeom prst="rect">
            <a:avLst>
              <a:gd name="adj" fmla="val 14286"/>
            </a:avLst>
          </a:prstGeom>
          <a:solidFill>
            <a:srgbClr val="0A1628"/>
          </a:solidFill>
          <a:ln w="12700">
            <a:solidFill>
              <a:srgbClr val="0A1628"/>
            </a:solidFill>
            <a:prstDash val="solid"/>
          </a:ln>
        </p:spPr>
      </p:sp>
      <p:sp>
        <p:nvSpPr>
          <p:cNvPr id="9" name="Text 7"/>
          <p:cNvSpPr/>
          <p:nvPr/>
        </p:nvSpPr>
        <p:spPr>
          <a:xfrm>
            <a:off x="3310128" y="987552"/>
            <a:ext cx="914400" cy="256032"/>
          </a:xfrm>
          <a:prstGeom prst="rect">
            <a:avLst/>
          </a:prstGeom>
          <a:noFill/>
          <a:ln/>
        </p:spPr>
        <p:txBody>
          <a:bodyPr wrap="square" lIns="0" tIns="0" rIns="0" bIns="0" rtlCol="0" anchor="ctr"/>
          <a:lstStyle/>
          <a:p>
            <a:pPr algn="ctr" indent="0" marL="0">
              <a:buNone/>
            </a:pPr>
            <a:r>
              <a:rPr lang="en-US" sz="700" b="1" dirty="0">
                <a:solidFill>
                  <a:srgbClr val="00B4D8"/>
                </a:solidFill>
                <a:latin typeface="Calibri" pitchFamily="34" charset="0"/>
                <a:ea typeface="Calibri" pitchFamily="34" charset="-122"/>
                <a:cs typeface="Calibri" pitchFamily="34" charset="-120"/>
              </a:rPr>
              <a:t>HACKATHON</a:t>
            </a:r>
            <a:endParaRPr lang="en-US" sz="700" dirty="0"/>
          </a:p>
        </p:txBody>
      </p:sp>
      <p:sp>
        <p:nvSpPr>
          <p:cNvPr id="10" name="Text 8"/>
          <p:cNvSpPr/>
          <p:nvPr/>
        </p:nvSpPr>
        <p:spPr>
          <a:xfrm>
            <a:off x="594360" y="1371600"/>
            <a:ext cx="3730752" cy="1005840"/>
          </a:xfrm>
          <a:prstGeom prst="rect">
            <a:avLst/>
          </a:prstGeom>
          <a:noFill/>
          <a:ln/>
        </p:spPr>
        <p:txBody>
          <a:bodyPr wrap="square" rtlCol="0" anchor="t"/>
          <a:lstStyle/>
          <a:p>
            <a:pPr indent="0" marL="0">
              <a:buNone/>
            </a:pPr>
            <a:r>
              <a:rPr lang="en-US" sz="950" dirty="0">
                <a:solidFill>
                  <a:srgbClr val="4A5568"/>
                </a:solidFill>
                <a:latin typeface="Calibri" pitchFamily="34" charset="0"/>
                <a:ea typeface="Calibri" pitchFamily="34" charset="-122"/>
                <a:cs typeface="Calibri" pitchFamily="34" charset="-120"/>
              </a:rPr>
              <a:t>Token-level cost attribution across every agent session, feature, user, and model. Real-time FinOps dashboard tracks spend velocity, cache efficiency, and budget burn. Active Optimizer autonomously routes cheap queries to Haiku, defers batch work, and throttles before budget ceilings are hit. Closes the loop from observability → decision → action without human intervention.</a:t>
            </a:r>
            <a:endParaRPr lang="en-US" sz="950" dirty="0"/>
          </a:p>
        </p:txBody>
      </p:sp>
      <p:sp>
        <p:nvSpPr>
          <p:cNvPr id="11" name="Shape 9"/>
          <p:cNvSpPr/>
          <p:nvPr/>
        </p:nvSpPr>
        <p:spPr>
          <a:xfrm>
            <a:off x="4709160" y="960120"/>
            <a:ext cx="3977640" cy="1481328"/>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2000"/>
              </a:srgbClr>
            </a:outerShdw>
          </a:effectLst>
        </p:spPr>
      </p:sp>
      <p:sp>
        <p:nvSpPr>
          <p:cNvPr id="12" name="Shape 10"/>
          <p:cNvSpPr/>
          <p:nvPr/>
        </p:nvSpPr>
        <p:spPr>
          <a:xfrm>
            <a:off x="4709160" y="960120"/>
            <a:ext cx="3977640" cy="347472"/>
          </a:xfrm>
          <a:prstGeom prst="rect">
            <a:avLst/>
          </a:prstGeom>
          <a:solidFill>
            <a:srgbClr val="0A1628"/>
          </a:solidFill>
          <a:ln w="12700">
            <a:solidFill>
              <a:srgbClr val="0A1628"/>
            </a:solidFill>
            <a:prstDash val="solid"/>
          </a:ln>
        </p:spPr>
      </p:sp>
      <p:sp>
        <p:nvSpPr>
          <p:cNvPr id="13" name="Text 11"/>
          <p:cNvSpPr/>
          <p:nvPr/>
        </p:nvSpPr>
        <p:spPr>
          <a:xfrm>
            <a:off x="4846320" y="960120"/>
            <a:ext cx="2743200" cy="34747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ACES Integration</a:t>
            </a:r>
            <a:endParaRPr lang="en-US" sz="1200" dirty="0"/>
          </a:p>
        </p:txBody>
      </p:sp>
      <p:sp>
        <p:nvSpPr>
          <p:cNvPr id="14" name="Shape 12"/>
          <p:cNvSpPr/>
          <p:nvPr/>
        </p:nvSpPr>
        <p:spPr>
          <a:xfrm>
            <a:off x="7498080" y="987552"/>
            <a:ext cx="987552" cy="256032"/>
          </a:xfrm>
          <a:prstGeom prst="rect">
            <a:avLst>
              <a:gd name="adj" fmla="val 14286"/>
            </a:avLst>
          </a:prstGeom>
          <a:solidFill>
            <a:srgbClr val="00B4D8"/>
          </a:solidFill>
          <a:ln w="12700">
            <a:solidFill>
              <a:srgbClr val="00B4D8"/>
            </a:solidFill>
            <a:prstDash val="solid"/>
          </a:ln>
        </p:spPr>
      </p:sp>
      <p:sp>
        <p:nvSpPr>
          <p:cNvPr id="15" name="Text 13"/>
          <p:cNvSpPr/>
          <p:nvPr/>
        </p:nvSpPr>
        <p:spPr>
          <a:xfrm>
            <a:off x="7498080" y="987552"/>
            <a:ext cx="987552" cy="256032"/>
          </a:xfrm>
          <a:prstGeom prst="rect">
            <a:avLst/>
          </a:prstGeom>
          <a:noFill/>
          <a:ln/>
        </p:spPr>
        <p:txBody>
          <a:bodyPr wrap="square" lIns="0" tIns="0" rIns="0" bIns="0" rtlCol="0" anchor="ctr"/>
          <a:lstStyle/>
          <a:p>
            <a:pPr algn="ctr" indent="0" marL="0">
              <a:buNone/>
            </a:pPr>
            <a:r>
              <a:rPr lang="en-US" sz="700" b="1" dirty="0">
                <a:solidFill>
                  <a:srgbClr val="0A1628"/>
                </a:solidFill>
                <a:latin typeface="Calibri" pitchFamily="34" charset="0"/>
                <a:ea typeface="Calibri" pitchFamily="34" charset="-122"/>
                <a:cs typeface="Calibri" pitchFamily="34" charset="-120"/>
              </a:rPr>
              <a:t>FLAGSHIP</a:t>
            </a:r>
            <a:endParaRPr lang="en-US" sz="700" dirty="0"/>
          </a:p>
        </p:txBody>
      </p:sp>
      <p:sp>
        <p:nvSpPr>
          <p:cNvPr id="16" name="Text 14"/>
          <p:cNvSpPr/>
          <p:nvPr/>
        </p:nvSpPr>
        <p:spPr>
          <a:xfrm>
            <a:off x="4846320" y="1371600"/>
            <a:ext cx="3730752" cy="1005840"/>
          </a:xfrm>
          <a:prstGeom prst="rect">
            <a:avLst/>
          </a:prstGeom>
          <a:noFill/>
          <a:ln/>
        </p:spPr>
        <p:txBody>
          <a:bodyPr wrap="square" rtlCol="0" anchor="t"/>
          <a:lstStyle/>
          <a:p>
            <a:pPr indent="0" marL="0">
              <a:buNone/>
            </a:pPr>
            <a:r>
              <a:rPr lang="en-US" sz="950" dirty="0">
                <a:solidFill>
                  <a:srgbClr val="4A5568"/>
                </a:solidFill>
                <a:latin typeface="Calibri" pitchFamily="34" charset="0"/>
                <a:ea typeface="Calibri" pitchFamily="34" charset="-122"/>
                <a:cs typeface="Calibri" pitchFamily="34" charset="-120"/>
              </a:rPr>
              <a:t>ARIA sits as the intelligence layer on top of ACES (Automated Compliance Execution System). When ACES fires a sanctions, trade surveillance, or AML rule, ARIA's agent receives the alert, reasons across transaction history, customer profile, and regulatory context, then autonomously resolves, escalates, or drafts the submission — with ARIA's full session audit trail as the compliance evidence record.</a:t>
            </a:r>
            <a:endParaRPr lang="en-US" sz="950" dirty="0"/>
          </a:p>
        </p:txBody>
      </p:sp>
      <p:sp>
        <p:nvSpPr>
          <p:cNvPr id="17" name="Shape 15"/>
          <p:cNvSpPr/>
          <p:nvPr/>
        </p:nvSpPr>
        <p:spPr>
          <a:xfrm>
            <a:off x="457200" y="2578608"/>
            <a:ext cx="2011680" cy="1444752"/>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2000"/>
              </a:srgbClr>
            </a:outerShdw>
          </a:effectLst>
        </p:spPr>
      </p:sp>
      <p:sp>
        <p:nvSpPr>
          <p:cNvPr id="18" name="Shape 16"/>
          <p:cNvSpPr/>
          <p:nvPr/>
        </p:nvSpPr>
        <p:spPr>
          <a:xfrm>
            <a:off x="457200" y="2578608"/>
            <a:ext cx="45720" cy="1444752"/>
          </a:xfrm>
          <a:prstGeom prst="rect">
            <a:avLst/>
          </a:prstGeom>
          <a:solidFill>
            <a:srgbClr val="0077A8"/>
          </a:solidFill>
          <a:ln w="12700">
            <a:solidFill>
              <a:srgbClr val="0077A8"/>
            </a:solidFill>
            <a:prstDash val="solid"/>
          </a:ln>
        </p:spPr>
      </p:sp>
      <p:sp>
        <p:nvSpPr>
          <p:cNvPr id="19" name="Text 17"/>
          <p:cNvSpPr/>
          <p:nvPr/>
        </p:nvSpPr>
        <p:spPr>
          <a:xfrm>
            <a:off x="585216" y="2670048"/>
            <a:ext cx="1828800" cy="274320"/>
          </a:xfrm>
          <a:prstGeom prst="rect">
            <a:avLst/>
          </a:prstGeom>
          <a:noFill/>
          <a:ln/>
        </p:spPr>
        <p:txBody>
          <a:bodyPr wrap="square" lIns="0" tIns="0" rIns="0" bIns="0" rtlCol="0" anchor="ctr"/>
          <a:lstStyle/>
          <a:p>
            <a:pPr indent="0" marL="0">
              <a:buNone/>
            </a:pPr>
            <a:r>
              <a:rPr lang="en-US" sz="1000" b="1" dirty="0">
                <a:solidFill>
                  <a:srgbClr val="0A1628"/>
                </a:solidFill>
                <a:latin typeface="Calibri" pitchFamily="34" charset="0"/>
                <a:ea typeface="Calibri" pitchFamily="34" charset="-122"/>
                <a:cs typeface="Calibri" pitchFamily="34" charset="-120"/>
              </a:rPr>
              <a:t>👤  KYC Automation</a:t>
            </a:r>
            <a:endParaRPr lang="en-US" sz="1000" dirty="0"/>
          </a:p>
        </p:txBody>
      </p:sp>
      <p:sp>
        <p:nvSpPr>
          <p:cNvPr id="20" name="Shape 18"/>
          <p:cNvSpPr/>
          <p:nvPr/>
        </p:nvSpPr>
        <p:spPr>
          <a:xfrm>
            <a:off x="585216" y="2962656"/>
            <a:ext cx="1737360" cy="0"/>
          </a:xfrm>
          <a:prstGeom prst="line">
            <a:avLst/>
          </a:prstGeom>
          <a:noFill/>
          <a:ln w="6350">
            <a:solidFill>
              <a:srgbClr val="E2E8F0"/>
            </a:solidFill>
            <a:prstDash val="solid"/>
          </a:ln>
        </p:spPr>
      </p:sp>
      <p:sp>
        <p:nvSpPr>
          <p:cNvPr id="21" name="Text 19"/>
          <p:cNvSpPr/>
          <p:nvPr/>
        </p:nvSpPr>
        <p:spPr>
          <a:xfrm>
            <a:off x="585216" y="3035808"/>
            <a:ext cx="1792224" cy="914400"/>
          </a:xfrm>
          <a:prstGeom prst="rect">
            <a:avLst/>
          </a:prstGeom>
          <a:noFill/>
          <a:ln/>
        </p:spPr>
        <p:txBody>
          <a:bodyPr wrap="square" rtlCol="0" anchor="t"/>
          <a:lstStyle/>
          <a:p>
            <a:pPr indent="0" marL="0">
              <a:buNone/>
            </a:pPr>
            <a:r>
              <a:rPr lang="en-US" sz="900" dirty="0">
                <a:solidFill>
                  <a:srgbClr val="4A5568"/>
                </a:solidFill>
                <a:latin typeface="Calibri" pitchFamily="34" charset="0"/>
                <a:ea typeface="Calibri" pitchFamily="34" charset="-122"/>
                <a:cs typeface="Calibri" pitchFamily="34" charset="-120"/>
              </a:rPr>
              <a:t>Agent verifies customer identity across documents and regulatory databases. FinOps layer tracks cost per onboarding completed.</a:t>
            </a:r>
            <a:endParaRPr lang="en-US" sz="900" dirty="0"/>
          </a:p>
        </p:txBody>
      </p:sp>
      <p:sp>
        <p:nvSpPr>
          <p:cNvPr id="22" name="Shape 20"/>
          <p:cNvSpPr/>
          <p:nvPr/>
        </p:nvSpPr>
        <p:spPr>
          <a:xfrm>
            <a:off x="2633472" y="2578608"/>
            <a:ext cx="2011680" cy="1444752"/>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2000"/>
              </a:srgbClr>
            </a:outerShdw>
          </a:effectLst>
        </p:spPr>
      </p:sp>
      <p:sp>
        <p:nvSpPr>
          <p:cNvPr id="23" name="Shape 21"/>
          <p:cNvSpPr/>
          <p:nvPr/>
        </p:nvSpPr>
        <p:spPr>
          <a:xfrm>
            <a:off x="2633472" y="2578608"/>
            <a:ext cx="45720" cy="1444752"/>
          </a:xfrm>
          <a:prstGeom prst="rect">
            <a:avLst/>
          </a:prstGeom>
          <a:solidFill>
            <a:srgbClr val="0077A8"/>
          </a:solidFill>
          <a:ln w="12700">
            <a:solidFill>
              <a:srgbClr val="0077A8"/>
            </a:solidFill>
            <a:prstDash val="solid"/>
          </a:ln>
        </p:spPr>
      </p:sp>
      <p:sp>
        <p:nvSpPr>
          <p:cNvPr id="24" name="Text 22"/>
          <p:cNvSpPr/>
          <p:nvPr/>
        </p:nvSpPr>
        <p:spPr>
          <a:xfrm>
            <a:off x="2761488" y="2670048"/>
            <a:ext cx="1828800" cy="274320"/>
          </a:xfrm>
          <a:prstGeom prst="rect">
            <a:avLst/>
          </a:prstGeom>
          <a:noFill/>
          <a:ln/>
        </p:spPr>
        <p:txBody>
          <a:bodyPr wrap="square" lIns="0" tIns="0" rIns="0" bIns="0" rtlCol="0" anchor="ctr"/>
          <a:lstStyle/>
          <a:p>
            <a:pPr indent="0" marL="0">
              <a:buNone/>
            </a:pPr>
            <a:r>
              <a:rPr lang="en-US" sz="1000" b="1" dirty="0">
                <a:solidFill>
                  <a:srgbClr val="0A1628"/>
                </a:solidFill>
                <a:latin typeface="Calibri" pitchFamily="34" charset="0"/>
                <a:ea typeface="Calibri" pitchFamily="34" charset="-122"/>
                <a:cs typeface="Calibri" pitchFamily="34" charset="-120"/>
              </a:rPr>
              <a:t>🚨  AML Alert Triage</a:t>
            </a:r>
            <a:endParaRPr lang="en-US" sz="1000" dirty="0"/>
          </a:p>
        </p:txBody>
      </p:sp>
      <p:sp>
        <p:nvSpPr>
          <p:cNvPr id="25" name="Shape 23"/>
          <p:cNvSpPr/>
          <p:nvPr/>
        </p:nvSpPr>
        <p:spPr>
          <a:xfrm>
            <a:off x="2761488" y="2962656"/>
            <a:ext cx="1737360" cy="0"/>
          </a:xfrm>
          <a:prstGeom prst="line">
            <a:avLst/>
          </a:prstGeom>
          <a:noFill/>
          <a:ln w="6350">
            <a:solidFill>
              <a:srgbClr val="E2E8F0"/>
            </a:solidFill>
            <a:prstDash val="solid"/>
          </a:ln>
        </p:spPr>
      </p:sp>
      <p:sp>
        <p:nvSpPr>
          <p:cNvPr id="26" name="Text 24"/>
          <p:cNvSpPr/>
          <p:nvPr/>
        </p:nvSpPr>
        <p:spPr>
          <a:xfrm>
            <a:off x="2761488" y="3035808"/>
            <a:ext cx="1792224" cy="914400"/>
          </a:xfrm>
          <a:prstGeom prst="rect">
            <a:avLst/>
          </a:prstGeom>
          <a:noFill/>
          <a:ln/>
        </p:spPr>
        <p:txBody>
          <a:bodyPr wrap="square" rtlCol="0" anchor="t"/>
          <a:lstStyle/>
          <a:p>
            <a:pPr indent="0" marL="0">
              <a:buNone/>
            </a:pPr>
            <a:r>
              <a:rPr lang="en-US" sz="900" dirty="0">
                <a:solidFill>
                  <a:srgbClr val="4A5568"/>
                </a:solidFill>
                <a:latin typeface="Calibri" pitchFamily="34" charset="0"/>
                <a:ea typeface="Calibri" pitchFamily="34" charset="-122"/>
                <a:cs typeface="Calibri" pitchFamily="34" charset="-120"/>
              </a:rPr>
              <a:t>Agent triages daily alert queues, cross-references typology patterns, and surfaces only genuine threats for human sign-off.</a:t>
            </a:r>
            <a:endParaRPr lang="en-US" sz="900" dirty="0"/>
          </a:p>
        </p:txBody>
      </p:sp>
      <p:sp>
        <p:nvSpPr>
          <p:cNvPr id="27" name="Shape 25"/>
          <p:cNvSpPr/>
          <p:nvPr/>
        </p:nvSpPr>
        <p:spPr>
          <a:xfrm>
            <a:off x="4809744" y="2578608"/>
            <a:ext cx="2011680" cy="1444752"/>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2000"/>
              </a:srgbClr>
            </a:outerShdw>
          </a:effectLst>
        </p:spPr>
      </p:sp>
      <p:sp>
        <p:nvSpPr>
          <p:cNvPr id="28" name="Shape 26"/>
          <p:cNvSpPr/>
          <p:nvPr/>
        </p:nvSpPr>
        <p:spPr>
          <a:xfrm>
            <a:off x="4809744" y="2578608"/>
            <a:ext cx="45720" cy="1444752"/>
          </a:xfrm>
          <a:prstGeom prst="rect">
            <a:avLst/>
          </a:prstGeom>
          <a:solidFill>
            <a:srgbClr val="0077A8"/>
          </a:solidFill>
          <a:ln w="12700">
            <a:solidFill>
              <a:srgbClr val="0077A8"/>
            </a:solidFill>
            <a:prstDash val="solid"/>
          </a:ln>
        </p:spPr>
      </p:sp>
      <p:sp>
        <p:nvSpPr>
          <p:cNvPr id="29" name="Text 27"/>
          <p:cNvSpPr/>
          <p:nvPr/>
        </p:nvSpPr>
        <p:spPr>
          <a:xfrm>
            <a:off x="4937760" y="2670048"/>
            <a:ext cx="1828800" cy="274320"/>
          </a:xfrm>
          <a:prstGeom prst="rect">
            <a:avLst/>
          </a:prstGeom>
          <a:noFill/>
          <a:ln/>
        </p:spPr>
        <p:txBody>
          <a:bodyPr wrap="square" lIns="0" tIns="0" rIns="0" bIns="0" rtlCol="0" anchor="ctr"/>
          <a:lstStyle/>
          <a:p>
            <a:pPr indent="0" marL="0">
              <a:buNone/>
            </a:pPr>
            <a:r>
              <a:rPr lang="en-US" sz="1000" b="1" dirty="0">
                <a:solidFill>
                  <a:srgbClr val="0A1628"/>
                </a:solidFill>
                <a:latin typeface="Calibri" pitchFamily="34" charset="0"/>
                <a:ea typeface="Calibri" pitchFamily="34" charset="-122"/>
                <a:cs typeface="Calibri" pitchFamily="34" charset="-120"/>
              </a:rPr>
              <a:t>📋  Regulatory Reporting</a:t>
            </a:r>
            <a:endParaRPr lang="en-US" sz="1000" dirty="0"/>
          </a:p>
        </p:txBody>
      </p:sp>
      <p:sp>
        <p:nvSpPr>
          <p:cNvPr id="30" name="Shape 28"/>
          <p:cNvSpPr/>
          <p:nvPr/>
        </p:nvSpPr>
        <p:spPr>
          <a:xfrm>
            <a:off x="4937760" y="2962656"/>
            <a:ext cx="1737360" cy="0"/>
          </a:xfrm>
          <a:prstGeom prst="line">
            <a:avLst/>
          </a:prstGeom>
          <a:noFill/>
          <a:ln w="6350">
            <a:solidFill>
              <a:srgbClr val="E2E8F0"/>
            </a:solidFill>
            <a:prstDash val="solid"/>
          </a:ln>
        </p:spPr>
      </p:sp>
      <p:sp>
        <p:nvSpPr>
          <p:cNvPr id="31" name="Text 29"/>
          <p:cNvSpPr/>
          <p:nvPr/>
        </p:nvSpPr>
        <p:spPr>
          <a:xfrm>
            <a:off x="4937760" y="3035808"/>
            <a:ext cx="1792224" cy="914400"/>
          </a:xfrm>
          <a:prstGeom prst="rect">
            <a:avLst/>
          </a:prstGeom>
          <a:noFill/>
          <a:ln/>
        </p:spPr>
        <p:txBody>
          <a:bodyPr wrap="square" rtlCol="0" anchor="t"/>
          <a:lstStyle/>
          <a:p>
            <a:pPr indent="0" marL="0">
              <a:buNone/>
            </a:pPr>
            <a:r>
              <a:rPr lang="en-US" sz="900" dirty="0">
                <a:solidFill>
                  <a:srgbClr val="4A5568"/>
                </a:solidFill>
                <a:latin typeface="Calibri" pitchFamily="34" charset="0"/>
                <a:ea typeface="Calibri" pitchFamily="34" charset="-122"/>
                <a:cs typeface="Calibri" pitchFamily="34" charset="-120"/>
              </a:rPr>
              <a:t>Drafts and validates compliance reports from transaction data. Audit trail from ARIA sessions is the evidence package.</a:t>
            </a:r>
            <a:endParaRPr lang="en-US" sz="900" dirty="0"/>
          </a:p>
        </p:txBody>
      </p:sp>
      <p:sp>
        <p:nvSpPr>
          <p:cNvPr id="32" name="Shape 30"/>
          <p:cNvSpPr/>
          <p:nvPr/>
        </p:nvSpPr>
        <p:spPr>
          <a:xfrm>
            <a:off x="6986016" y="2578608"/>
            <a:ext cx="2011680" cy="1444752"/>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2000"/>
              </a:srgbClr>
            </a:outerShdw>
          </a:effectLst>
        </p:spPr>
      </p:sp>
      <p:sp>
        <p:nvSpPr>
          <p:cNvPr id="33" name="Shape 31"/>
          <p:cNvSpPr/>
          <p:nvPr/>
        </p:nvSpPr>
        <p:spPr>
          <a:xfrm>
            <a:off x="6986016" y="2578608"/>
            <a:ext cx="45720" cy="1444752"/>
          </a:xfrm>
          <a:prstGeom prst="rect">
            <a:avLst/>
          </a:prstGeom>
          <a:solidFill>
            <a:srgbClr val="0077A8"/>
          </a:solidFill>
          <a:ln w="12700">
            <a:solidFill>
              <a:srgbClr val="0077A8"/>
            </a:solidFill>
            <a:prstDash val="solid"/>
          </a:ln>
        </p:spPr>
      </p:sp>
      <p:sp>
        <p:nvSpPr>
          <p:cNvPr id="34" name="Text 32"/>
          <p:cNvSpPr/>
          <p:nvPr/>
        </p:nvSpPr>
        <p:spPr>
          <a:xfrm>
            <a:off x="7114032" y="2670048"/>
            <a:ext cx="1828800" cy="274320"/>
          </a:xfrm>
          <a:prstGeom prst="rect">
            <a:avLst/>
          </a:prstGeom>
          <a:noFill/>
          <a:ln/>
        </p:spPr>
        <p:txBody>
          <a:bodyPr wrap="square" lIns="0" tIns="0" rIns="0" bIns="0" rtlCol="0" anchor="ctr"/>
          <a:lstStyle/>
          <a:p>
            <a:pPr indent="0" marL="0">
              <a:buNone/>
            </a:pPr>
            <a:r>
              <a:rPr lang="en-US" sz="1000" b="1" dirty="0">
                <a:solidFill>
                  <a:srgbClr val="0A1628"/>
                </a:solidFill>
                <a:latin typeface="Calibri" pitchFamily="34" charset="0"/>
                <a:ea typeface="Calibri" pitchFamily="34" charset="-122"/>
                <a:cs typeface="Calibri" pitchFamily="34" charset="-120"/>
              </a:rPr>
              <a:t>📑  Contract Intelligence</a:t>
            </a:r>
            <a:endParaRPr lang="en-US" sz="1000" dirty="0"/>
          </a:p>
        </p:txBody>
      </p:sp>
      <p:sp>
        <p:nvSpPr>
          <p:cNvPr id="35" name="Shape 33"/>
          <p:cNvSpPr/>
          <p:nvPr/>
        </p:nvSpPr>
        <p:spPr>
          <a:xfrm>
            <a:off x="7114032" y="2962656"/>
            <a:ext cx="1737360" cy="0"/>
          </a:xfrm>
          <a:prstGeom prst="line">
            <a:avLst/>
          </a:prstGeom>
          <a:noFill/>
          <a:ln w="6350">
            <a:solidFill>
              <a:srgbClr val="E2E8F0"/>
            </a:solidFill>
            <a:prstDash val="solid"/>
          </a:ln>
        </p:spPr>
      </p:sp>
      <p:sp>
        <p:nvSpPr>
          <p:cNvPr id="36" name="Text 34"/>
          <p:cNvSpPr/>
          <p:nvPr/>
        </p:nvSpPr>
        <p:spPr>
          <a:xfrm>
            <a:off x="7114032" y="3035808"/>
            <a:ext cx="1792224" cy="914400"/>
          </a:xfrm>
          <a:prstGeom prst="rect">
            <a:avLst/>
          </a:prstGeom>
          <a:noFill/>
          <a:ln/>
        </p:spPr>
        <p:txBody>
          <a:bodyPr wrap="square" rtlCol="0" anchor="t"/>
          <a:lstStyle/>
          <a:p>
            <a:pPr indent="0" marL="0">
              <a:buNone/>
            </a:pPr>
            <a:r>
              <a:rPr lang="en-US" sz="900" dirty="0">
                <a:solidFill>
                  <a:srgbClr val="4A5568"/>
                </a:solidFill>
                <a:latin typeface="Calibri" pitchFamily="34" charset="0"/>
                <a:ea typeface="Calibri" pitchFamily="34" charset="-122"/>
                <a:cs typeface="Calibri" pitchFamily="34" charset="-120"/>
              </a:rPr>
              <a:t>Multi-turn agent reviews legal contracts, flags risk clauses, and generates structured summaries with risk scores.</a:t>
            </a:r>
            <a:endParaRPr lang="en-US" sz="900" dirty="0"/>
          </a:p>
        </p:txBody>
      </p:sp>
      <p:sp>
        <p:nvSpPr>
          <p:cNvPr id="37" name="Shape 35"/>
          <p:cNvSpPr/>
          <p:nvPr/>
        </p:nvSpPr>
        <p:spPr>
          <a:xfrm>
            <a:off x="457200" y="4453128"/>
            <a:ext cx="8229600" cy="384048"/>
          </a:xfrm>
          <a:prstGeom prst="rect">
            <a:avLst/>
          </a:prstGeom>
          <a:solidFill>
            <a:srgbClr val="112240"/>
          </a:solidFill>
          <a:ln w="12700">
            <a:solidFill>
              <a:srgbClr val="112240"/>
            </a:solidFill>
            <a:prstDash val="solid"/>
          </a:ln>
        </p:spPr>
      </p:sp>
      <p:sp>
        <p:nvSpPr>
          <p:cNvPr id="38" name="Text 36"/>
          <p:cNvSpPr/>
          <p:nvPr/>
        </p:nvSpPr>
        <p:spPr>
          <a:xfrm>
            <a:off x="594360" y="4453128"/>
            <a:ext cx="7955280" cy="384048"/>
          </a:xfrm>
          <a:prstGeom prst="rect">
            <a:avLst/>
          </a:prstGeom>
          <a:noFill/>
          <a:ln/>
        </p:spPr>
        <p:txBody>
          <a:bodyPr wrap="square" lIns="0" tIns="0" rIns="0" bIns="0" rtlCol="0" anchor="ctr"/>
          <a:lstStyle/>
          <a:p>
            <a:pPr indent="0" marL="0">
              <a:buNone/>
            </a:pPr>
            <a:r>
              <a:rPr lang="en-US" sz="950" i="1" dirty="0">
                <a:solidFill>
                  <a:srgbClr val="90E0EF"/>
                </a:solidFill>
                <a:latin typeface="Calibri" pitchFamily="34" charset="0"/>
                <a:ea typeface="Calibri" pitchFamily="34" charset="-122"/>
                <a:cs typeface="Calibri" pitchFamily="34" charset="-120"/>
              </a:rPr>
              <a:t>All use cases share one platform: same agent core, FinOps cost layer, ACES integration hooks, and 9-tab dashboard. Cost intelligence is the foundation every use case builds on.</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457200" y="137160"/>
            <a:ext cx="2011680" cy="256032"/>
          </a:xfrm>
          <a:prstGeom prst="roundRect">
            <a:avLst>
              <a:gd name="adj" fmla="val 17857"/>
            </a:avLst>
          </a:prstGeom>
          <a:solidFill>
            <a:srgbClr val="00B4D8"/>
          </a:solidFill>
          <a:ln w="12700">
            <a:solidFill>
              <a:srgbClr val="00B4D8"/>
            </a:solidFill>
            <a:prstDash val="solid"/>
          </a:ln>
        </p:spPr>
      </p:sp>
      <p:sp>
        <p:nvSpPr>
          <p:cNvPr id="3" name="Text 1"/>
          <p:cNvSpPr/>
          <p:nvPr/>
        </p:nvSpPr>
        <p:spPr>
          <a:xfrm>
            <a:off x="457200" y="137160"/>
            <a:ext cx="2011680" cy="256032"/>
          </a:xfrm>
          <a:prstGeom prst="rect">
            <a:avLst/>
          </a:prstGeom>
          <a:noFill/>
          <a:ln/>
        </p:spPr>
        <p:txBody>
          <a:bodyPr wrap="square" lIns="0" tIns="0" rIns="0" bIns="0" rtlCol="0" anchor="ctr"/>
          <a:lstStyle/>
          <a:p>
            <a:pPr algn="ctr" indent="0" marL="0">
              <a:buNone/>
            </a:pPr>
            <a:r>
              <a:rPr lang="en-US" sz="800" b="1" dirty="0">
                <a:solidFill>
                  <a:srgbClr val="0A1628"/>
                </a:solidFill>
                <a:latin typeface="Calibri" pitchFamily="34" charset="0"/>
                <a:ea typeface="Calibri" pitchFamily="34" charset="-122"/>
                <a:cs typeface="Calibri" pitchFamily="34" charset="-120"/>
              </a:rPr>
              <a:t>ARCHITECTURE</a:t>
            </a:r>
            <a:endParaRPr lang="en-US" sz="800" dirty="0"/>
          </a:p>
        </p:txBody>
      </p:sp>
      <p:sp>
        <p:nvSpPr>
          <p:cNvPr id="4" name="Text 2"/>
          <p:cNvSpPr/>
          <p:nvPr/>
        </p:nvSpPr>
        <p:spPr>
          <a:xfrm>
            <a:off x="457200" y="502920"/>
            <a:ext cx="822960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ARIA — System Architecture</a:t>
            </a:r>
            <a:endParaRPr lang="en-US" sz="2200" dirty="0"/>
          </a:p>
        </p:txBody>
      </p:sp>
      <p:sp>
        <p:nvSpPr>
          <p:cNvPr id="5" name="Shape 3"/>
          <p:cNvSpPr/>
          <p:nvPr/>
        </p:nvSpPr>
        <p:spPr>
          <a:xfrm>
            <a:off x="457200" y="960120"/>
            <a:ext cx="8229600" cy="502920"/>
          </a:xfrm>
          <a:prstGeom prst="rect">
            <a:avLst/>
          </a:prstGeom>
          <a:solidFill>
            <a:srgbClr val="0077A8"/>
          </a:solidFill>
          <a:ln w="6350">
            <a:solidFill>
              <a:srgbClr val="0077A8"/>
            </a:solidFill>
            <a:prstDash val="solid"/>
          </a:ln>
        </p:spPr>
      </p:sp>
      <p:sp>
        <p:nvSpPr>
          <p:cNvPr id="6" name="Text 4"/>
          <p:cNvSpPr/>
          <p:nvPr/>
        </p:nvSpPr>
        <p:spPr>
          <a:xfrm>
            <a:off x="594360" y="996696"/>
            <a:ext cx="3200400" cy="228600"/>
          </a:xfrm>
          <a:prstGeom prst="rect">
            <a:avLst/>
          </a:prstGeom>
          <a:noFill/>
          <a:ln/>
        </p:spPr>
        <p:txBody>
          <a:bodyPr wrap="square" lIns="0" tIns="0" rIns="0" bIns="0" rtlCol="0" anchor="ctr"/>
          <a:lstStyle/>
          <a:p>
            <a:pPr indent="0" marL="0">
              <a:buNone/>
            </a:pPr>
            <a:r>
              <a:rPr lang="en-US" sz="900" b="1" dirty="0">
                <a:solidFill>
                  <a:srgbClr val="00B4D8"/>
                </a:solidFill>
                <a:latin typeface="Calibri" pitchFamily="34" charset="0"/>
                <a:ea typeface="Calibri" pitchFamily="34" charset="-122"/>
                <a:cs typeface="Calibri" pitchFamily="34" charset="-120"/>
              </a:rPr>
              <a:t>BROWSER / CLIENT</a:t>
            </a:r>
            <a:endParaRPr lang="en-US" sz="900" dirty="0"/>
          </a:p>
        </p:txBody>
      </p:sp>
      <p:sp>
        <p:nvSpPr>
          <p:cNvPr id="7" name="Text 5"/>
          <p:cNvSpPr/>
          <p:nvPr/>
        </p:nvSpPr>
        <p:spPr>
          <a:xfrm>
            <a:off x="594360" y="1207008"/>
            <a:ext cx="7863840" cy="201168"/>
          </a:xfrm>
          <a:prstGeom prst="rect">
            <a:avLst/>
          </a:prstGeom>
          <a:noFill/>
          <a:ln/>
        </p:spPr>
        <p:txBody>
          <a:bodyPr wrap="square" lIns="0" tIns="0" rIns="0" bIns="0" rtlCol="0" anchor="ctr"/>
          <a:lstStyle/>
          <a:p>
            <a:pPr indent="0" marL="0">
              <a:buNone/>
            </a:pPr>
            <a:r>
              <a:rPr lang="en-US" sz="900" dirty="0">
                <a:solidFill>
                  <a:srgbClr val="90E0EF"/>
                </a:solidFill>
                <a:latin typeface="Calibri" pitchFamily="34" charset="0"/>
                <a:ea typeface="Calibri" pitchFamily="34" charset="-122"/>
                <a:cs typeface="Calibri" pitchFamily="34" charset="-120"/>
              </a:rPr>
              <a:t>React FinOps Dashboard  ·  9-Tab UI</a:t>
            </a:r>
            <a:endParaRPr lang="en-US" sz="900" dirty="0"/>
          </a:p>
        </p:txBody>
      </p:sp>
      <p:sp>
        <p:nvSpPr>
          <p:cNvPr id="8" name="Shape 6"/>
          <p:cNvSpPr/>
          <p:nvPr/>
        </p:nvSpPr>
        <p:spPr>
          <a:xfrm>
            <a:off x="4389120" y="1463040"/>
            <a:ext cx="0" cy="118872"/>
          </a:xfrm>
          <a:prstGeom prst="line">
            <a:avLst/>
          </a:prstGeom>
          <a:noFill/>
          <a:ln w="19050">
            <a:solidFill>
              <a:srgbClr val="00B4D8"/>
            </a:solidFill>
            <a:prstDash val="solid"/>
          </a:ln>
        </p:spPr>
      </p:sp>
      <p:sp>
        <p:nvSpPr>
          <p:cNvPr id="9" name="Shape 7"/>
          <p:cNvSpPr/>
          <p:nvPr/>
        </p:nvSpPr>
        <p:spPr>
          <a:xfrm>
            <a:off x="457200" y="1536192"/>
            <a:ext cx="8229600" cy="502920"/>
          </a:xfrm>
          <a:prstGeom prst="rect">
            <a:avLst/>
          </a:prstGeom>
          <a:solidFill>
            <a:srgbClr val="1E3A5F"/>
          </a:solidFill>
          <a:ln w="6350">
            <a:solidFill>
              <a:srgbClr val="0077A8"/>
            </a:solidFill>
            <a:prstDash val="solid"/>
          </a:ln>
        </p:spPr>
      </p:sp>
      <p:sp>
        <p:nvSpPr>
          <p:cNvPr id="10" name="Text 8"/>
          <p:cNvSpPr/>
          <p:nvPr/>
        </p:nvSpPr>
        <p:spPr>
          <a:xfrm>
            <a:off x="594360" y="1572768"/>
            <a:ext cx="3200400" cy="228600"/>
          </a:xfrm>
          <a:prstGeom prst="rect">
            <a:avLst/>
          </a:prstGeom>
          <a:noFill/>
          <a:ln/>
        </p:spPr>
        <p:txBody>
          <a:bodyPr wrap="square" lIns="0" tIns="0" rIns="0" bIns="0" rtlCol="0" anchor="ctr"/>
          <a:lstStyle/>
          <a:p>
            <a:pPr indent="0" marL="0">
              <a:buNone/>
            </a:pPr>
            <a:r>
              <a:rPr lang="en-US" sz="900" b="1" dirty="0">
                <a:solidFill>
                  <a:srgbClr val="00B4D8"/>
                </a:solidFill>
                <a:latin typeface="Calibri" pitchFamily="34" charset="0"/>
                <a:ea typeface="Calibri" pitchFamily="34" charset="-122"/>
                <a:cs typeface="Calibri" pitchFamily="34" charset="-120"/>
              </a:rPr>
              <a:t>AGENT ORCHESTRATION</a:t>
            </a:r>
            <a:endParaRPr lang="en-US" sz="900" dirty="0"/>
          </a:p>
        </p:txBody>
      </p:sp>
      <p:sp>
        <p:nvSpPr>
          <p:cNvPr id="11" name="Text 9"/>
          <p:cNvSpPr/>
          <p:nvPr/>
        </p:nvSpPr>
        <p:spPr>
          <a:xfrm>
            <a:off x="594360" y="1783080"/>
            <a:ext cx="7863840" cy="201168"/>
          </a:xfrm>
          <a:prstGeom prst="rect">
            <a:avLst/>
          </a:prstGeom>
          <a:noFill/>
          <a:ln/>
        </p:spPr>
        <p:txBody>
          <a:bodyPr wrap="square" lIns="0" tIns="0" rIns="0" bIns="0" rtlCol="0" anchor="ctr"/>
          <a:lstStyle/>
          <a:p>
            <a:pPr indent="0" marL="0">
              <a:buNone/>
            </a:pPr>
            <a:r>
              <a:rPr lang="en-US" sz="900" dirty="0">
                <a:solidFill>
                  <a:srgbClr val="90E0EF"/>
                </a:solidFill>
                <a:latin typeface="Calibri" pitchFamily="34" charset="0"/>
                <a:ea typeface="Calibri" pitchFamily="34" charset="-122"/>
                <a:cs typeface="Calibri" pitchFamily="34" charset="-120"/>
              </a:rPr>
              <a:t>AriaAgentService  ·  Spring Boot 3  ·  Spring AI</a:t>
            </a:r>
            <a:endParaRPr lang="en-US" sz="900" dirty="0"/>
          </a:p>
        </p:txBody>
      </p:sp>
      <p:sp>
        <p:nvSpPr>
          <p:cNvPr id="12" name="Shape 10"/>
          <p:cNvSpPr/>
          <p:nvPr/>
        </p:nvSpPr>
        <p:spPr>
          <a:xfrm>
            <a:off x="4389120" y="2039112"/>
            <a:ext cx="0" cy="118872"/>
          </a:xfrm>
          <a:prstGeom prst="line">
            <a:avLst/>
          </a:prstGeom>
          <a:noFill/>
          <a:ln w="19050">
            <a:solidFill>
              <a:srgbClr val="00B4D8"/>
            </a:solidFill>
            <a:prstDash val="solid"/>
          </a:ln>
        </p:spPr>
      </p:sp>
      <p:sp>
        <p:nvSpPr>
          <p:cNvPr id="13" name="Shape 11"/>
          <p:cNvSpPr/>
          <p:nvPr/>
        </p:nvSpPr>
        <p:spPr>
          <a:xfrm>
            <a:off x="457200" y="2112264"/>
            <a:ext cx="8229600" cy="502920"/>
          </a:xfrm>
          <a:prstGeom prst="rect">
            <a:avLst/>
          </a:prstGeom>
          <a:solidFill>
            <a:srgbClr val="1A2F52"/>
          </a:solidFill>
          <a:ln w="6350">
            <a:solidFill>
              <a:srgbClr val="0077A8"/>
            </a:solidFill>
            <a:prstDash val="solid"/>
          </a:ln>
        </p:spPr>
      </p:sp>
      <p:sp>
        <p:nvSpPr>
          <p:cNvPr id="14" name="Text 12"/>
          <p:cNvSpPr/>
          <p:nvPr/>
        </p:nvSpPr>
        <p:spPr>
          <a:xfrm>
            <a:off x="594360" y="2148840"/>
            <a:ext cx="3200400" cy="228600"/>
          </a:xfrm>
          <a:prstGeom prst="rect">
            <a:avLst/>
          </a:prstGeom>
          <a:noFill/>
          <a:ln/>
        </p:spPr>
        <p:txBody>
          <a:bodyPr wrap="square" lIns="0" tIns="0" rIns="0" bIns="0" rtlCol="0" anchor="ctr"/>
          <a:lstStyle/>
          <a:p>
            <a:pPr indent="0" marL="0">
              <a:buNone/>
            </a:pPr>
            <a:r>
              <a:rPr lang="en-US" sz="900" b="1" dirty="0">
                <a:solidFill>
                  <a:srgbClr val="00B4D8"/>
                </a:solidFill>
                <a:latin typeface="Calibri" pitchFamily="34" charset="0"/>
                <a:ea typeface="Calibri" pitchFamily="34" charset="-122"/>
                <a:cs typeface="Calibri" pitchFamily="34" charset="-120"/>
              </a:rPr>
              <a:t>OPTIMIZER ENGINE</a:t>
            </a:r>
            <a:endParaRPr lang="en-US" sz="900" dirty="0"/>
          </a:p>
        </p:txBody>
      </p:sp>
      <p:sp>
        <p:nvSpPr>
          <p:cNvPr id="15" name="Text 13"/>
          <p:cNvSpPr/>
          <p:nvPr/>
        </p:nvSpPr>
        <p:spPr>
          <a:xfrm>
            <a:off x="594360" y="2359152"/>
            <a:ext cx="7863840" cy="201168"/>
          </a:xfrm>
          <a:prstGeom prst="rect">
            <a:avLst/>
          </a:prstGeom>
          <a:noFill/>
          <a:ln/>
        </p:spPr>
        <p:txBody>
          <a:bodyPr wrap="square" lIns="0" tIns="0" rIns="0" bIns="0" rtlCol="0" anchor="ctr"/>
          <a:lstStyle/>
          <a:p>
            <a:pPr indent="0" marL="0">
              <a:buNone/>
            </a:pPr>
            <a:r>
              <a:rPr lang="en-US" sz="900" dirty="0">
                <a:solidFill>
                  <a:srgbClr val="90E0EF"/>
                </a:solidFill>
                <a:latin typeface="Calibri" pitchFamily="34" charset="0"/>
                <a:ea typeface="Calibri" pitchFamily="34" charset="-122"/>
                <a:cs typeface="Calibri" pitchFamily="34" charset="-120"/>
              </a:rPr>
              <a:t>7 Rules  ·  Model Routing  ·  Throttle  ·  Batch Deferral</a:t>
            </a:r>
            <a:endParaRPr lang="en-US" sz="900" dirty="0"/>
          </a:p>
        </p:txBody>
      </p:sp>
      <p:sp>
        <p:nvSpPr>
          <p:cNvPr id="16" name="Shape 14"/>
          <p:cNvSpPr/>
          <p:nvPr/>
        </p:nvSpPr>
        <p:spPr>
          <a:xfrm>
            <a:off x="4389120" y="2615184"/>
            <a:ext cx="0" cy="118872"/>
          </a:xfrm>
          <a:prstGeom prst="line">
            <a:avLst/>
          </a:prstGeom>
          <a:noFill/>
          <a:ln w="19050">
            <a:solidFill>
              <a:srgbClr val="00B4D8"/>
            </a:solidFill>
            <a:prstDash val="solid"/>
          </a:ln>
        </p:spPr>
      </p:sp>
      <p:sp>
        <p:nvSpPr>
          <p:cNvPr id="17" name="Shape 15"/>
          <p:cNvSpPr/>
          <p:nvPr/>
        </p:nvSpPr>
        <p:spPr>
          <a:xfrm>
            <a:off x="457200" y="2688336"/>
            <a:ext cx="8229600" cy="502920"/>
          </a:xfrm>
          <a:prstGeom prst="rect">
            <a:avLst/>
          </a:prstGeom>
          <a:solidFill>
            <a:srgbClr val="162845"/>
          </a:solidFill>
          <a:ln w="6350">
            <a:solidFill>
              <a:srgbClr val="0077A8"/>
            </a:solidFill>
            <a:prstDash val="solid"/>
          </a:ln>
        </p:spPr>
      </p:sp>
      <p:sp>
        <p:nvSpPr>
          <p:cNvPr id="18" name="Text 16"/>
          <p:cNvSpPr/>
          <p:nvPr/>
        </p:nvSpPr>
        <p:spPr>
          <a:xfrm>
            <a:off x="594360" y="2724912"/>
            <a:ext cx="3200400" cy="228600"/>
          </a:xfrm>
          <a:prstGeom prst="rect">
            <a:avLst/>
          </a:prstGeom>
          <a:noFill/>
          <a:ln/>
        </p:spPr>
        <p:txBody>
          <a:bodyPr wrap="square" lIns="0" tIns="0" rIns="0" bIns="0" rtlCol="0" anchor="ctr"/>
          <a:lstStyle/>
          <a:p>
            <a:pPr indent="0" marL="0">
              <a:buNone/>
            </a:pPr>
            <a:r>
              <a:rPr lang="en-US" sz="900" b="1" dirty="0">
                <a:solidFill>
                  <a:srgbClr val="00B4D8"/>
                </a:solidFill>
                <a:latin typeface="Calibri" pitchFamily="34" charset="0"/>
                <a:ea typeface="Calibri" pitchFamily="34" charset="-122"/>
                <a:cs typeface="Calibri" pitchFamily="34" charset="-120"/>
              </a:rPr>
              <a:t>API PROXY LAYER</a:t>
            </a:r>
            <a:endParaRPr lang="en-US" sz="900" dirty="0"/>
          </a:p>
        </p:txBody>
      </p:sp>
      <p:sp>
        <p:nvSpPr>
          <p:cNvPr id="19" name="Text 17"/>
          <p:cNvSpPr/>
          <p:nvPr/>
        </p:nvSpPr>
        <p:spPr>
          <a:xfrm>
            <a:off x="594360" y="2935224"/>
            <a:ext cx="7863840" cy="201168"/>
          </a:xfrm>
          <a:prstGeom prst="rect">
            <a:avLst/>
          </a:prstGeom>
          <a:noFill/>
          <a:ln/>
        </p:spPr>
        <p:txBody>
          <a:bodyPr wrap="square" lIns="0" tIns="0" rIns="0" bIns="0" rtlCol="0" anchor="ctr"/>
          <a:lstStyle/>
          <a:p>
            <a:pPr indent="0" marL="0">
              <a:buNone/>
            </a:pPr>
            <a:r>
              <a:rPr lang="en-US" sz="900" dirty="0">
                <a:solidFill>
                  <a:srgbClr val="90E0EF"/>
                </a:solidFill>
                <a:latin typeface="Calibri" pitchFamily="34" charset="0"/>
                <a:ea typeface="Calibri" pitchFamily="34" charset="-122"/>
                <a:cs typeface="Calibri" pitchFamily="34" charset="-120"/>
              </a:rPr>
              <a:t>AriaProxyInterceptor  ·  Exact Token Capture  ·  Cost Attribution</a:t>
            </a:r>
            <a:endParaRPr lang="en-US" sz="900" dirty="0"/>
          </a:p>
        </p:txBody>
      </p:sp>
      <p:sp>
        <p:nvSpPr>
          <p:cNvPr id="20" name="Shape 18"/>
          <p:cNvSpPr/>
          <p:nvPr/>
        </p:nvSpPr>
        <p:spPr>
          <a:xfrm>
            <a:off x="4389120" y="3191256"/>
            <a:ext cx="0" cy="118872"/>
          </a:xfrm>
          <a:prstGeom prst="line">
            <a:avLst/>
          </a:prstGeom>
          <a:noFill/>
          <a:ln w="19050">
            <a:solidFill>
              <a:srgbClr val="00B4D8"/>
            </a:solidFill>
            <a:prstDash val="solid"/>
          </a:ln>
        </p:spPr>
      </p:sp>
      <p:sp>
        <p:nvSpPr>
          <p:cNvPr id="21" name="Shape 19"/>
          <p:cNvSpPr/>
          <p:nvPr/>
        </p:nvSpPr>
        <p:spPr>
          <a:xfrm>
            <a:off x="457200" y="3264408"/>
            <a:ext cx="8229600" cy="502920"/>
          </a:xfrm>
          <a:prstGeom prst="rect">
            <a:avLst/>
          </a:prstGeom>
          <a:solidFill>
            <a:srgbClr val="0D1F36"/>
          </a:solidFill>
          <a:ln w="6350">
            <a:solidFill>
              <a:srgbClr val="0077A8"/>
            </a:solidFill>
            <a:prstDash val="solid"/>
          </a:ln>
        </p:spPr>
      </p:sp>
      <p:sp>
        <p:nvSpPr>
          <p:cNvPr id="22" name="Text 20"/>
          <p:cNvSpPr/>
          <p:nvPr/>
        </p:nvSpPr>
        <p:spPr>
          <a:xfrm>
            <a:off x="594360" y="3300984"/>
            <a:ext cx="3200400" cy="228600"/>
          </a:xfrm>
          <a:prstGeom prst="rect">
            <a:avLst/>
          </a:prstGeom>
          <a:noFill/>
          <a:ln/>
        </p:spPr>
        <p:txBody>
          <a:bodyPr wrap="square" lIns="0" tIns="0" rIns="0" bIns="0" rtlCol="0" anchor="ctr"/>
          <a:lstStyle/>
          <a:p>
            <a:pPr indent="0" marL="0">
              <a:buNone/>
            </a:pPr>
            <a:r>
              <a:rPr lang="en-US" sz="900" b="1" dirty="0">
                <a:solidFill>
                  <a:srgbClr val="00B4D8"/>
                </a:solidFill>
                <a:latin typeface="Calibri" pitchFamily="34" charset="0"/>
                <a:ea typeface="Calibri" pitchFamily="34" charset="-122"/>
                <a:cs typeface="Calibri" pitchFamily="34" charset="-120"/>
              </a:rPr>
              <a:t>ANTHROPIC API</a:t>
            </a:r>
            <a:endParaRPr lang="en-US" sz="900" dirty="0"/>
          </a:p>
        </p:txBody>
      </p:sp>
      <p:sp>
        <p:nvSpPr>
          <p:cNvPr id="23" name="Text 21"/>
          <p:cNvSpPr/>
          <p:nvPr/>
        </p:nvSpPr>
        <p:spPr>
          <a:xfrm>
            <a:off x="594360" y="3511296"/>
            <a:ext cx="7863840" cy="201168"/>
          </a:xfrm>
          <a:prstGeom prst="rect">
            <a:avLst/>
          </a:prstGeom>
          <a:noFill/>
          <a:ln/>
        </p:spPr>
        <p:txBody>
          <a:bodyPr wrap="square" lIns="0" tIns="0" rIns="0" bIns="0" rtlCol="0" anchor="ctr"/>
          <a:lstStyle/>
          <a:p>
            <a:pPr indent="0" marL="0">
              <a:buNone/>
            </a:pPr>
            <a:r>
              <a:rPr lang="en-US" sz="900" dirty="0">
                <a:solidFill>
                  <a:srgbClr val="90E0EF"/>
                </a:solidFill>
                <a:latin typeface="Calibri" pitchFamily="34" charset="0"/>
                <a:ea typeface="Calibri" pitchFamily="34" charset="-122"/>
                <a:cs typeface="Calibri" pitchFamily="34" charset="-120"/>
              </a:rPr>
              <a:t>claude-opus-4  ·  claude-sonnet-4  ·  claude-haiku-4-5</a:t>
            </a:r>
            <a:endParaRPr lang="en-US" sz="900" dirty="0"/>
          </a:p>
        </p:txBody>
      </p:sp>
      <p:sp>
        <p:nvSpPr>
          <p:cNvPr id="24" name="Shape 22"/>
          <p:cNvSpPr/>
          <p:nvPr/>
        </p:nvSpPr>
        <p:spPr>
          <a:xfrm>
            <a:off x="4389120" y="3767328"/>
            <a:ext cx="0" cy="118872"/>
          </a:xfrm>
          <a:prstGeom prst="line">
            <a:avLst/>
          </a:prstGeom>
          <a:noFill/>
          <a:ln w="19050">
            <a:solidFill>
              <a:srgbClr val="00B4D8"/>
            </a:solidFill>
            <a:prstDash val="solid"/>
          </a:ln>
        </p:spPr>
      </p:sp>
      <p:sp>
        <p:nvSpPr>
          <p:cNvPr id="25" name="Shape 23"/>
          <p:cNvSpPr/>
          <p:nvPr/>
        </p:nvSpPr>
        <p:spPr>
          <a:xfrm>
            <a:off x="457200" y="3840480"/>
            <a:ext cx="8229600" cy="502920"/>
          </a:xfrm>
          <a:prstGeom prst="rect">
            <a:avLst/>
          </a:prstGeom>
          <a:solidFill>
            <a:srgbClr val="0A1628"/>
          </a:solidFill>
          <a:ln w="6350">
            <a:solidFill>
              <a:srgbClr val="0077A8"/>
            </a:solidFill>
            <a:prstDash val="solid"/>
          </a:ln>
        </p:spPr>
      </p:sp>
      <p:sp>
        <p:nvSpPr>
          <p:cNvPr id="26" name="Text 24"/>
          <p:cNvSpPr/>
          <p:nvPr/>
        </p:nvSpPr>
        <p:spPr>
          <a:xfrm>
            <a:off x="594360" y="3877056"/>
            <a:ext cx="3200400" cy="228600"/>
          </a:xfrm>
          <a:prstGeom prst="rect">
            <a:avLst/>
          </a:prstGeom>
          <a:noFill/>
          <a:ln/>
        </p:spPr>
        <p:txBody>
          <a:bodyPr wrap="square" lIns="0" tIns="0" rIns="0" bIns="0" rtlCol="0" anchor="ctr"/>
          <a:lstStyle/>
          <a:p>
            <a:pPr indent="0" marL="0">
              <a:buNone/>
            </a:pPr>
            <a:r>
              <a:rPr lang="en-US" sz="900" b="1" dirty="0">
                <a:solidFill>
                  <a:srgbClr val="00B4D8"/>
                </a:solidFill>
                <a:latin typeface="Calibri" pitchFamily="34" charset="0"/>
                <a:ea typeface="Calibri" pitchFamily="34" charset="-122"/>
                <a:cs typeface="Calibri" pitchFamily="34" charset="-120"/>
              </a:rPr>
              <a:t>STORAGE LAYER</a:t>
            </a:r>
            <a:endParaRPr lang="en-US" sz="900" dirty="0"/>
          </a:p>
        </p:txBody>
      </p:sp>
      <p:sp>
        <p:nvSpPr>
          <p:cNvPr id="27" name="Text 25"/>
          <p:cNvSpPr/>
          <p:nvPr/>
        </p:nvSpPr>
        <p:spPr>
          <a:xfrm>
            <a:off x="594360" y="4087368"/>
            <a:ext cx="7863840" cy="201168"/>
          </a:xfrm>
          <a:prstGeom prst="rect">
            <a:avLst/>
          </a:prstGeom>
          <a:noFill/>
          <a:ln/>
        </p:spPr>
        <p:txBody>
          <a:bodyPr wrap="square" lIns="0" tIns="0" rIns="0" bIns="0" rtlCol="0" anchor="ctr"/>
          <a:lstStyle/>
          <a:p>
            <a:pPr indent="0" marL="0">
              <a:buNone/>
            </a:pPr>
            <a:r>
              <a:rPr lang="en-US" sz="900" dirty="0">
                <a:solidFill>
                  <a:srgbClr val="90E0EF"/>
                </a:solidFill>
                <a:latin typeface="Calibri" pitchFamily="34" charset="0"/>
                <a:ea typeface="Calibri" pitchFamily="34" charset="-122"/>
                <a:cs typeface="Calibri" pitchFamily="34" charset="-120"/>
              </a:rPr>
              <a:t>pgvector  ·  aria_call_records  ·  aria_session_events  ·  Redis Cache</a:t>
            </a:r>
            <a:endParaRPr lang="en-US" sz="900" dirty="0"/>
          </a:p>
        </p:txBody>
      </p:sp>
      <p:sp>
        <p:nvSpPr>
          <p:cNvPr id="28" name="Shape 26"/>
          <p:cNvSpPr/>
          <p:nvPr/>
        </p:nvSpPr>
        <p:spPr>
          <a:xfrm>
            <a:off x="6400800" y="960120"/>
            <a:ext cx="2240280" cy="1371600"/>
          </a:xfrm>
          <a:prstGeom prst="rect">
            <a:avLst/>
          </a:prstGeom>
          <a:solidFill>
            <a:srgbClr val="0D1F36"/>
          </a:solidFill>
          <a:ln w="6350">
            <a:solidFill>
              <a:srgbClr val="1E3A5F"/>
            </a:solidFill>
            <a:prstDash val="solid"/>
          </a:ln>
        </p:spPr>
      </p:sp>
      <p:sp>
        <p:nvSpPr>
          <p:cNvPr id="29" name="Text 27"/>
          <p:cNvSpPr/>
          <p:nvPr/>
        </p:nvSpPr>
        <p:spPr>
          <a:xfrm>
            <a:off x="6492240" y="1005840"/>
            <a:ext cx="2011680" cy="228600"/>
          </a:xfrm>
          <a:prstGeom prst="rect">
            <a:avLst/>
          </a:prstGeom>
          <a:noFill/>
          <a:ln/>
        </p:spPr>
        <p:txBody>
          <a:bodyPr wrap="square" lIns="0" tIns="0" rIns="0" bIns="0" rtlCol="0" anchor="ctr"/>
          <a:lstStyle/>
          <a:p>
            <a:pPr indent="0" marL="0">
              <a:buNone/>
            </a:pPr>
            <a:r>
              <a:rPr lang="en-US" sz="900" b="1" dirty="0">
                <a:solidFill>
                  <a:srgbClr val="00B4D8"/>
                </a:solidFill>
                <a:latin typeface="Calibri" pitchFamily="34" charset="0"/>
                <a:ea typeface="Calibri" pitchFamily="34" charset="-122"/>
                <a:cs typeface="Calibri" pitchFamily="34" charset="-120"/>
              </a:rPr>
              <a:t>Key Principles</a:t>
            </a:r>
            <a:endParaRPr lang="en-US" sz="900" dirty="0"/>
          </a:p>
        </p:txBody>
      </p:sp>
      <p:sp>
        <p:nvSpPr>
          <p:cNvPr id="30" name="Text 28"/>
          <p:cNvSpPr/>
          <p:nvPr/>
        </p:nvSpPr>
        <p:spPr>
          <a:xfrm>
            <a:off x="6492240" y="1261872"/>
            <a:ext cx="2057400" cy="201168"/>
          </a:xfrm>
          <a:prstGeom prst="rect">
            <a:avLst/>
          </a:prstGeom>
          <a:noFill/>
          <a:ln/>
        </p:spPr>
        <p:txBody>
          <a:bodyPr wrap="square" lIns="0" tIns="0" rIns="0" bIns="0" rtlCol="0" anchor="ctr"/>
          <a:lstStyle/>
          <a:p>
            <a:pPr indent="0" marL="0">
              <a:buNone/>
            </a:pPr>
            <a:r>
              <a:rPr lang="en-US" sz="850" dirty="0">
                <a:solidFill>
                  <a:srgbClr val="90E0EF"/>
                </a:solidFill>
                <a:latin typeface="Calibri" pitchFamily="34" charset="0"/>
                <a:ea typeface="Calibri" pitchFamily="34" charset="-122"/>
                <a:cs typeface="Calibri" pitchFamily="34" charset="-120"/>
              </a:rPr>
              <a:t>→  Non-blocking async writes</a:t>
            </a:r>
            <a:endParaRPr lang="en-US" sz="850" dirty="0"/>
          </a:p>
        </p:txBody>
      </p:sp>
      <p:sp>
        <p:nvSpPr>
          <p:cNvPr id="31" name="Text 29"/>
          <p:cNvSpPr/>
          <p:nvPr/>
        </p:nvSpPr>
        <p:spPr>
          <a:xfrm>
            <a:off x="6492240" y="1490472"/>
            <a:ext cx="2057400" cy="201168"/>
          </a:xfrm>
          <a:prstGeom prst="rect">
            <a:avLst/>
          </a:prstGeom>
          <a:noFill/>
          <a:ln/>
        </p:spPr>
        <p:txBody>
          <a:bodyPr wrap="square" lIns="0" tIns="0" rIns="0" bIns="0" rtlCol="0" anchor="ctr"/>
          <a:lstStyle/>
          <a:p>
            <a:pPr indent="0" marL="0">
              <a:buNone/>
            </a:pPr>
            <a:r>
              <a:rPr lang="en-US" sz="850" dirty="0">
                <a:solidFill>
                  <a:srgbClr val="90E0EF"/>
                </a:solidFill>
                <a:latin typeface="Calibri" pitchFamily="34" charset="0"/>
                <a:ea typeface="Calibri" pitchFamily="34" charset="-122"/>
                <a:cs typeface="Calibri" pitchFamily="34" charset="-120"/>
              </a:rPr>
              <a:t>→  ThreadLocal session context</a:t>
            </a:r>
            <a:endParaRPr lang="en-US" sz="850" dirty="0"/>
          </a:p>
        </p:txBody>
      </p:sp>
      <p:sp>
        <p:nvSpPr>
          <p:cNvPr id="32" name="Text 30"/>
          <p:cNvSpPr/>
          <p:nvPr/>
        </p:nvSpPr>
        <p:spPr>
          <a:xfrm>
            <a:off x="6492240" y="1719072"/>
            <a:ext cx="2057400" cy="201168"/>
          </a:xfrm>
          <a:prstGeom prst="rect">
            <a:avLst/>
          </a:prstGeom>
          <a:noFill/>
          <a:ln/>
        </p:spPr>
        <p:txBody>
          <a:bodyPr wrap="square" lIns="0" tIns="0" rIns="0" bIns="0" rtlCol="0" anchor="ctr"/>
          <a:lstStyle/>
          <a:p>
            <a:pPr indent="0" marL="0">
              <a:buNone/>
            </a:pPr>
            <a:r>
              <a:rPr lang="en-US" sz="850" dirty="0">
                <a:solidFill>
                  <a:srgbClr val="90E0EF"/>
                </a:solidFill>
                <a:latin typeface="Calibri" pitchFamily="34" charset="0"/>
                <a:ea typeface="Calibri" pitchFamily="34" charset="-122"/>
                <a:cs typeface="Calibri" pitchFamily="34" charset="-120"/>
              </a:rPr>
              <a:t>→  Proxy-first token capture</a:t>
            </a:r>
            <a:endParaRPr lang="en-US" sz="850" dirty="0"/>
          </a:p>
        </p:txBody>
      </p:sp>
      <p:sp>
        <p:nvSpPr>
          <p:cNvPr id="33" name="Text 31"/>
          <p:cNvSpPr/>
          <p:nvPr/>
        </p:nvSpPr>
        <p:spPr>
          <a:xfrm>
            <a:off x="6492240" y="1947672"/>
            <a:ext cx="2057400" cy="201168"/>
          </a:xfrm>
          <a:prstGeom prst="rect">
            <a:avLst/>
          </a:prstGeom>
          <a:noFill/>
          <a:ln/>
        </p:spPr>
        <p:txBody>
          <a:bodyPr wrap="square" lIns="0" tIns="0" rIns="0" bIns="0" rtlCol="0" anchor="ctr"/>
          <a:lstStyle/>
          <a:p>
            <a:pPr indent="0" marL="0">
              <a:buNone/>
            </a:pPr>
            <a:r>
              <a:rPr lang="en-US" sz="850" dirty="0">
                <a:solidFill>
                  <a:srgbClr val="90E0EF"/>
                </a:solidFill>
                <a:latin typeface="Calibri" pitchFamily="34" charset="0"/>
                <a:ea typeface="Calibri" pitchFamily="34" charset="-122"/>
                <a:cs typeface="Calibri" pitchFamily="34" charset="-120"/>
              </a:rPr>
              <a:t>→  Model-agnostic routing</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457200" y="137160"/>
            <a:ext cx="2011680" cy="256032"/>
          </a:xfrm>
          <a:prstGeom prst="roundRect">
            <a:avLst>
              <a:gd name="adj" fmla="val 17857"/>
            </a:avLst>
          </a:prstGeom>
          <a:solidFill>
            <a:srgbClr val="00B4D8"/>
          </a:solidFill>
          <a:ln w="12700">
            <a:solidFill>
              <a:srgbClr val="00B4D8"/>
            </a:solidFill>
            <a:prstDash val="solid"/>
          </a:ln>
        </p:spPr>
      </p:sp>
      <p:sp>
        <p:nvSpPr>
          <p:cNvPr id="3" name="Text 1"/>
          <p:cNvSpPr/>
          <p:nvPr/>
        </p:nvSpPr>
        <p:spPr>
          <a:xfrm>
            <a:off x="457200" y="137160"/>
            <a:ext cx="2011680" cy="256032"/>
          </a:xfrm>
          <a:prstGeom prst="rect">
            <a:avLst/>
          </a:prstGeom>
          <a:noFill/>
          <a:ln/>
        </p:spPr>
        <p:txBody>
          <a:bodyPr wrap="square" lIns="0" tIns="0" rIns="0" bIns="0" rtlCol="0" anchor="ctr"/>
          <a:lstStyle/>
          <a:p>
            <a:pPr algn="ctr" indent="0" marL="0">
              <a:buNone/>
            </a:pPr>
            <a:r>
              <a:rPr lang="en-US" sz="800" b="1" dirty="0">
                <a:solidFill>
                  <a:srgbClr val="0A1628"/>
                </a:solidFill>
                <a:latin typeface="Calibri" pitchFamily="34" charset="0"/>
                <a:ea typeface="Calibri" pitchFamily="34" charset="-122"/>
                <a:cs typeface="Calibri" pitchFamily="34" charset="-120"/>
              </a:rPr>
              <a:t>TECH STACK</a:t>
            </a:r>
            <a:endParaRPr lang="en-US" sz="800" dirty="0"/>
          </a:p>
        </p:txBody>
      </p:sp>
      <p:sp>
        <p:nvSpPr>
          <p:cNvPr id="4" name="Text 2"/>
          <p:cNvSpPr/>
          <p:nvPr/>
        </p:nvSpPr>
        <p:spPr>
          <a:xfrm>
            <a:off x="457200" y="502920"/>
            <a:ext cx="8229600" cy="457200"/>
          </a:xfrm>
          <a:prstGeom prst="rect">
            <a:avLst/>
          </a:prstGeom>
          <a:noFill/>
          <a:ln/>
        </p:spPr>
        <p:txBody>
          <a:bodyPr wrap="square" lIns="0" tIns="0" rIns="0" bIns="0" rtlCol="0" anchor="ctr"/>
          <a:lstStyle/>
          <a:p>
            <a:pPr indent="0" marL="0">
              <a:buNone/>
            </a:pPr>
            <a:r>
              <a:rPr lang="en-US" sz="2200" b="1" dirty="0">
                <a:solidFill>
                  <a:srgbClr val="0A1628"/>
                </a:solidFill>
                <a:latin typeface="Calibri" pitchFamily="34" charset="0"/>
                <a:ea typeface="Calibri" pitchFamily="34" charset="-122"/>
                <a:cs typeface="Calibri" pitchFamily="34" charset="-120"/>
              </a:rPr>
              <a:t>Technology Stack</a:t>
            </a:r>
            <a:endParaRPr lang="en-US" sz="2200" dirty="0"/>
          </a:p>
        </p:txBody>
      </p:sp>
      <p:sp>
        <p:nvSpPr>
          <p:cNvPr id="5" name="Shape 3"/>
          <p:cNvSpPr/>
          <p:nvPr/>
        </p:nvSpPr>
        <p:spPr>
          <a:xfrm>
            <a:off x="457200" y="1051560"/>
            <a:ext cx="4114800" cy="1078992"/>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2000"/>
              </a:srgbClr>
            </a:outerShdw>
          </a:effectLst>
        </p:spPr>
      </p:sp>
      <p:sp>
        <p:nvSpPr>
          <p:cNvPr id="6" name="Shape 4"/>
          <p:cNvSpPr/>
          <p:nvPr/>
        </p:nvSpPr>
        <p:spPr>
          <a:xfrm>
            <a:off x="457200" y="1051560"/>
            <a:ext cx="54864" cy="1078992"/>
          </a:xfrm>
          <a:prstGeom prst="rect">
            <a:avLst/>
          </a:prstGeom>
          <a:solidFill>
            <a:srgbClr val="00B4D8"/>
          </a:solidFill>
          <a:ln w="12700">
            <a:solidFill>
              <a:srgbClr val="00B4D8"/>
            </a:solidFill>
            <a:prstDash val="solid"/>
          </a:ln>
        </p:spPr>
      </p:sp>
      <p:sp>
        <p:nvSpPr>
          <p:cNvPr id="7" name="Text 5"/>
          <p:cNvSpPr/>
          <p:nvPr/>
        </p:nvSpPr>
        <p:spPr>
          <a:xfrm>
            <a:off x="621792" y="1143000"/>
            <a:ext cx="3840480" cy="201168"/>
          </a:xfrm>
          <a:prstGeom prst="rect">
            <a:avLst/>
          </a:prstGeom>
          <a:noFill/>
          <a:ln/>
        </p:spPr>
        <p:txBody>
          <a:bodyPr wrap="square" lIns="0" tIns="0" rIns="0" bIns="0" rtlCol="0" anchor="ctr"/>
          <a:lstStyle/>
          <a:p>
            <a:pPr indent="0" marL="0">
              <a:buNone/>
            </a:pPr>
            <a:r>
              <a:rPr lang="en-US" sz="850" b="1" dirty="0">
                <a:solidFill>
                  <a:srgbClr val="00B4D8"/>
                </a:solidFill>
                <a:latin typeface="Calibri" pitchFamily="34" charset="0"/>
                <a:ea typeface="Calibri" pitchFamily="34" charset="-122"/>
                <a:cs typeface="Calibri" pitchFamily="34" charset="-120"/>
              </a:rPr>
              <a:t>LLM</a:t>
            </a:r>
            <a:endParaRPr lang="en-US" sz="850" dirty="0"/>
          </a:p>
        </p:txBody>
      </p:sp>
      <p:sp>
        <p:nvSpPr>
          <p:cNvPr id="8" name="Text 6"/>
          <p:cNvSpPr/>
          <p:nvPr/>
        </p:nvSpPr>
        <p:spPr>
          <a:xfrm>
            <a:off x="621792" y="1344168"/>
            <a:ext cx="3840480" cy="256032"/>
          </a:xfrm>
          <a:prstGeom prst="rect">
            <a:avLst/>
          </a:prstGeom>
          <a:noFill/>
          <a:ln/>
        </p:spPr>
        <p:txBody>
          <a:bodyPr wrap="square" lIns="0" tIns="0" rIns="0" bIns="0" rtlCol="0" anchor="ctr"/>
          <a:lstStyle/>
          <a:p>
            <a:pPr indent="0" marL="0">
              <a:buNone/>
            </a:pPr>
            <a:r>
              <a:rPr lang="en-US" sz="1200" b="1" dirty="0">
                <a:solidFill>
                  <a:srgbClr val="0A1628"/>
                </a:solidFill>
                <a:latin typeface="Calibri" pitchFamily="34" charset="0"/>
                <a:ea typeface="Calibri" pitchFamily="34" charset="-122"/>
                <a:cs typeface="Calibri" pitchFamily="34" charset="-120"/>
              </a:rPr>
              <a:t>Anthropic Claude</a:t>
            </a:r>
            <a:endParaRPr lang="en-US" sz="1200" dirty="0"/>
          </a:p>
        </p:txBody>
      </p:sp>
      <p:sp>
        <p:nvSpPr>
          <p:cNvPr id="9" name="Text 7"/>
          <p:cNvSpPr/>
          <p:nvPr/>
        </p:nvSpPr>
        <p:spPr>
          <a:xfrm>
            <a:off x="621792" y="1618488"/>
            <a:ext cx="3840480" cy="402336"/>
          </a:xfrm>
          <a:prstGeom prst="rect">
            <a:avLst/>
          </a:prstGeom>
          <a:noFill/>
          <a:ln/>
        </p:spPr>
        <p:txBody>
          <a:bodyPr wrap="square" lIns="0" tIns="0" rIns="0" bIns="0" rtlCol="0" anchor="ctr"/>
          <a:lstStyle/>
          <a:p>
            <a:pPr indent="0" marL="0">
              <a:buNone/>
            </a:pPr>
            <a:r>
              <a:rPr lang="en-US" sz="1000" dirty="0">
                <a:solidFill>
                  <a:srgbClr val="4A5568"/>
                </a:solidFill>
                <a:latin typeface="Calibri" pitchFamily="34" charset="0"/>
                <a:ea typeface="Calibri" pitchFamily="34" charset="-122"/>
                <a:cs typeface="Calibri" pitchFamily="34" charset="-120"/>
              </a:rPr>
              <a:t>claude-opus-4 / sonnet-4 / haiku-4-5</a:t>
            </a:r>
            <a:endParaRPr lang="en-US" sz="1000" dirty="0"/>
          </a:p>
        </p:txBody>
      </p:sp>
      <p:sp>
        <p:nvSpPr>
          <p:cNvPr id="10" name="Shape 8"/>
          <p:cNvSpPr/>
          <p:nvPr/>
        </p:nvSpPr>
        <p:spPr>
          <a:xfrm>
            <a:off x="457200" y="2267712"/>
            <a:ext cx="4114800" cy="1078992"/>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2000"/>
              </a:srgbClr>
            </a:outerShdw>
          </a:effectLst>
        </p:spPr>
      </p:sp>
      <p:sp>
        <p:nvSpPr>
          <p:cNvPr id="11" name="Shape 9"/>
          <p:cNvSpPr/>
          <p:nvPr/>
        </p:nvSpPr>
        <p:spPr>
          <a:xfrm>
            <a:off x="457200" y="2267712"/>
            <a:ext cx="54864" cy="1078992"/>
          </a:xfrm>
          <a:prstGeom prst="rect">
            <a:avLst/>
          </a:prstGeom>
          <a:solidFill>
            <a:srgbClr val="0077A8"/>
          </a:solidFill>
          <a:ln w="12700">
            <a:solidFill>
              <a:srgbClr val="0077A8"/>
            </a:solidFill>
            <a:prstDash val="solid"/>
          </a:ln>
        </p:spPr>
      </p:sp>
      <p:sp>
        <p:nvSpPr>
          <p:cNvPr id="12" name="Text 10"/>
          <p:cNvSpPr/>
          <p:nvPr/>
        </p:nvSpPr>
        <p:spPr>
          <a:xfrm>
            <a:off x="621792" y="2359152"/>
            <a:ext cx="3840480" cy="201168"/>
          </a:xfrm>
          <a:prstGeom prst="rect">
            <a:avLst/>
          </a:prstGeom>
          <a:noFill/>
          <a:ln/>
        </p:spPr>
        <p:txBody>
          <a:bodyPr wrap="square" lIns="0" tIns="0" rIns="0" bIns="0" rtlCol="0" anchor="ctr"/>
          <a:lstStyle/>
          <a:p>
            <a:pPr indent="0" marL="0">
              <a:buNone/>
            </a:pPr>
            <a:r>
              <a:rPr lang="en-US" sz="850" b="1" dirty="0">
                <a:solidFill>
                  <a:srgbClr val="0077A8"/>
                </a:solidFill>
                <a:latin typeface="Calibri" pitchFamily="34" charset="0"/>
                <a:ea typeface="Calibri" pitchFamily="34" charset="-122"/>
                <a:cs typeface="Calibri" pitchFamily="34" charset="-120"/>
              </a:rPr>
              <a:t>Backend</a:t>
            </a:r>
            <a:endParaRPr lang="en-US" sz="850" dirty="0"/>
          </a:p>
        </p:txBody>
      </p:sp>
      <p:sp>
        <p:nvSpPr>
          <p:cNvPr id="13" name="Text 11"/>
          <p:cNvSpPr/>
          <p:nvPr/>
        </p:nvSpPr>
        <p:spPr>
          <a:xfrm>
            <a:off x="621792" y="2560320"/>
            <a:ext cx="3840480" cy="256032"/>
          </a:xfrm>
          <a:prstGeom prst="rect">
            <a:avLst/>
          </a:prstGeom>
          <a:noFill/>
          <a:ln/>
        </p:spPr>
        <p:txBody>
          <a:bodyPr wrap="square" lIns="0" tIns="0" rIns="0" bIns="0" rtlCol="0" anchor="ctr"/>
          <a:lstStyle/>
          <a:p>
            <a:pPr indent="0" marL="0">
              <a:buNone/>
            </a:pPr>
            <a:r>
              <a:rPr lang="en-US" sz="1200" b="1" dirty="0">
                <a:solidFill>
                  <a:srgbClr val="0A1628"/>
                </a:solidFill>
                <a:latin typeface="Calibri" pitchFamily="34" charset="0"/>
                <a:ea typeface="Calibri" pitchFamily="34" charset="-122"/>
                <a:cs typeface="Calibri" pitchFamily="34" charset="-120"/>
              </a:rPr>
              <a:t>Spring Boot 3 + Spring AI</a:t>
            </a:r>
            <a:endParaRPr lang="en-US" sz="1200" dirty="0"/>
          </a:p>
        </p:txBody>
      </p:sp>
      <p:sp>
        <p:nvSpPr>
          <p:cNvPr id="14" name="Text 12"/>
          <p:cNvSpPr/>
          <p:nvPr/>
        </p:nvSpPr>
        <p:spPr>
          <a:xfrm>
            <a:off x="621792" y="2834640"/>
            <a:ext cx="3840480" cy="402336"/>
          </a:xfrm>
          <a:prstGeom prst="rect">
            <a:avLst/>
          </a:prstGeom>
          <a:noFill/>
          <a:ln/>
        </p:spPr>
        <p:txBody>
          <a:bodyPr wrap="square" lIns="0" tIns="0" rIns="0" bIns="0" rtlCol="0" anchor="ctr"/>
          <a:lstStyle/>
          <a:p>
            <a:pPr indent="0" marL="0">
              <a:buNone/>
            </a:pPr>
            <a:r>
              <a:rPr lang="en-US" sz="1000" dirty="0">
                <a:solidFill>
                  <a:srgbClr val="4A5568"/>
                </a:solidFill>
                <a:latin typeface="Calibri" pitchFamily="34" charset="0"/>
                <a:ea typeface="Calibri" pitchFamily="34" charset="-122"/>
                <a:cs typeface="Calibri" pitchFamily="34" charset="-120"/>
              </a:rPr>
              <a:t>Java 21  ·  Agent orchestration &amp; REST APIs</a:t>
            </a:r>
            <a:endParaRPr lang="en-US" sz="1000" dirty="0"/>
          </a:p>
        </p:txBody>
      </p:sp>
      <p:sp>
        <p:nvSpPr>
          <p:cNvPr id="15" name="Shape 13"/>
          <p:cNvSpPr/>
          <p:nvPr/>
        </p:nvSpPr>
        <p:spPr>
          <a:xfrm>
            <a:off x="457200" y="3483864"/>
            <a:ext cx="4114800" cy="1078992"/>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2000"/>
              </a:srgbClr>
            </a:outerShdw>
          </a:effectLst>
        </p:spPr>
      </p:sp>
      <p:sp>
        <p:nvSpPr>
          <p:cNvPr id="16" name="Shape 14"/>
          <p:cNvSpPr/>
          <p:nvPr/>
        </p:nvSpPr>
        <p:spPr>
          <a:xfrm>
            <a:off x="457200" y="3483864"/>
            <a:ext cx="54864" cy="1078992"/>
          </a:xfrm>
          <a:prstGeom prst="rect">
            <a:avLst/>
          </a:prstGeom>
          <a:solidFill>
            <a:srgbClr val="5B6EAE"/>
          </a:solidFill>
          <a:ln w="12700">
            <a:solidFill>
              <a:srgbClr val="5B6EAE"/>
            </a:solidFill>
            <a:prstDash val="solid"/>
          </a:ln>
        </p:spPr>
      </p:sp>
      <p:sp>
        <p:nvSpPr>
          <p:cNvPr id="17" name="Text 15"/>
          <p:cNvSpPr/>
          <p:nvPr/>
        </p:nvSpPr>
        <p:spPr>
          <a:xfrm>
            <a:off x="621792" y="3575304"/>
            <a:ext cx="3840480" cy="201168"/>
          </a:xfrm>
          <a:prstGeom prst="rect">
            <a:avLst/>
          </a:prstGeom>
          <a:noFill/>
          <a:ln/>
        </p:spPr>
        <p:txBody>
          <a:bodyPr wrap="square" lIns="0" tIns="0" rIns="0" bIns="0" rtlCol="0" anchor="ctr"/>
          <a:lstStyle/>
          <a:p>
            <a:pPr indent="0" marL="0">
              <a:buNone/>
            </a:pPr>
            <a:r>
              <a:rPr lang="en-US" sz="850" b="1" dirty="0">
                <a:solidFill>
                  <a:srgbClr val="5B6EAE"/>
                </a:solidFill>
                <a:latin typeface="Calibri" pitchFamily="34" charset="0"/>
                <a:ea typeface="Calibri" pitchFamily="34" charset="-122"/>
                <a:cs typeface="Calibri" pitchFamily="34" charset="-120"/>
              </a:rPr>
              <a:t>Vector DB</a:t>
            </a:r>
            <a:endParaRPr lang="en-US" sz="850" dirty="0"/>
          </a:p>
        </p:txBody>
      </p:sp>
      <p:sp>
        <p:nvSpPr>
          <p:cNvPr id="18" name="Text 16"/>
          <p:cNvSpPr/>
          <p:nvPr/>
        </p:nvSpPr>
        <p:spPr>
          <a:xfrm>
            <a:off x="621792" y="3776472"/>
            <a:ext cx="3840480" cy="256032"/>
          </a:xfrm>
          <a:prstGeom prst="rect">
            <a:avLst/>
          </a:prstGeom>
          <a:noFill/>
          <a:ln/>
        </p:spPr>
        <p:txBody>
          <a:bodyPr wrap="square" lIns="0" tIns="0" rIns="0" bIns="0" rtlCol="0" anchor="ctr"/>
          <a:lstStyle/>
          <a:p>
            <a:pPr indent="0" marL="0">
              <a:buNone/>
            </a:pPr>
            <a:r>
              <a:rPr lang="en-US" sz="1200" b="1" dirty="0">
                <a:solidFill>
                  <a:srgbClr val="0A1628"/>
                </a:solidFill>
                <a:latin typeface="Calibri" pitchFamily="34" charset="0"/>
                <a:ea typeface="Calibri" pitchFamily="34" charset="-122"/>
                <a:cs typeface="Calibri" pitchFamily="34" charset="-120"/>
              </a:rPr>
              <a:t>pgvector (PostgreSQL)</a:t>
            </a:r>
            <a:endParaRPr lang="en-US" sz="1200" dirty="0"/>
          </a:p>
        </p:txBody>
      </p:sp>
      <p:sp>
        <p:nvSpPr>
          <p:cNvPr id="19" name="Text 17"/>
          <p:cNvSpPr/>
          <p:nvPr/>
        </p:nvSpPr>
        <p:spPr>
          <a:xfrm>
            <a:off x="621792" y="4050792"/>
            <a:ext cx="3840480" cy="402336"/>
          </a:xfrm>
          <a:prstGeom prst="rect">
            <a:avLst/>
          </a:prstGeom>
          <a:noFill/>
          <a:ln/>
        </p:spPr>
        <p:txBody>
          <a:bodyPr wrap="square" lIns="0" tIns="0" rIns="0" bIns="0" rtlCol="0" anchor="ctr"/>
          <a:lstStyle/>
          <a:p>
            <a:pPr indent="0" marL="0">
              <a:buNone/>
            </a:pPr>
            <a:r>
              <a:rPr lang="en-US" sz="1000" dirty="0">
                <a:solidFill>
                  <a:srgbClr val="4A5568"/>
                </a:solidFill>
                <a:latin typeface="Calibri" pitchFamily="34" charset="0"/>
                <a:ea typeface="Calibri" pitchFamily="34" charset="-122"/>
                <a:cs typeface="Calibri" pitchFamily="34" charset="-120"/>
              </a:rPr>
              <a:t>Trajectory store, RAG, session event log</a:t>
            </a:r>
            <a:endParaRPr lang="en-US" sz="1000" dirty="0"/>
          </a:p>
        </p:txBody>
      </p:sp>
      <p:sp>
        <p:nvSpPr>
          <p:cNvPr id="20" name="Shape 18"/>
          <p:cNvSpPr/>
          <p:nvPr/>
        </p:nvSpPr>
        <p:spPr>
          <a:xfrm>
            <a:off x="4846320" y="1051560"/>
            <a:ext cx="4114800" cy="1078992"/>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2000"/>
              </a:srgbClr>
            </a:outerShdw>
          </a:effectLst>
        </p:spPr>
      </p:sp>
      <p:sp>
        <p:nvSpPr>
          <p:cNvPr id="21" name="Shape 19"/>
          <p:cNvSpPr/>
          <p:nvPr/>
        </p:nvSpPr>
        <p:spPr>
          <a:xfrm>
            <a:off x="4846320" y="1051560"/>
            <a:ext cx="54864" cy="1078992"/>
          </a:xfrm>
          <a:prstGeom prst="rect">
            <a:avLst/>
          </a:prstGeom>
          <a:solidFill>
            <a:srgbClr val="38A169"/>
          </a:solidFill>
          <a:ln w="12700">
            <a:solidFill>
              <a:srgbClr val="38A169"/>
            </a:solidFill>
            <a:prstDash val="solid"/>
          </a:ln>
        </p:spPr>
      </p:sp>
      <p:sp>
        <p:nvSpPr>
          <p:cNvPr id="22" name="Text 20"/>
          <p:cNvSpPr/>
          <p:nvPr/>
        </p:nvSpPr>
        <p:spPr>
          <a:xfrm>
            <a:off x="5010912" y="1143000"/>
            <a:ext cx="3840480" cy="201168"/>
          </a:xfrm>
          <a:prstGeom prst="rect">
            <a:avLst/>
          </a:prstGeom>
          <a:noFill/>
          <a:ln/>
        </p:spPr>
        <p:txBody>
          <a:bodyPr wrap="square" lIns="0" tIns="0" rIns="0" bIns="0" rtlCol="0" anchor="ctr"/>
          <a:lstStyle/>
          <a:p>
            <a:pPr indent="0" marL="0">
              <a:buNone/>
            </a:pPr>
            <a:r>
              <a:rPr lang="en-US" sz="850" b="1" dirty="0">
                <a:solidFill>
                  <a:srgbClr val="38A169"/>
                </a:solidFill>
                <a:latin typeface="Calibri" pitchFamily="34" charset="0"/>
                <a:ea typeface="Calibri" pitchFamily="34" charset="-122"/>
                <a:cs typeface="Calibri" pitchFamily="34" charset="-120"/>
              </a:rPr>
              <a:t>Frontend</a:t>
            </a:r>
            <a:endParaRPr lang="en-US" sz="850" dirty="0"/>
          </a:p>
        </p:txBody>
      </p:sp>
      <p:sp>
        <p:nvSpPr>
          <p:cNvPr id="23" name="Text 21"/>
          <p:cNvSpPr/>
          <p:nvPr/>
        </p:nvSpPr>
        <p:spPr>
          <a:xfrm>
            <a:off x="5010912" y="1344168"/>
            <a:ext cx="3840480" cy="256032"/>
          </a:xfrm>
          <a:prstGeom prst="rect">
            <a:avLst/>
          </a:prstGeom>
          <a:noFill/>
          <a:ln/>
        </p:spPr>
        <p:txBody>
          <a:bodyPr wrap="square" lIns="0" tIns="0" rIns="0" bIns="0" rtlCol="0" anchor="ctr"/>
          <a:lstStyle/>
          <a:p>
            <a:pPr indent="0" marL="0">
              <a:buNone/>
            </a:pPr>
            <a:r>
              <a:rPr lang="en-US" sz="1200" b="1" dirty="0">
                <a:solidFill>
                  <a:srgbClr val="0A1628"/>
                </a:solidFill>
                <a:latin typeface="Calibri" pitchFamily="34" charset="0"/>
                <a:ea typeface="Calibri" pitchFamily="34" charset="-122"/>
                <a:cs typeface="Calibri" pitchFamily="34" charset="-120"/>
              </a:rPr>
              <a:t>React + Recharts</a:t>
            </a:r>
            <a:endParaRPr lang="en-US" sz="1200" dirty="0"/>
          </a:p>
        </p:txBody>
      </p:sp>
      <p:sp>
        <p:nvSpPr>
          <p:cNvPr id="24" name="Text 22"/>
          <p:cNvSpPr/>
          <p:nvPr/>
        </p:nvSpPr>
        <p:spPr>
          <a:xfrm>
            <a:off x="5010912" y="1618488"/>
            <a:ext cx="3840480" cy="402336"/>
          </a:xfrm>
          <a:prstGeom prst="rect">
            <a:avLst/>
          </a:prstGeom>
          <a:noFill/>
          <a:ln/>
        </p:spPr>
        <p:txBody>
          <a:bodyPr wrap="square" lIns="0" tIns="0" rIns="0" bIns="0" rtlCol="0" anchor="ctr"/>
          <a:lstStyle/>
          <a:p>
            <a:pPr indent="0" marL="0">
              <a:buNone/>
            </a:pPr>
            <a:r>
              <a:rPr lang="en-US" sz="1000" dirty="0">
                <a:solidFill>
                  <a:srgbClr val="4A5568"/>
                </a:solidFill>
                <a:latin typeface="Calibri" pitchFamily="34" charset="0"/>
                <a:ea typeface="Calibri" pitchFamily="34" charset="-122"/>
                <a:cs typeface="Calibri" pitchFamily="34" charset="-120"/>
              </a:rPr>
              <a:t>9-tab FinOps dashboard, 3s polling, AI Advisor</a:t>
            </a:r>
            <a:endParaRPr lang="en-US" sz="1000" dirty="0"/>
          </a:p>
        </p:txBody>
      </p:sp>
      <p:sp>
        <p:nvSpPr>
          <p:cNvPr id="25" name="Shape 23"/>
          <p:cNvSpPr/>
          <p:nvPr/>
        </p:nvSpPr>
        <p:spPr>
          <a:xfrm>
            <a:off x="4846320" y="2267712"/>
            <a:ext cx="4114800" cy="1078992"/>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2000"/>
              </a:srgbClr>
            </a:outerShdw>
          </a:effectLst>
        </p:spPr>
      </p:sp>
      <p:sp>
        <p:nvSpPr>
          <p:cNvPr id="26" name="Shape 24"/>
          <p:cNvSpPr/>
          <p:nvPr/>
        </p:nvSpPr>
        <p:spPr>
          <a:xfrm>
            <a:off x="4846320" y="2267712"/>
            <a:ext cx="54864" cy="1078992"/>
          </a:xfrm>
          <a:prstGeom prst="rect">
            <a:avLst/>
          </a:prstGeom>
          <a:solidFill>
            <a:srgbClr val="D97706"/>
          </a:solidFill>
          <a:ln w="12700">
            <a:solidFill>
              <a:srgbClr val="D97706"/>
            </a:solidFill>
            <a:prstDash val="solid"/>
          </a:ln>
        </p:spPr>
      </p:sp>
      <p:sp>
        <p:nvSpPr>
          <p:cNvPr id="27" name="Text 25"/>
          <p:cNvSpPr/>
          <p:nvPr/>
        </p:nvSpPr>
        <p:spPr>
          <a:xfrm>
            <a:off x="5010912" y="2359152"/>
            <a:ext cx="3840480" cy="201168"/>
          </a:xfrm>
          <a:prstGeom prst="rect">
            <a:avLst/>
          </a:prstGeom>
          <a:noFill/>
          <a:ln/>
        </p:spPr>
        <p:txBody>
          <a:bodyPr wrap="square" lIns="0" tIns="0" rIns="0" bIns="0" rtlCol="0" anchor="ctr"/>
          <a:lstStyle/>
          <a:p>
            <a:pPr indent="0" marL="0">
              <a:buNone/>
            </a:pPr>
            <a:r>
              <a:rPr lang="en-US" sz="850" b="1" dirty="0">
                <a:solidFill>
                  <a:srgbClr val="D97706"/>
                </a:solidFill>
                <a:latin typeface="Calibri" pitchFamily="34" charset="0"/>
                <a:ea typeface="Calibri" pitchFamily="34" charset="-122"/>
                <a:cs typeface="Calibri" pitchFamily="34" charset="-120"/>
              </a:rPr>
              <a:t>Cache</a:t>
            </a:r>
            <a:endParaRPr lang="en-US" sz="850" dirty="0"/>
          </a:p>
        </p:txBody>
      </p:sp>
      <p:sp>
        <p:nvSpPr>
          <p:cNvPr id="28" name="Text 26"/>
          <p:cNvSpPr/>
          <p:nvPr/>
        </p:nvSpPr>
        <p:spPr>
          <a:xfrm>
            <a:off x="5010912" y="2560320"/>
            <a:ext cx="3840480" cy="256032"/>
          </a:xfrm>
          <a:prstGeom prst="rect">
            <a:avLst/>
          </a:prstGeom>
          <a:noFill/>
          <a:ln/>
        </p:spPr>
        <p:txBody>
          <a:bodyPr wrap="square" lIns="0" tIns="0" rIns="0" bIns="0" rtlCol="0" anchor="ctr"/>
          <a:lstStyle/>
          <a:p>
            <a:pPr indent="0" marL="0">
              <a:buNone/>
            </a:pPr>
            <a:r>
              <a:rPr lang="en-US" sz="1200" b="1" dirty="0">
                <a:solidFill>
                  <a:srgbClr val="0A1628"/>
                </a:solidFill>
                <a:latin typeface="Calibri" pitchFamily="34" charset="0"/>
                <a:ea typeface="Calibri" pitchFamily="34" charset="-122"/>
                <a:cs typeface="Calibri" pitchFamily="34" charset="-120"/>
              </a:rPr>
              <a:t>Redis / ConcurrentHashMap</a:t>
            </a:r>
            <a:endParaRPr lang="en-US" sz="1200" dirty="0"/>
          </a:p>
        </p:txBody>
      </p:sp>
      <p:sp>
        <p:nvSpPr>
          <p:cNvPr id="29" name="Text 27"/>
          <p:cNvSpPr/>
          <p:nvPr/>
        </p:nvSpPr>
        <p:spPr>
          <a:xfrm>
            <a:off x="5010912" y="2834640"/>
            <a:ext cx="3840480" cy="402336"/>
          </a:xfrm>
          <a:prstGeom prst="rect">
            <a:avLst/>
          </a:prstGeom>
          <a:noFill/>
          <a:ln/>
        </p:spPr>
        <p:txBody>
          <a:bodyPr wrap="square" lIns="0" tIns="0" rIns="0" bIns="0" rtlCol="0" anchor="ctr"/>
          <a:lstStyle/>
          <a:p>
            <a:pPr indent="0" marL="0">
              <a:buNone/>
            </a:pPr>
            <a:r>
              <a:rPr lang="en-US" sz="1000" dirty="0">
                <a:solidFill>
                  <a:srgbClr val="4A5568"/>
                </a:solidFill>
                <a:latin typeface="Calibri" pitchFamily="34" charset="0"/>
                <a:ea typeface="Calibri" pitchFamily="34" charset="-122"/>
                <a:cs typeface="Calibri" pitchFamily="34" charset="-120"/>
              </a:rPr>
              <a:t>Session-scoped live stats cache</a:t>
            </a:r>
            <a:endParaRPr lang="en-US" sz="1000" dirty="0"/>
          </a:p>
        </p:txBody>
      </p:sp>
      <p:sp>
        <p:nvSpPr>
          <p:cNvPr id="30" name="Shape 28"/>
          <p:cNvSpPr/>
          <p:nvPr/>
        </p:nvSpPr>
        <p:spPr>
          <a:xfrm>
            <a:off x="4846320" y="3483864"/>
            <a:ext cx="4114800" cy="1078992"/>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2000"/>
              </a:srgbClr>
            </a:outerShdw>
          </a:effectLst>
        </p:spPr>
      </p:sp>
      <p:sp>
        <p:nvSpPr>
          <p:cNvPr id="31" name="Shape 29"/>
          <p:cNvSpPr/>
          <p:nvPr/>
        </p:nvSpPr>
        <p:spPr>
          <a:xfrm>
            <a:off x="4846320" y="3483864"/>
            <a:ext cx="54864" cy="1078992"/>
          </a:xfrm>
          <a:prstGeom prst="rect">
            <a:avLst/>
          </a:prstGeom>
          <a:solidFill>
            <a:srgbClr val="7C3AED"/>
          </a:solidFill>
          <a:ln w="12700">
            <a:solidFill>
              <a:srgbClr val="7C3AED"/>
            </a:solidFill>
            <a:prstDash val="solid"/>
          </a:ln>
        </p:spPr>
      </p:sp>
      <p:sp>
        <p:nvSpPr>
          <p:cNvPr id="32" name="Text 30"/>
          <p:cNvSpPr/>
          <p:nvPr/>
        </p:nvSpPr>
        <p:spPr>
          <a:xfrm>
            <a:off x="5010912" y="3575304"/>
            <a:ext cx="3840480" cy="201168"/>
          </a:xfrm>
          <a:prstGeom prst="rect">
            <a:avLst/>
          </a:prstGeom>
          <a:noFill/>
          <a:ln/>
        </p:spPr>
        <p:txBody>
          <a:bodyPr wrap="square" lIns="0" tIns="0" rIns="0" bIns="0" rtlCol="0" anchor="ctr"/>
          <a:lstStyle/>
          <a:p>
            <a:pPr indent="0" marL="0">
              <a:buNone/>
            </a:pPr>
            <a:r>
              <a:rPr lang="en-US" sz="850" b="1" dirty="0">
                <a:solidFill>
                  <a:srgbClr val="7C3AED"/>
                </a:solidFill>
                <a:latin typeface="Calibri" pitchFamily="34" charset="0"/>
                <a:ea typeface="Calibri" pitchFamily="34" charset="-122"/>
                <a:cs typeface="Calibri" pitchFamily="34" charset="-120"/>
              </a:rPr>
              <a:t>Security</a:t>
            </a:r>
            <a:endParaRPr lang="en-US" sz="850" dirty="0"/>
          </a:p>
        </p:txBody>
      </p:sp>
      <p:sp>
        <p:nvSpPr>
          <p:cNvPr id="33" name="Text 31"/>
          <p:cNvSpPr/>
          <p:nvPr/>
        </p:nvSpPr>
        <p:spPr>
          <a:xfrm>
            <a:off x="5010912" y="3776472"/>
            <a:ext cx="3840480" cy="256032"/>
          </a:xfrm>
          <a:prstGeom prst="rect">
            <a:avLst/>
          </a:prstGeom>
          <a:noFill/>
          <a:ln/>
        </p:spPr>
        <p:txBody>
          <a:bodyPr wrap="square" lIns="0" tIns="0" rIns="0" bIns="0" rtlCol="0" anchor="ctr"/>
          <a:lstStyle/>
          <a:p>
            <a:pPr indent="0" marL="0">
              <a:buNone/>
            </a:pPr>
            <a:r>
              <a:rPr lang="en-US" sz="1200" b="1" dirty="0">
                <a:solidFill>
                  <a:srgbClr val="0A1628"/>
                </a:solidFill>
                <a:latin typeface="Calibri" pitchFamily="34" charset="0"/>
                <a:ea typeface="Calibri" pitchFamily="34" charset="-122"/>
                <a:cs typeface="Calibri" pitchFamily="34" charset="-120"/>
              </a:rPr>
              <a:t>Spring Security + Vault</a:t>
            </a:r>
            <a:endParaRPr lang="en-US" sz="1200" dirty="0"/>
          </a:p>
        </p:txBody>
      </p:sp>
      <p:sp>
        <p:nvSpPr>
          <p:cNvPr id="34" name="Text 32"/>
          <p:cNvSpPr/>
          <p:nvPr/>
        </p:nvSpPr>
        <p:spPr>
          <a:xfrm>
            <a:off x="5010912" y="4050792"/>
            <a:ext cx="3840480" cy="402336"/>
          </a:xfrm>
          <a:prstGeom prst="rect">
            <a:avLst/>
          </a:prstGeom>
          <a:noFill/>
          <a:ln/>
        </p:spPr>
        <p:txBody>
          <a:bodyPr wrap="square" lIns="0" tIns="0" rIns="0" bIns="0" rtlCol="0" anchor="ctr"/>
          <a:lstStyle/>
          <a:p>
            <a:pPr indent="0" marL="0">
              <a:buNone/>
            </a:pPr>
            <a:r>
              <a:rPr lang="en-US" sz="1000" dirty="0">
                <a:solidFill>
                  <a:srgbClr val="4A5568"/>
                </a:solidFill>
                <a:latin typeface="Calibri" pitchFamily="34" charset="0"/>
                <a:ea typeface="Calibri" pitchFamily="34" charset="-122"/>
                <a:cs typeface="Calibri" pitchFamily="34" charset="-120"/>
              </a:rPr>
              <a:t>Credential vault, MCP proxy, audit logging</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457200" y="137160"/>
            <a:ext cx="2560320" cy="256032"/>
          </a:xfrm>
          <a:prstGeom prst="roundRect">
            <a:avLst>
              <a:gd name="adj" fmla="val 17857"/>
            </a:avLst>
          </a:prstGeom>
          <a:solidFill>
            <a:srgbClr val="00B4D8"/>
          </a:solidFill>
          <a:ln w="12700">
            <a:solidFill>
              <a:srgbClr val="00B4D8"/>
            </a:solidFill>
            <a:prstDash val="solid"/>
          </a:ln>
        </p:spPr>
      </p:sp>
      <p:sp>
        <p:nvSpPr>
          <p:cNvPr id="3" name="Text 1"/>
          <p:cNvSpPr/>
          <p:nvPr/>
        </p:nvSpPr>
        <p:spPr>
          <a:xfrm>
            <a:off x="457200" y="137160"/>
            <a:ext cx="2560320" cy="256032"/>
          </a:xfrm>
          <a:prstGeom prst="rect">
            <a:avLst/>
          </a:prstGeom>
          <a:noFill/>
          <a:ln/>
        </p:spPr>
        <p:txBody>
          <a:bodyPr wrap="square" lIns="0" tIns="0" rIns="0" bIns="0" rtlCol="0" anchor="ctr"/>
          <a:lstStyle/>
          <a:p>
            <a:pPr algn="ctr" indent="0" marL="0">
              <a:buNone/>
            </a:pPr>
            <a:r>
              <a:rPr lang="en-US" sz="800" b="1" dirty="0">
                <a:solidFill>
                  <a:srgbClr val="0A1628"/>
                </a:solidFill>
                <a:latin typeface="Calibri" pitchFamily="34" charset="0"/>
                <a:ea typeface="Calibri" pitchFamily="34" charset="-122"/>
                <a:cs typeface="Calibri" pitchFamily="34" charset="-120"/>
              </a:rPr>
              <a:t>IMPLEMENTATION ROADMAP</a:t>
            </a:r>
            <a:endParaRPr lang="en-US" sz="800" dirty="0"/>
          </a:p>
        </p:txBody>
      </p:sp>
      <p:sp>
        <p:nvSpPr>
          <p:cNvPr id="4" name="Text 2"/>
          <p:cNvSpPr/>
          <p:nvPr/>
        </p:nvSpPr>
        <p:spPr>
          <a:xfrm>
            <a:off x="457200" y="502920"/>
            <a:ext cx="822960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ARIA — 9 Implementation Phases</a:t>
            </a:r>
            <a:endParaRPr lang="en-US" sz="2200" dirty="0"/>
          </a:p>
        </p:txBody>
      </p:sp>
      <p:sp>
        <p:nvSpPr>
          <p:cNvPr id="5" name="Shape 3"/>
          <p:cNvSpPr/>
          <p:nvPr/>
        </p:nvSpPr>
        <p:spPr>
          <a:xfrm>
            <a:off x="457200" y="960120"/>
            <a:ext cx="2697480" cy="1115568"/>
          </a:xfrm>
          <a:prstGeom prst="rect">
            <a:avLst/>
          </a:prstGeom>
          <a:solidFill>
            <a:srgbClr val="112240"/>
          </a:solidFill>
          <a:ln w="10160">
            <a:solidFill>
              <a:srgbClr val="00B4D8"/>
            </a:solidFill>
            <a:prstDash val="solid"/>
          </a:ln>
        </p:spPr>
      </p:sp>
      <p:sp>
        <p:nvSpPr>
          <p:cNvPr id="6" name="Shape 4"/>
          <p:cNvSpPr/>
          <p:nvPr/>
        </p:nvSpPr>
        <p:spPr>
          <a:xfrm>
            <a:off x="457200" y="960120"/>
            <a:ext cx="347472" cy="347472"/>
          </a:xfrm>
          <a:prstGeom prst="rect">
            <a:avLst/>
          </a:prstGeom>
          <a:solidFill>
            <a:srgbClr val="00B4D8"/>
          </a:solidFill>
          <a:ln w="12700">
            <a:solidFill>
              <a:srgbClr val="00B4D8"/>
            </a:solidFill>
            <a:prstDash val="solid"/>
          </a:ln>
        </p:spPr>
      </p:sp>
      <p:sp>
        <p:nvSpPr>
          <p:cNvPr id="7" name="Text 5"/>
          <p:cNvSpPr/>
          <p:nvPr/>
        </p:nvSpPr>
        <p:spPr>
          <a:xfrm>
            <a:off x="457200" y="960120"/>
            <a:ext cx="347472" cy="347472"/>
          </a:xfrm>
          <a:prstGeom prst="rect">
            <a:avLst/>
          </a:prstGeom>
          <a:noFill/>
          <a:ln/>
        </p:spPr>
        <p:txBody>
          <a:bodyPr wrap="square" lIns="0" tIns="0" rIns="0" bIns="0" rtlCol="0" anchor="ctr"/>
          <a:lstStyle/>
          <a:p>
            <a:pPr algn="ctr" indent="0" marL="0">
              <a:buNone/>
            </a:pPr>
            <a:r>
              <a:rPr lang="en-US" sz="1300" b="1" dirty="0">
                <a:solidFill>
                  <a:srgbClr val="0A1628"/>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877824" y="1014984"/>
            <a:ext cx="2212848" cy="45720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Context Window Monitor</a:t>
            </a:r>
            <a:endParaRPr lang="en-US" sz="1000" dirty="0"/>
          </a:p>
        </p:txBody>
      </p:sp>
      <p:sp>
        <p:nvSpPr>
          <p:cNvPr id="9" name="Text 7"/>
          <p:cNvSpPr/>
          <p:nvPr/>
        </p:nvSpPr>
        <p:spPr>
          <a:xfrm>
            <a:off x="566928" y="1783080"/>
            <a:ext cx="2377440" cy="201168"/>
          </a:xfrm>
          <a:prstGeom prst="rect">
            <a:avLst/>
          </a:prstGeom>
          <a:noFill/>
          <a:ln/>
        </p:spPr>
        <p:txBody>
          <a:bodyPr wrap="square" lIns="0" tIns="0" rIns="0" bIns="0" rtlCol="0" anchor="ctr"/>
          <a:lstStyle/>
          <a:p>
            <a:pPr indent="0" marL="0">
              <a:buNone/>
            </a:pPr>
            <a:r>
              <a:rPr lang="en-US" sz="900" dirty="0">
                <a:solidFill>
                  <a:srgbClr val="00B4D8"/>
                </a:solidFill>
                <a:latin typeface="Calibri" pitchFamily="34" charset="0"/>
                <a:ea typeface="Calibri" pitchFamily="34" charset="-122"/>
                <a:cs typeface="Calibri" pitchFamily="34" charset="-120"/>
              </a:rPr>
              <a:t>Est. 2–3d</a:t>
            </a:r>
            <a:endParaRPr lang="en-US" sz="900" dirty="0"/>
          </a:p>
        </p:txBody>
      </p:sp>
      <p:sp>
        <p:nvSpPr>
          <p:cNvPr id="10" name="Shape 8"/>
          <p:cNvSpPr/>
          <p:nvPr/>
        </p:nvSpPr>
        <p:spPr>
          <a:xfrm>
            <a:off x="3355848" y="960120"/>
            <a:ext cx="2697480" cy="1115568"/>
          </a:xfrm>
          <a:prstGeom prst="rect">
            <a:avLst/>
          </a:prstGeom>
          <a:solidFill>
            <a:srgbClr val="112240"/>
          </a:solidFill>
          <a:ln w="10160">
            <a:solidFill>
              <a:srgbClr val="00B4D8"/>
            </a:solidFill>
            <a:prstDash val="solid"/>
          </a:ln>
        </p:spPr>
      </p:sp>
      <p:sp>
        <p:nvSpPr>
          <p:cNvPr id="11" name="Shape 9"/>
          <p:cNvSpPr/>
          <p:nvPr/>
        </p:nvSpPr>
        <p:spPr>
          <a:xfrm>
            <a:off x="3355848" y="960120"/>
            <a:ext cx="347472" cy="347472"/>
          </a:xfrm>
          <a:prstGeom prst="rect">
            <a:avLst/>
          </a:prstGeom>
          <a:solidFill>
            <a:srgbClr val="00B4D8"/>
          </a:solidFill>
          <a:ln w="12700">
            <a:solidFill>
              <a:srgbClr val="00B4D8"/>
            </a:solidFill>
            <a:prstDash val="solid"/>
          </a:ln>
        </p:spPr>
      </p:sp>
      <p:sp>
        <p:nvSpPr>
          <p:cNvPr id="12" name="Text 10"/>
          <p:cNvSpPr/>
          <p:nvPr/>
        </p:nvSpPr>
        <p:spPr>
          <a:xfrm>
            <a:off x="3355848" y="960120"/>
            <a:ext cx="347472" cy="347472"/>
          </a:xfrm>
          <a:prstGeom prst="rect">
            <a:avLst/>
          </a:prstGeom>
          <a:noFill/>
          <a:ln/>
        </p:spPr>
        <p:txBody>
          <a:bodyPr wrap="square" lIns="0" tIns="0" rIns="0" bIns="0" rtlCol="0" anchor="ctr"/>
          <a:lstStyle/>
          <a:p>
            <a:pPr algn="ctr" indent="0" marL="0">
              <a:buNone/>
            </a:pPr>
            <a:r>
              <a:rPr lang="en-US" sz="1300" b="1" dirty="0">
                <a:solidFill>
                  <a:srgbClr val="0A1628"/>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3776472" y="1014984"/>
            <a:ext cx="2212848" cy="45720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API Proxy Interceptor</a:t>
            </a:r>
            <a:endParaRPr lang="en-US" sz="1000" dirty="0"/>
          </a:p>
        </p:txBody>
      </p:sp>
      <p:sp>
        <p:nvSpPr>
          <p:cNvPr id="14" name="Text 12"/>
          <p:cNvSpPr/>
          <p:nvPr/>
        </p:nvSpPr>
        <p:spPr>
          <a:xfrm>
            <a:off x="3465576" y="1783080"/>
            <a:ext cx="2377440" cy="201168"/>
          </a:xfrm>
          <a:prstGeom prst="rect">
            <a:avLst/>
          </a:prstGeom>
          <a:noFill/>
          <a:ln/>
        </p:spPr>
        <p:txBody>
          <a:bodyPr wrap="square" lIns="0" tIns="0" rIns="0" bIns="0" rtlCol="0" anchor="ctr"/>
          <a:lstStyle/>
          <a:p>
            <a:pPr indent="0" marL="0">
              <a:buNone/>
            </a:pPr>
            <a:r>
              <a:rPr lang="en-US" sz="900" dirty="0">
                <a:solidFill>
                  <a:srgbClr val="00B4D8"/>
                </a:solidFill>
                <a:latin typeface="Calibri" pitchFamily="34" charset="0"/>
                <a:ea typeface="Calibri" pitchFamily="34" charset="-122"/>
                <a:cs typeface="Calibri" pitchFamily="34" charset="-120"/>
              </a:rPr>
              <a:t>Est. 1–2d</a:t>
            </a:r>
            <a:endParaRPr lang="en-US" sz="900" dirty="0"/>
          </a:p>
        </p:txBody>
      </p:sp>
      <p:sp>
        <p:nvSpPr>
          <p:cNvPr id="15" name="Shape 13"/>
          <p:cNvSpPr/>
          <p:nvPr/>
        </p:nvSpPr>
        <p:spPr>
          <a:xfrm>
            <a:off x="6254496" y="960120"/>
            <a:ext cx="2697480" cy="1115568"/>
          </a:xfrm>
          <a:prstGeom prst="rect">
            <a:avLst/>
          </a:prstGeom>
          <a:solidFill>
            <a:srgbClr val="112240"/>
          </a:solidFill>
          <a:ln w="10160">
            <a:solidFill>
              <a:srgbClr val="00B4D8"/>
            </a:solidFill>
            <a:prstDash val="solid"/>
          </a:ln>
        </p:spPr>
      </p:sp>
      <p:sp>
        <p:nvSpPr>
          <p:cNvPr id="16" name="Shape 14"/>
          <p:cNvSpPr/>
          <p:nvPr/>
        </p:nvSpPr>
        <p:spPr>
          <a:xfrm>
            <a:off x="6254496" y="960120"/>
            <a:ext cx="347472" cy="347472"/>
          </a:xfrm>
          <a:prstGeom prst="rect">
            <a:avLst/>
          </a:prstGeom>
          <a:solidFill>
            <a:srgbClr val="00B4D8"/>
          </a:solidFill>
          <a:ln w="12700">
            <a:solidFill>
              <a:srgbClr val="00B4D8"/>
            </a:solidFill>
            <a:prstDash val="solid"/>
          </a:ln>
        </p:spPr>
      </p:sp>
      <p:sp>
        <p:nvSpPr>
          <p:cNvPr id="17" name="Text 15"/>
          <p:cNvSpPr/>
          <p:nvPr/>
        </p:nvSpPr>
        <p:spPr>
          <a:xfrm>
            <a:off x="6254496" y="960120"/>
            <a:ext cx="347472" cy="347472"/>
          </a:xfrm>
          <a:prstGeom prst="rect">
            <a:avLst/>
          </a:prstGeom>
          <a:noFill/>
          <a:ln/>
        </p:spPr>
        <p:txBody>
          <a:bodyPr wrap="square" lIns="0" tIns="0" rIns="0" bIns="0" rtlCol="0" anchor="ctr"/>
          <a:lstStyle/>
          <a:p>
            <a:pPr algn="ctr" indent="0" marL="0">
              <a:buNone/>
            </a:pPr>
            <a:r>
              <a:rPr lang="en-US" sz="1300" b="1" dirty="0">
                <a:solidFill>
                  <a:srgbClr val="0A1628"/>
                </a:solidFill>
                <a:latin typeface="Calibri" pitchFamily="34" charset="0"/>
                <a:ea typeface="Calibri" pitchFamily="34" charset="-122"/>
                <a:cs typeface="Calibri" pitchFamily="34" charset="-120"/>
              </a:rPr>
              <a:t>3</a:t>
            </a:r>
            <a:endParaRPr lang="en-US" sz="1300" dirty="0"/>
          </a:p>
        </p:txBody>
      </p:sp>
      <p:sp>
        <p:nvSpPr>
          <p:cNvPr id="18" name="Text 16"/>
          <p:cNvSpPr/>
          <p:nvPr/>
        </p:nvSpPr>
        <p:spPr>
          <a:xfrm>
            <a:off x="6675120" y="1014984"/>
            <a:ext cx="2212848" cy="45720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pgvector Trajectory Store</a:t>
            </a:r>
            <a:endParaRPr lang="en-US" sz="1000" dirty="0"/>
          </a:p>
        </p:txBody>
      </p:sp>
      <p:sp>
        <p:nvSpPr>
          <p:cNvPr id="19" name="Text 17"/>
          <p:cNvSpPr/>
          <p:nvPr/>
        </p:nvSpPr>
        <p:spPr>
          <a:xfrm>
            <a:off x="6364224" y="1783080"/>
            <a:ext cx="2377440" cy="201168"/>
          </a:xfrm>
          <a:prstGeom prst="rect">
            <a:avLst/>
          </a:prstGeom>
          <a:noFill/>
          <a:ln/>
        </p:spPr>
        <p:txBody>
          <a:bodyPr wrap="square" lIns="0" tIns="0" rIns="0" bIns="0" rtlCol="0" anchor="ctr"/>
          <a:lstStyle/>
          <a:p>
            <a:pPr indent="0" marL="0">
              <a:buNone/>
            </a:pPr>
            <a:r>
              <a:rPr lang="en-US" sz="900" dirty="0">
                <a:solidFill>
                  <a:srgbClr val="00B4D8"/>
                </a:solidFill>
                <a:latin typeface="Calibri" pitchFamily="34" charset="0"/>
                <a:ea typeface="Calibri" pitchFamily="34" charset="-122"/>
                <a:cs typeface="Calibri" pitchFamily="34" charset="-120"/>
              </a:rPr>
              <a:t>Est. 1–2d</a:t>
            </a:r>
            <a:endParaRPr lang="en-US" sz="900" dirty="0"/>
          </a:p>
        </p:txBody>
      </p:sp>
      <p:sp>
        <p:nvSpPr>
          <p:cNvPr id="20" name="Shape 18"/>
          <p:cNvSpPr/>
          <p:nvPr/>
        </p:nvSpPr>
        <p:spPr>
          <a:xfrm>
            <a:off x="457200" y="2240280"/>
            <a:ext cx="2697480" cy="1115568"/>
          </a:xfrm>
          <a:prstGeom prst="rect">
            <a:avLst/>
          </a:prstGeom>
          <a:solidFill>
            <a:srgbClr val="112240"/>
          </a:solidFill>
          <a:ln w="10160">
            <a:solidFill>
              <a:srgbClr val="00B4D8"/>
            </a:solidFill>
            <a:prstDash val="solid"/>
          </a:ln>
        </p:spPr>
      </p:sp>
      <p:sp>
        <p:nvSpPr>
          <p:cNvPr id="21" name="Shape 19"/>
          <p:cNvSpPr/>
          <p:nvPr/>
        </p:nvSpPr>
        <p:spPr>
          <a:xfrm>
            <a:off x="457200" y="2240280"/>
            <a:ext cx="347472" cy="347472"/>
          </a:xfrm>
          <a:prstGeom prst="rect">
            <a:avLst/>
          </a:prstGeom>
          <a:solidFill>
            <a:srgbClr val="00B4D8"/>
          </a:solidFill>
          <a:ln w="12700">
            <a:solidFill>
              <a:srgbClr val="00B4D8"/>
            </a:solidFill>
            <a:prstDash val="solid"/>
          </a:ln>
        </p:spPr>
      </p:sp>
      <p:sp>
        <p:nvSpPr>
          <p:cNvPr id="22" name="Text 20"/>
          <p:cNvSpPr/>
          <p:nvPr/>
        </p:nvSpPr>
        <p:spPr>
          <a:xfrm>
            <a:off x="457200" y="2240280"/>
            <a:ext cx="347472" cy="347472"/>
          </a:xfrm>
          <a:prstGeom prst="rect">
            <a:avLst/>
          </a:prstGeom>
          <a:noFill/>
          <a:ln/>
        </p:spPr>
        <p:txBody>
          <a:bodyPr wrap="square" lIns="0" tIns="0" rIns="0" bIns="0" rtlCol="0" anchor="ctr"/>
          <a:lstStyle/>
          <a:p>
            <a:pPr algn="ctr" indent="0" marL="0">
              <a:buNone/>
            </a:pPr>
            <a:r>
              <a:rPr lang="en-US" sz="1300" b="1" dirty="0">
                <a:solidFill>
                  <a:srgbClr val="0A1628"/>
                </a:solidFill>
                <a:latin typeface="Calibri" pitchFamily="34" charset="0"/>
                <a:ea typeface="Calibri" pitchFamily="34" charset="-122"/>
                <a:cs typeface="Calibri" pitchFamily="34" charset="-120"/>
              </a:rPr>
              <a:t>4</a:t>
            </a:r>
            <a:endParaRPr lang="en-US" sz="1300" dirty="0"/>
          </a:p>
        </p:txBody>
      </p:sp>
      <p:sp>
        <p:nvSpPr>
          <p:cNvPr id="23" name="Text 21"/>
          <p:cNvSpPr/>
          <p:nvPr/>
        </p:nvSpPr>
        <p:spPr>
          <a:xfrm>
            <a:off x="877824" y="2295144"/>
            <a:ext cx="2212848" cy="45720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Cost Intelligence APIs</a:t>
            </a:r>
            <a:endParaRPr lang="en-US" sz="1000" dirty="0"/>
          </a:p>
        </p:txBody>
      </p:sp>
      <p:sp>
        <p:nvSpPr>
          <p:cNvPr id="24" name="Text 22"/>
          <p:cNvSpPr/>
          <p:nvPr/>
        </p:nvSpPr>
        <p:spPr>
          <a:xfrm>
            <a:off x="566928" y="3063240"/>
            <a:ext cx="2377440" cy="201168"/>
          </a:xfrm>
          <a:prstGeom prst="rect">
            <a:avLst/>
          </a:prstGeom>
          <a:noFill/>
          <a:ln/>
        </p:spPr>
        <p:txBody>
          <a:bodyPr wrap="square" lIns="0" tIns="0" rIns="0" bIns="0" rtlCol="0" anchor="ctr"/>
          <a:lstStyle/>
          <a:p>
            <a:pPr indent="0" marL="0">
              <a:buNone/>
            </a:pPr>
            <a:r>
              <a:rPr lang="en-US" sz="900" dirty="0">
                <a:solidFill>
                  <a:srgbClr val="00B4D8"/>
                </a:solidFill>
                <a:latin typeface="Calibri" pitchFamily="34" charset="0"/>
                <a:ea typeface="Calibri" pitchFamily="34" charset="-122"/>
                <a:cs typeface="Calibri" pitchFamily="34" charset="-120"/>
              </a:rPr>
              <a:t>Est. 2d</a:t>
            </a:r>
            <a:endParaRPr lang="en-US" sz="900" dirty="0"/>
          </a:p>
        </p:txBody>
      </p:sp>
      <p:sp>
        <p:nvSpPr>
          <p:cNvPr id="25" name="Shape 23"/>
          <p:cNvSpPr/>
          <p:nvPr/>
        </p:nvSpPr>
        <p:spPr>
          <a:xfrm>
            <a:off x="3355848" y="2240280"/>
            <a:ext cx="2697480" cy="1115568"/>
          </a:xfrm>
          <a:prstGeom prst="rect">
            <a:avLst/>
          </a:prstGeom>
          <a:solidFill>
            <a:srgbClr val="112240"/>
          </a:solidFill>
          <a:ln w="10160">
            <a:solidFill>
              <a:srgbClr val="00B4D8"/>
            </a:solidFill>
            <a:prstDash val="solid"/>
          </a:ln>
        </p:spPr>
      </p:sp>
      <p:sp>
        <p:nvSpPr>
          <p:cNvPr id="26" name="Shape 24"/>
          <p:cNvSpPr/>
          <p:nvPr/>
        </p:nvSpPr>
        <p:spPr>
          <a:xfrm>
            <a:off x="3355848" y="2240280"/>
            <a:ext cx="347472" cy="347472"/>
          </a:xfrm>
          <a:prstGeom prst="rect">
            <a:avLst/>
          </a:prstGeom>
          <a:solidFill>
            <a:srgbClr val="00B4D8"/>
          </a:solidFill>
          <a:ln w="12700">
            <a:solidFill>
              <a:srgbClr val="00B4D8"/>
            </a:solidFill>
            <a:prstDash val="solid"/>
          </a:ln>
        </p:spPr>
      </p:sp>
      <p:sp>
        <p:nvSpPr>
          <p:cNvPr id="27" name="Text 25"/>
          <p:cNvSpPr/>
          <p:nvPr/>
        </p:nvSpPr>
        <p:spPr>
          <a:xfrm>
            <a:off x="3355848" y="2240280"/>
            <a:ext cx="347472" cy="347472"/>
          </a:xfrm>
          <a:prstGeom prst="rect">
            <a:avLst/>
          </a:prstGeom>
          <a:noFill/>
          <a:ln/>
        </p:spPr>
        <p:txBody>
          <a:bodyPr wrap="square" lIns="0" tIns="0" rIns="0" bIns="0" rtlCol="0" anchor="ctr"/>
          <a:lstStyle/>
          <a:p>
            <a:pPr algn="ctr" indent="0" marL="0">
              <a:buNone/>
            </a:pPr>
            <a:r>
              <a:rPr lang="en-US" sz="1300" b="1" dirty="0">
                <a:solidFill>
                  <a:srgbClr val="0A1628"/>
                </a:solidFill>
                <a:latin typeface="Calibri" pitchFamily="34" charset="0"/>
                <a:ea typeface="Calibri" pitchFamily="34" charset="-122"/>
                <a:cs typeface="Calibri" pitchFamily="34" charset="-120"/>
              </a:rPr>
              <a:t>5</a:t>
            </a:r>
            <a:endParaRPr lang="en-US" sz="1300" dirty="0"/>
          </a:p>
        </p:txBody>
      </p:sp>
      <p:sp>
        <p:nvSpPr>
          <p:cNvPr id="28" name="Text 26"/>
          <p:cNvSpPr/>
          <p:nvPr/>
        </p:nvSpPr>
        <p:spPr>
          <a:xfrm>
            <a:off x="3776472" y="2295144"/>
            <a:ext cx="2212848" cy="45720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Active Optimizer Engine</a:t>
            </a:r>
            <a:endParaRPr lang="en-US" sz="1000" dirty="0"/>
          </a:p>
        </p:txBody>
      </p:sp>
      <p:sp>
        <p:nvSpPr>
          <p:cNvPr id="29" name="Text 27"/>
          <p:cNvSpPr/>
          <p:nvPr/>
        </p:nvSpPr>
        <p:spPr>
          <a:xfrm>
            <a:off x="3465576" y="3063240"/>
            <a:ext cx="2377440" cy="201168"/>
          </a:xfrm>
          <a:prstGeom prst="rect">
            <a:avLst/>
          </a:prstGeom>
          <a:noFill/>
          <a:ln/>
        </p:spPr>
        <p:txBody>
          <a:bodyPr wrap="square" lIns="0" tIns="0" rIns="0" bIns="0" rtlCol="0" anchor="ctr"/>
          <a:lstStyle/>
          <a:p>
            <a:pPr indent="0" marL="0">
              <a:buNone/>
            </a:pPr>
            <a:r>
              <a:rPr lang="en-US" sz="900" dirty="0">
                <a:solidFill>
                  <a:srgbClr val="00B4D8"/>
                </a:solidFill>
                <a:latin typeface="Calibri" pitchFamily="34" charset="0"/>
                <a:ea typeface="Calibri" pitchFamily="34" charset="-122"/>
                <a:cs typeface="Calibri" pitchFamily="34" charset="-120"/>
              </a:rPr>
              <a:t>Est. 2–3d</a:t>
            </a:r>
            <a:endParaRPr lang="en-US" sz="900" dirty="0"/>
          </a:p>
        </p:txBody>
      </p:sp>
      <p:sp>
        <p:nvSpPr>
          <p:cNvPr id="30" name="Shape 28"/>
          <p:cNvSpPr/>
          <p:nvPr/>
        </p:nvSpPr>
        <p:spPr>
          <a:xfrm>
            <a:off x="6254496" y="2240280"/>
            <a:ext cx="2697480" cy="1115568"/>
          </a:xfrm>
          <a:prstGeom prst="rect">
            <a:avLst/>
          </a:prstGeom>
          <a:solidFill>
            <a:srgbClr val="112240"/>
          </a:solidFill>
          <a:ln w="10160">
            <a:solidFill>
              <a:srgbClr val="00B4D8"/>
            </a:solidFill>
            <a:prstDash val="solid"/>
          </a:ln>
        </p:spPr>
      </p:sp>
      <p:sp>
        <p:nvSpPr>
          <p:cNvPr id="31" name="Shape 29"/>
          <p:cNvSpPr/>
          <p:nvPr/>
        </p:nvSpPr>
        <p:spPr>
          <a:xfrm>
            <a:off x="6254496" y="2240280"/>
            <a:ext cx="347472" cy="347472"/>
          </a:xfrm>
          <a:prstGeom prst="rect">
            <a:avLst/>
          </a:prstGeom>
          <a:solidFill>
            <a:srgbClr val="00B4D8"/>
          </a:solidFill>
          <a:ln w="12700">
            <a:solidFill>
              <a:srgbClr val="00B4D8"/>
            </a:solidFill>
            <a:prstDash val="solid"/>
          </a:ln>
        </p:spPr>
      </p:sp>
      <p:sp>
        <p:nvSpPr>
          <p:cNvPr id="32" name="Text 30"/>
          <p:cNvSpPr/>
          <p:nvPr/>
        </p:nvSpPr>
        <p:spPr>
          <a:xfrm>
            <a:off x="6254496" y="2240280"/>
            <a:ext cx="347472" cy="347472"/>
          </a:xfrm>
          <a:prstGeom prst="rect">
            <a:avLst/>
          </a:prstGeom>
          <a:noFill/>
          <a:ln/>
        </p:spPr>
        <p:txBody>
          <a:bodyPr wrap="square" lIns="0" tIns="0" rIns="0" bIns="0" rtlCol="0" anchor="ctr"/>
          <a:lstStyle/>
          <a:p>
            <a:pPr algn="ctr" indent="0" marL="0">
              <a:buNone/>
            </a:pPr>
            <a:r>
              <a:rPr lang="en-US" sz="1300" b="1" dirty="0">
                <a:solidFill>
                  <a:srgbClr val="0A1628"/>
                </a:solidFill>
                <a:latin typeface="Calibri" pitchFamily="34" charset="0"/>
                <a:ea typeface="Calibri" pitchFamily="34" charset="-122"/>
                <a:cs typeface="Calibri" pitchFamily="34" charset="-120"/>
              </a:rPr>
              <a:t>6</a:t>
            </a:r>
            <a:endParaRPr lang="en-US" sz="1300" dirty="0"/>
          </a:p>
        </p:txBody>
      </p:sp>
      <p:sp>
        <p:nvSpPr>
          <p:cNvPr id="33" name="Text 31"/>
          <p:cNvSpPr/>
          <p:nvPr/>
        </p:nvSpPr>
        <p:spPr>
          <a:xfrm>
            <a:off x="6675120" y="2295144"/>
            <a:ext cx="2212848" cy="45720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React FinOps Dashboard</a:t>
            </a:r>
            <a:endParaRPr lang="en-US" sz="1000" dirty="0"/>
          </a:p>
        </p:txBody>
      </p:sp>
      <p:sp>
        <p:nvSpPr>
          <p:cNvPr id="34" name="Text 32"/>
          <p:cNvSpPr/>
          <p:nvPr/>
        </p:nvSpPr>
        <p:spPr>
          <a:xfrm>
            <a:off x="6364224" y="3063240"/>
            <a:ext cx="2377440" cy="201168"/>
          </a:xfrm>
          <a:prstGeom prst="rect">
            <a:avLst/>
          </a:prstGeom>
          <a:noFill/>
          <a:ln/>
        </p:spPr>
        <p:txBody>
          <a:bodyPr wrap="square" lIns="0" tIns="0" rIns="0" bIns="0" rtlCol="0" anchor="ctr"/>
          <a:lstStyle/>
          <a:p>
            <a:pPr indent="0" marL="0">
              <a:buNone/>
            </a:pPr>
            <a:r>
              <a:rPr lang="en-US" sz="900" dirty="0">
                <a:solidFill>
                  <a:srgbClr val="00B4D8"/>
                </a:solidFill>
                <a:latin typeface="Calibri" pitchFamily="34" charset="0"/>
                <a:ea typeface="Calibri" pitchFamily="34" charset="-122"/>
                <a:cs typeface="Calibri" pitchFamily="34" charset="-120"/>
              </a:rPr>
              <a:t>Est. 1d</a:t>
            </a:r>
            <a:endParaRPr lang="en-US" sz="900" dirty="0"/>
          </a:p>
        </p:txBody>
      </p:sp>
      <p:sp>
        <p:nvSpPr>
          <p:cNvPr id="35" name="Shape 33"/>
          <p:cNvSpPr/>
          <p:nvPr/>
        </p:nvSpPr>
        <p:spPr>
          <a:xfrm>
            <a:off x="457200" y="3520440"/>
            <a:ext cx="2697480" cy="1115568"/>
          </a:xfrm>
          <a:prstGeom prst="rect">
            <a:avLst/>
          </a:prstGeom>
          <a:solidFill>
            <a:srgbClr val="1A1060"/>
          </a:solidFill>
          <a:ln w="10160">
            <a:solidFill>
              <a:srgbClr val="7C3AED"/>
            </a:solidFill>
            <a:prstDash val="solid"/>
          </a:ln>
        </p:spPr>
      </p:sp>
      <p:sp>
        <p:nvSpPr>
          <p:cNvPr id="36" name="Shape 34"/>
          <p:cNvSpPr/>
          <p:nvPr/>
        </p:nvSpPr>
        <p:spPr>
          <a:xfrm>
            <a:off x="457200" y="3520440"/>
            <a:ext cx="347472" cy="347472"/>
          </a:xfrm>
          <a:prstGeom prst="rect">
            <a:avLst/>
          </a:prstGeom>
          <a:solidFill>
            <a:srgbClr val="7C3AED"/>
          </a:solidFill>
          <a:ln w="12700">
            <a:solidFill>
              <a:srgbClr val="7C3AED"/>
            </a:solidFill>
            <a:prstDash val="solid"/>
          </a:ln>
        </p:spPr>
      </p:sp>
      <p:sp>
        <p:nvSpPr>
          <p:cNvPr id="37" name="Text 35"/>
          <p:cNvSpPr/>
          <p:nvPr/>
        </p:nvSpPr>
        <p:spPr>
          <a:xfrm>
            <a:off x="457200" y="3520440"/>
            <a:ext cx="347472" cy="347472"/>
          </a:xfrm>
          <a:prstGeom prst="rect">
            <a:avLst/>
          </a:prstGeom>
          <a:noFill/>
          <a:ln/>
        </p:spPr>
        <p:txBody>
          <a:bodyPr wrap="square" lIns="0" tIns="0" rIns="0" bIns="0" rtlCol="0" anchor="ctr"/>
          <a:lstStyle/>
          <a:p>
            <a:pPr algn="ctr" indent="0" marL="0">
              <a:buNone/>
            </a:pPr>
            <a:r>
              <a:rPr lang="en-US" sz="1300" b="1" dirty="0">
                <a:solidFill>
                  <a:srgbClr val="0A1628"/>
                </a:solidFill>
                <a:latin typeface="Calibri" pitchFamily="34" charset="0"/>
                <a:ea typeface="Calibri" pitchFamily="34" charset="-122"/>
                <a:cs typeface="Calibri" pitchFamily="34" charset="-120"/>
              </a:rPr>
              <a:t>7</a:t>
            </a:r>
            <a:endParaRPr lang="en-US" sz="1300" dirty="0"/>
          </a:p>
        </p:txBody>
      </p:sp>
      <p:sp>
        <p:nvSpPr>
          <p:cNvPr id="38" name="Text 36"/>
          <p:cNvSpPr/>
          <p:nvPr/>
        </p:nvSpPr>
        <p:spPr>
          <a:xfrm>
            <a:off x="877824" y="3575304"/>
            <a:ext cx="2212848" cy="45720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Agent Trap Hardening</a:t>
            </a:r>
            <a:endParaRPr lang="en-US" sz="1000" dirty="0"/>
          </a:p>
        </p:txBody>
      </p:sp>
      <p:sp>
        <p:nvSpPr>
          <p:cNvPr id="39" name="Text 37"/>
          <p:cNvSpPr/>
          <p:nvPr/>
        </p:nvSpPr>
        <p:spPr>
          <a:xfrm>
            <a:off x="566928" y="4343400"/>
            <a:ext cx="2377440" cy="201168"/>
          </a:xfrm>
          <a:prstGeom prst="rect">
            <a:avLst/>
          </a:prstGeom>
          <a:noFill/>
          <a:ln/>
        </p:spPr>
        <p:txBody>
          <a:bodyPr wrap="square" lIns="0" tIns="0" rIns="0" bIns="0" rtlCol="0" anchor="ctr"/>
          <a:lstStyle/>
          <a:p>
            <a:pPr indent="0" marL="0">
              <a:buNone/>
            </a:pPr>
            <a:r>
              <a:rPr lang="en-US" sz="900" dirty="0">
                <a:solidFill>
                  <a:srgbClr val="7C3AED"/>
                </a:solidFill>
                <a:latin typeface="Calibri" pitchFamily="34" charset="0"/>
                <a:ea typeface="Calibri" pitchFamily="34" charset="-122"/>
                <a:cs typeface="Calibri" pitchFamily="34" charset="-120"/>
              </a:rPr>
              <a:t>Est. 4–6d</a:t>
            </a:r>
            <a:endParaRPr lang="en-US" sz="900" dirty="0"/>
          </a:p>
        </p:txBody>
      </p:sp>
      <p:sp>
        <p:nvSpPr>
          <p:cNvPr id="40" name="Shape 38"/>
          <p:cNvSpPr/>
          <p:nvPr/>
        </p:nvSpPr>
        <p:spPr>
          <a:xfrm>
            <a:off x="3355848" y="3520440"/>
            <a:ext cx="2697480" cy="1115568"/>
          </a:xfrm>
          <a:prstGeom prst="rect">
            <a:avLst/>
          </a:prstGeom>
          <a:solidFill>
            <a:srgbClr val="1A1060"/>
          </a:solidFill>
          <a:ln w="10160">
            <a:solidFill>
              <a:srgbClr val="7C3AED"/>
            </a:solidFill>
            <a:prstDash val="solid"/>
          </a:ln>
        </p:spPr>
      </p:sp>
      <p:sp>
        <p:nvSpPr>
          <p:cNvPr id="41" name="Shape 39"/>
          <p:cNvSpPr/>
          <p:nvPr/>
        </p:nvSpPr>
        <p:spPr>
          <a:xfrm>
            <a:off x="3355848" y="3520440"/>
            <a:ext cx="347472" cy="347472"/>
          </a:xfrm>
          <a:prstGeom prst="rect">
            <a:avLst/>
          </a:prstGeom>
          <a:solidFill>
            <a:srgbClr val="7C3AED"/>
          </a:solidFill>
          <a:ln w="12700">
            <a:solidFill>
              <a:srgbClr val="7C3AED"/>
            </a:solidFill>
            <a:prstDash val="solid"/>
          </a:ln>
        </p:spPr>
      </p:sp>
      <p:sp>
        <p:nvSpPr>
          <p:cNvPr id="42" name="Text 40"/>
          <p:cNvSpPr/>
          <p:nvPr/>
        </p:nvSpPr>
        <p:spPr>
          <a:xfrm>
            <a:off x="3355848" y="3520440"/>
            <a:ext cx="347472" cy="347472"/>
          </a:xfrm>
          <a:prstGeom prst="rect">
            <a:avLst/>
          </a:prstGeom>
          <a:noFill/>
          <a:ln/>
        </p:spPr>
        <p:txBody>
          <a:bodyPr wrap="square" lIns="0" tIns="0" rIns="0" bIns="0" rtlCol="0" anchor="ctr"/>
          <a:lstStyle/>
          <a:p>
            <a:pPr algn="ctr" indent="0" marL="0">
              <a:buNone/>
            </a:pPr>
            <a:r>
              <a:rPr lang="en-US" sz="1300" b="1" dirty="0">
                <a:solidFill>
                  <a:srgbClr val="0A1628"/>
                </a:solidFill>
                <a:latin typeface="Calibri" pitchFamily="34" charset="0"/>
                <a:ea typeface="Calibri" pitchFamily="34" charset="-122"/>
                <a:cs typeface="Calibri" pitchFamily="34" charset="-120"/>
              </a:rPr>
              <a:t>8</a:t>
            </a:r>
            <a:endParaRPr lang="en-US" sz="1300" dirty="0"/>
          </a:p>
        </p:txBody>
      </p:sp>
      <p:sp>
        <p:nvSpPr>
          <p:cNvPr id="43" name="Text 41"/>
          <p:cNvSpPr/>
          <p:nvPr/>
        </p:nvSpPr>
        <p:spPr>
          <a:xfrm>
            <a:off x="3776472" y="3575304"/>
            <a:ext cx="2212848" cy="45720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Managed Agent Architecture</a:t>
            </a:r>
            <a:endParaRPr lang="en-US" sz="1000" dirty="0"/>
          </a:p>
        </p:txBody>
      </p:sp>
      <p:sp>
        <p:nvSpPr>
          <p:cNvPr id="44" name="Text 42"/>
          <p:cNvSpPr/>
          <p:nvPr/>
        </p:nvSpPr>
        <p:spPr>
          <a:xfrm>
            <a:off x="3465576" y="4343400"/>
            <a:ext cx="2377440" cy="201168"/>
          </a:xfrm>
          <a:prstGeom prst="rect">
            <a:avLst/>
          </a:prstGeom>
          <a:noFill/>
          <a:ln/>
        </p:spPr>
        <p:txBody>
          <a:bodyPr wrap="square" lIns="0" tIns="0" rIns="0" bIns="0" rtlCol="0" anchor="ctr"/>
          <a:lstStyle/>
          <a:p>
            <a:pPr indent="0" marL="0">
              <a:buNone/>
            </a:pPr>
            <a:r>
              <a:rPr lang="en-US" sz="900" dirty="0">
                <a:solidFill>
                  <a:srgbClr val="7C3AED"/>
                </a:solidFill>
                <a:latin typeface="Calibri" pitchFamily="34" charset="0"/>
                <a:ea typeface="Calibri" pitchFamily="34" charset="-122"/>
                <a:cs typeface="Calibri" pitchFamily="34" charset="-120"/>
              </a:rPr>
              <a:t>Est. 5–7d</a:t>
            </a:r>
            <a:endParaRPr lang="en-US" sz="900" dirty="0"/>
          </a:p>
        </p:txBody>
      </p:sp>
      <p:sp>
        <p:nvSpPr>
          <p:cNvPr id="45" name="Shape 43"/>
          <p:cNvSpPr/>
          <p:nvPr/>
        </p:nvSpPr>
        <p:spPr>
          <a:xfrm>
            <a:off x="6254496" y="3520440"/>
            <a:ext cx="2697480" cy="1115568"/>
          </a:xfrm>
          <a:prstGeom prst="rect">
            <a:avLst/>
          </a:prstGeom>
          <a:solidFill>
            <a:srgbClr val="1A1060"/>
          </a:solidFill>
          <a:ln w="10160">
            <a:solidFill>
              <a:srgbClr val="7C3AED"/>
            </a:solidFill>
            <a:prstDash val="solid"/>
          </a:ln>
        </p:spPr>
      </p:sp>
      <p:sp>
        <p:nvSpPr>
          <p:cNvPr id="46" name="Shape 44"/>
          <p:cNvSpPr/>
          <p:nvPr/>
        </p:nvSpPr>
        <p:spPr>
          <a:xfrm>
            <a:off x="6254496" y="3520440"/>
            <a:ext cx="347472" cy="347472"/>
          </a:xfrm>
          <a:prstGeom prst="rect">
            <a:avLst/>
          </a:prstGeom>
          <a:solidFill>
            <a:srgbClr val="7C3AED"/>
          </a:solidFill>
          <a:ln w="12700">
            <a:solidFill>
              <a:srgbClr val="7C3AED"/>
            </a:solidFill>
            <a:prstDash val="solid"/>
          </a:ln>
        </p:spPr>
      </p:sp>
      <p:sp>
        <p:nvSpPr>
          <p:cNvPr id="47" name="Text 45"/>
          <p:cNvSpPr/>
          <p:nvPr/>
        </p:nvSpPr>
        <p:spPr>
          <a:xfrm>
            <a:off x="6254496" y="3520440"/>
            <a:ext cx="347472" cy="347472"/>
          </a:xfrm>
          <a:prstGeom prst="rect">
            <a:avLst/>
          </a:prstGeom>
          <a:noFill/>
          <a:ln/>
        </p:spPr>
        <p:txBody>
          <a:bodyPr wrap="square" lIns="0" tIns="0" rIns="0" bIns="0" rtlCol="0" anchor="ctr"/>
          <a:lstStyle/>
          <a:p>
            <a:pPr algn="ctr" indent="0" marL="0">
              <a:buNone/>
            </a:pPr>
            <a:r>
              <a:rPr lang="en-US" sz="1300" b="1" dirty="0">
                <a:solidFill>
                  <a:srgbClr val="0A1628"/>
                </a:solidFill>
                <a:latin typeface="Calibri" pitchFamily="34" charset="0"/>
                <a:ea typeface="Calibri" pitchFamily="34" charset="-122"/>
                <a:cs typeface="Calibri" pitchFamily="34" charset="-120"/>
              </a:rPr>
              <a:t>9</a:t>
            </a:r>
            <a:endParaRPr lang="en-US" sz="1300" dirty="0"/>
          </a:p>
        </p:txBody>
      </p:sp>
      <p:sp>
        <p:nvSpPr>
          <p:cNvPr id="48" name="Text 46"/>
          <p:cNvSpPr/>
          <p:nvPr/>
        </p:nvSpPr>
        <p:spPr>
          <a:xfrm>
            <a:off x="6675120" y="3575304"/>
            <a:ext cx="2212848" cy="45720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Business Outcome FinOps</a:t>
            </a:r>
            <a:endParaRPr lang="en-US" sz="1000" dirty="0"/>
          </a:p>
        </p:txBody>
      </p:sp>
      <p:sp>
        <p:nvSpPr>
          <p:cNvPr id="49" name="Text 47"/>
          <p:cNvSpPr/>
          <p:nvPr/>
        </p:nvSpPr>
        <p:spPr>
          <a:xfrm>
            <a:off x="6364224" y="4343400"/>
            <a:ext cx="2377440" cy="201168"/>
          </a:xfrm>
          <a:prstGeom prst="rect">
            <a:avLst/>
          </a:prstGeom>
          <a:noFill/>
          <a:ln/>
        </p:spPr>
        <p:txBody>
          <a:bodyPr wrap="square" lIns="0" tIns="0" rIns="0" bIns="0" rtlCol="0" anchor="ctr"/>
          <a:lstStyle/>
          <a:p>
            <a:pPr indent="0" marL="0">
              <a:buNone/>
            </a:pPr>
            <a:r>
              <a:rPr lang="en-US" sz="900" dirty="0">
                <a:solidFill>
                  <a:srgbClr val="7C3AED"/>
                </a:solidFill>
                <a:latin typeface="Calibri" pitchFamily="34" charset="0"/>
                <a:ea typeface="Calibri" pitchFamily="34" charset="-122"/>
                <a:cs typeface="Calibri" pitchFamily="34" charset="-120"/>
              </a:rPr>
              <a:t>Est. 3–4d</a:t>
            </a:r>
            <a:endParaRPr lang="en-US" sz="900" dirty="0"/>
          </a:p>
        </p:txBody>
      </p:sp>
      <p:sp>
        <p:nvSpPr>
          <p:cNvPr id="50" name="Shape 48"/>
          <p:cNvSpPr/>
          <p:nvPr/>
        </p:nvSpPr>
        <p:spPr>
          <a:xfrm>
            <a:off x="457200" y="4681728"/>
            <a:ext cx="164592" cy="164592"/>
          </a:xfrm>
          <a:prstGeom prst="rect">
            <a:avLst/>
          </a:prstGeom>
          <a:solidFill>
            <a:srgbClr val="00B4D8"/>
          </a:solidFill>
          <a:ln w="12700">
            <a:solidFill>
              <a:srgbClr val="00B4D8"/>
            </a:solidFill>
            <a:prstDash val="solid"/>
          </a:ln>
        </p:spPr>
      </p:sp>
      <p:sp>
        <p:nvSpPr>
          <p:cNvPr id="51" name="Text 49"/>
          <p:cNvSpPr/>
          <p:nvPr/>
        </p:nvSpPr>
        <p:spPr>
          <a:xfrm>
            <a:off x="694944" y="4663440"/>
            <a:ext cx="4114800" cy="201168"/>
          </a:xfrm>
          <a:prstGeom prst="rect">
            <a:avLst/>
          </a:prstGeom>
          <a:noFill/>
          <a:ln/>
        </p:spPr>
        <p:txBody>
          <a:bodyPr wrap="square" lIns="0" tIns="0" rIns="0" bIns="0" rtlCol="0" anchor="ctr"/>
          <a:lstStyle/>
          <a:p>
            <a:pPr indent="0" marL="0">
              <a:buNone/>
            </a:pPr>
            <a:r>
              <a:rPr lang="en-US" sz="900" dirty="0">
                <a:solidFill>
                  <a:srgbClr val="90E0EF"/>
                </a:solidFill>
                <a:latin typeface="Calibri" pitchFamily="34" charset="0"/>
                <a:ea typeface="Calibri" pitchFamily="34" charset="-122"/>
                <a:cs typeface="Calibri" pitchFamily="34" charset="-120"/>
              </a:rPr>
              <a:t>Core Platform (Phases 1–6)  —  13 engineering days</a:t>
            </a:r>
            <a:endParaRPr lang="en-US" sz="900" dirty="0"/>
          </a:p>
        </p:txBody>
      </p:sp>
      <p:sp>
        <p:nvSpPr>
          <p:cNvPr id="52" name="Shape 50"/>
          <p:cNvSpPr/>
          <p:nvPr/>
        </p:nvSpPr>
        <p:spPr>
          <a:xfrm>
            <a:off x="5029200" y="4681728"/>
            <a:ext cx="164592" cy="164592"/>
          </a:xfrm>
          <a:prstGeom prst="rect">
            <a:avLst/>
          </a:prstGeom>
          <a:solidFill>
            <a:srgbClr val="7C3AED"/>
          </a:solidFill>
          <a:ln w="12700">
            <a:solidFill>
              <a:srgbClr val="7C3AED"/>
            </a:solidFill>
            <a:prstDash val="solid"/>
          </a:ln>
        </p:spPr>
      </p:sp>
      <p:sp>
        <p:nvSpPr>
          <p:cNvPr id="53" name="Text 51"/>
          <p:cNvSpPr/>
          <p:nvPr/>
        </p:nvSpPr>
        <p:spPr>
          <a:xfrm>
            <a:off x="5266944" y="4663440"/>
            <a:ext cx="3657600" cy="201168"/>
          </a:xfrm>
          <a:prstGeom prst="rect">
            <a:avLst/>
          </a:prstGeom>
          <a:noFill/>
          <a:ln/>
        </p:spPr>
        <p:txBody>
          <a:bodyPr wrap="square" lIns="0" tIns="0" rIns="0" bIns="0" rtlCol="0" anchor="ctr"/>
          <a:lstStyle/>
          <a:p>
            <a:pPr indent="0" marL="0">
              <a:buNone/>
            </a:pPr>
            <a:r>
              <a:rPr lang="en-US" sz="900" dirty="0">
                <a:solidFill>
                  <a:srgbClr val="90E0EF"/>
                </a:solidFill>
                <a:latin typeface="Calibri" pitchFamily="34" charset="0"/>
                <a:ea typeface="Calibri" pitchFamily="34" charset="-122"/>
                <a:cs typeface="Calibri" pitchFamily="34" charset="-120"/>
              </a:rPr>
              <a:t>Advanced Phases (7–9)  —  12–17 additional days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457200" y="137160"/>
            <a:ext cx="2011680" cy="256032"/>
          </a:xfrm>
          <a:prstGeom prst="roundRect">
            <a:avLst>
              <a:gd name="adj" fmla="val 17857"/>
            </a:avLst>
          </a:prstGeom>
          <a:solidFill>
            <a:srgbClr val="00B4D8"/>
          </a:solidFill>
          <a:ln w="12700">
            <a:solidFill>
              <a:srgbClr val="00B4D8"/>
            </a:solidFill>
            <a:prstDash val="solid"/>
          </a:ln>
        </p:spPr>
      </p:sp>
      <p:sp>
        <p:nvSpPr>
          <p:cNvPr id="3" name="Text 1"/>
          <p:cNvSpPr/>
          <p:nvPr/>
        </p:nvSpPr>
        <p:spPr>
          <a:xfrm>
            <a:off x="457200" y="137160"/>
            <a:ext cx="2011680" cy="256032"/>
          </a:xfrm>
          <a:prstGeom prst="rect">
            <a:avLst/>
          </a:prstGeom>
          <a:noFill/>
          <a:ln/>
        </p:spPr>
        <p:txBody>
          <a:bodyPr wrap="square" lIns="0" tIns="0" rIns="0" bIns="0" rtlCol="0" anchor="ctr"/>
          <a:lstStyle/>
          <a:p>
            <a:pPr algn="ctr" indent="0" marL="0">
              <a:buNone/>
            </a:pPr>
            <a:r>
              <a:rPr lang="en-US" sz="800" b="1" dirty="0">
                <a:solidFill>
                  <a:srgbClr val="0A1628"/>
                </a:solidFill>
                <a:latin typeface="Calibri" pitchFamily="34" charset="0"/>
                <a:ea typeface="Calibri" pitchFamily="34" charset="-122"/>
                <a:cs typeface="Calibri" pitchFamily="34" charset="-120"/>
              </a:rPr>
              <a:t>FINOPS MATURITY</a:t>
            </a:r>
            <a:endParaRPr lang="en-US" sz="800" dirty="0"/>
          </a:p>
        </p:txBody>
      </p:sp>
      <p:sp>
        <p:nvSpPr>
          <p:cNvPr id="4" name="Text 2"/>
          <p:cNvSpPr/>
          <p:nvPr/>
        </p:nvSpPr>
        <p:spPr>
          <a:xfrm>
            <a:off x="457200" y="502920"/>
            <a:ext cx="8229600" cy="457200"/>
          </a:xfrm>
          <a:prstGeom prst="rect">
            <a:avLst/>
          </a:prstGeom>
          <a:noFill/>
          <a:ln/>
        </p:spPr>
        <p:txBody>
          <a:bodyPr wrap="square" lIns="0" tIns="0" rIns="0" bIns="0" rtlCol="0" anchor="ctr"/>
          <a:lstStyle/>
          <a:p>
            <a:pPr indent="0" marL="0">
              <a:buNone/>
            </a:pPr>
            <a:r>
              <a:rPr lang="en-US" sz="2200" b="1" dirty="0">
                <a:solidFill>
                  <a:srgbClr val="0A1628"/>
                </a:solidFill>
                <a:latin typeface="Calibri" pitchFamily="34" charset="0"/>
                <a:ea typeface="Calibri" pitchFamily="34" charset="-122"/>
                <a:cs typeface="Calibri" pitchFamily="34" charset="-120"/>
              </a:rPr>
              <a:t>FinOps Maturity Levels — What ARIA Achieves</a:t>
            </a:r>
            <a:endParaRPr lang="en-US" sz="2200" dirty="0"/>
          </a:p>
        </p:txBody>
      </p:sp>
      <p:sp>
        <p:nvSpPr>
          <p:cNvPr id="5" name="Shape 3"/>
          <p:cNvSpPr/>
          <p:nvPr/>
        </p:nvSpPr>
        <p:spPr>
          <a:xfrm>
            <a:off x="457200" y="960120"/>
            <a:ext cx="2697480" cy="3246120"/>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2000"/>
              </a:srgbClr>
            </a:outerShdw>
          </a:effectLst>
        </p:spPr>
      </p:sp>
      <p:sp>
        <p:nvSpPr>
          <p:cNvPr id="6" name="Shape 4"/>
          <p:cNvSpPr/>
          <p:nvPr/>
        </p:nvSpPr>
        <p:spPr>
          <a:xfrm>
            <a:off x="457200" y="960120"/>
            <a:ext cx="2697480" cy="566928"/>
          </a:xfrm>
          <a:prstGeom prst="rect">
            <a:avLst/>
          </a:prstGeom>
          <a:solidFill>
            <a:srgbClr val="38A169"/>
          </a:solidFill>
          <a:ln w="12700">
            <a:solidFill>
              <a:srgbClr val="38A169"/>
            </a:solidFill>
            <a:prstDash val="solid"/>
          </a:ln>
        </p:spPr>
      </p:sp>
      <p:sp>
        <p:nvSpPr>
          <p:cNvPr id="7" name="Text 5"/>
          <p:cNvSpPr/>
          <p:nvPr/>
        </p:nvSpPr>
        <p:spPr>
          <a:xfrm>
            <a:off x="457200" y="960120"/>
            <a:ext cx="640080"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L1</a:t>
            </a:r>
            <a:endParaRPr lang="en-US" sz="2200" dirty="0"/>
          </a:p>
        </p:txBody>
      </p:sp>
      <p:sp>
        <p:nvSpPr>
          <p:cNvPr id="8" name="Text 6"/>
          <p:cNvSpPr/>
          <p:nvPr/>
        </p:nvSpPr>
        <p:spPr>
          <a:xfrm>
            <a:off x="1097280" y="1033272"/>
            <a:ext cx="192024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INFORM</a:t>
            </a:r>
            <a:endParaRPr lang="en-US" sz="1300" dirty="0"/>
          </a:p>
        </p:txBody>
      </p:sp>
      <p:sp>
        <p:nvSpPr>
          <p:cNvPr id="9" name="Text 7"/>
          <p:cNvSpPr/>
          <p:nvPr/>
        </p:nvSpPr>
        <p:spPr>
          <a:xfrm>
            <a:off x="1097280" y="1261872"/>
            <a:ext cx="1920240" cy="182880"/>
          </a:xfrm>
          <a:prstGeom prst="rect">
            <a:avLst/>
          </a:prstGeom>
          <a:noFill/>
          <a:ln/>
        </p:spPr>
        <p:txBody>
          <a:bodyPr wrap="square" lIns="0" tIns="0" rIns="0" bIns="0" rtlCol="0" anchor="ctr"/>
          <a:lstStyle/>
          <a:p>
            <a:pPr indent="0" marL="0">
              <a:buNone/>
            </a:pPr>
            <a:r>
              <a:rPr lang="en-US" sz="850" i="1" dirty="0">
                <a:solidFill>
                  <a:srgbClr val="FFFFFF"/>
                </a:solidFill>
                <a:latin typeface="Calibri" pitchFamily="34" charset="0"/>
                <a:ea typeface="Calibri" pitchFamily="34" charset="-122"/>
                <a:cs typeface="Calibri" pitchFamily="34" charset="-120"/>
              </a:rPr>
              <a:t>Phases 1–4</a:t>
            </a:r>
            <a:endParaRPr lang="en-US" sz="850" dirty="0"/>
          </a:p>
        </p:txBody>
      </p:sp>
      <p:sp>
        <p:nvSpPr>
          <p:cNvPr id="10" name="Text 8"/>
          <p:cNvSpPr/>
          <p:nvPr/>
        </p:nvSpPr>
        <p:spPr>
          <a:xfrm>
            <a:off x="594360" y="1627632"/>
            <a:ext cx="2423160" cy="384048"/>
          </a:xfrm>
          <a:prstGeom prst="rect">
            <a:avLst/>
          </a:prstGeom>
          <a:noFill/>
          <a:ln/>
        </p:spPr>
        <p:txBody>
          <a:bodyPr wrap="square" rtlCol="0" anchor="ctr"/>
          <a:lstStyle/>
          <a:p>
            <a:pPr marL="342900" indent="-342900">
              <a:buSzPct val="100000"/>
              <a:buChar char="•"/>
            </a:pPr>
            <a:r>
              <a:rPr lang="en-US" sz="1000" dirty="0">
                <a:solidFill>
                  <a:srgbClr val="4A5568"/>
                </a:solidFill>
                <a:latin typeface="Calibri" pitchFamily="34" charset="0"/>
                <a:ea typeface="Calibri" pitchFamily="34" charset="-122"/>
                <a:cs typeface="Calibri" pitchFamily="34" charset="-120"/>
              </a:rPr>
              <a:t>Token counts per segment (Phase 1)</a:t>
            </a:r>
            <a:endParaRPr lang="en-US" sz="1000" dirty="0"/>
          </a:p>
        </p:txBody>
      </p:sp>
      <p:sp>
        <p:nvSpPr>
          <p:cNvPr id="11" name="Text 9"/>
          <p:cNvSpPr/>
          <p:nvPr/>
        </p:nvSpPr>
        <p:spPr>
          <a:xfrm>
            <a:off x="594360" y="2057400"/>
            <a:ext cx="2423160" cy="384048"/>
          </a:xfrm>
          <a:prstGeom prst="rect">
            <a:avLst/>
          </a:prstGeom>
          <a:noFill/>
          <a:ln/>
        </p:spPr>
        <p:txBody>
          <a:bodyPr wrap="square" rtlCol="0" anchor="ctr"/>
          <a:lstStyle/>
          <a:p>
            <a:pPr marL="342900" indent="-342900">
              <a:buSzPct val="100000"/>
              <a:buChar char="•"/>
            </a:pPr>
            <a:r>
              <a:rPr lang="en-US" sz="1000" dirty="0">
                <a:solidFill>
                  <a:srgbClr val="4A5568"/>
                </a:solidFill>
                <a:latin typeface="Calibri" pitchFamily="34" charset="0"/>
                <a:ea typeface="Calibri" pitchFamily="34" charset="-122"/>
                <a:cs typeface="Calibri" pitchFamily="34" charset="-120"/>
              </a:rPr>
              <a:t>Exact cost per call via proxy (Phase 2)</a:t>
            </a:r>
            <a:endParaRPr lang="en-US" sz="1000" dirty="0"/>
          </a:p>
        </p:txBody>
      </p:sp>
      <p:sp>
        <p:nvSpPr>
          <p:cNvPr id="12" name="Text 10"/>
          <p:cNvSpPr/>
          <p:nvPr/>
        </p:nvSpPr>
        <p:spPr>
          <a:xfrm>
            <a:off x="594360" y="2487168"/>
            <a:ext cx="2423160" cy="384048"/>
          </a:xfrm>
          <a:prstGeom prst="rect">
            <a:avLst/>
          </a:prstGeom>
          <a:noFill/>
          <a:ln/>
        </p:spPr>
        <p:txBody>
          <a:bodyPr wrap="square" rtlCol="0" anchor="ctr"/>
          <a:lstStyle/>
          <a:p>
            <a:pPr marL="342900" indent="-342900">
              <a:buSzPct val="100000"/>
              <a:buChar char="•"/>
            </a:pPr>
            <a:r>
              <a:rPr lang="en-US" sz="1000" dirty="0">
                <a:solidFill>
                  <a:srgbClr val="4A5568"/>
                </a:solidFill>
                <a:latin typeface="Calibri" pitchFamily="34" charset="0"/>
                <a:ea typeface="Calibri" pitchFamily="34" charset="-122"/>
                <a:cs typeface="Calibri" pitchFamily="34" charset="-120"/>
              </a:rPr>
              <a:t>Full trajectory history (Phase 3)</a:t>
            </a:r>
            <a:endParaRPr lang="en-US" sz="1000" dirty="0"/>
          </a:p>
        </p:txBody>
      </p:sp>
      <p:sp>
        <p:nvSpPr>
          <p:cNvPr id="13" name="Text 11"/>
          <p:cNvSpPr/>
          <p:nvPr/>
        </p:nvSpPr>
        <p:spPr>
          <a:xfrm>
            <a:off x="594360" y="2916936"/>
            <a:ext cx="2423160" cy="384048"/>
          </a:xfrm>
          <a:prstGeom prst="rect">
            <a:avLst/>
          </a:prstGeom>
          <a:noFill/>
          <a:ln/>
        </p:spPr>
        <p:txBody>
          <a:bodyPr wrap="square" rtlCol="0" anchor="ctr"/>
          <a:lstStyle/>
          <a:p>
            <a:pPr marL="342900" indent="-342900">
              <a:buSzPct val="100000"/>
              <a:buChar char="•"/>
            </a:pPr>
            <a:r>
              <a:rPr lang="en-US" sz="1000" dirty="0">
                <a:solidFill>
                  <a:srgbClr val="4A5568"/>
                </a:solidFill>
                <a:latin typeface="Calibri" pitchFamily="34" charset="0"/>
                <a:ea typeface="Calibri" pitchFamily="34" charset="-122"/>
                <a:cs typeface="Calibri" pitchFamily="34" charset="-120"/>
              </a:rPr>
              <a:t>REST APIs for dashboard (Phase 4)</a:t>
            </a:r>
            <a:endParaRPr lang="en-US" sz="1000" dirty="0"/>
          </a:p>
        </p:txBody>
      </p:sp>
      <p:sp>
        <p:nvSpPr>
          <p:cNvPr id="14" name="Shape 12"/>
          <p:cNvSpPr/>
          <p:nvPr/>
        </p:nvSpPr>
        <p:spPr>
          <a:xfrm>
            <a:off x="3355848" y="960120"/>
            <a:ext cx="2697480" cy="3246120"/>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2000"/>
              </a:srgbClr>
            </a:outerShdw>
          </a:effectLst>
        </p:spPr>
      </p:sp>
      <p:sp>
        <p:nvSpPr>
          <p:cNvPr id="15" name="Shape 13"/>
          <p:cNvSpPr/>
          <p:nvPr/>
        </p:nvSpPr>
        <p:spPr>
          <a:xfrm>
            <a:off x="3355848" y="960120"/>
            <a:ext cx="2697480" cy="566928"/>
          </a:xfrm>
          <a:prstGeom prst="rect">
            <a:avLst/>
          </a:prstGeom>
          <a:solidFill>
            <a:srgbClr val="0077A8"/>
          </a:solidFill>
          <a:ln w="12700">
            <a:solidFill>
              <a:srgbClr val="0077A8"/>
            </a:solidFill>
            <a:prstDash val="solid"/>
          </a:ln>
        </p:spPr>
      </p:sp>
      <p:sp>
        <p:nvSpPr>
          <p:cNvPr id="16" name="Text 14"/>
          <p:cNvSpPr/>
          <p:nvPr/>
        </p:nvSpPr>
        <p:spPr>
          <a:xfrm>
            <a:off x="3355848" y="960120"/>
            <a:ext cx="640080"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L2</a:t>
            </a:r>
            <a:endParaRPr lang="en-US" sz="2200" dirty="0"/>
          </a:p>
        </p:txBody>
      </p:sp>
      <p:sp>
        <p:nvSpPr>
          <p:cNvPr id="17" name="Text 15"/>
          <p:cNvSpPr/>
          <p:nvPr/>
        </p:nvSpPr>
        <p:spPr>
          <a:xfrm>
            <a:off x="3995928" y="1033272"/>
            <a:ext cx="192024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OPTIMIZE</a:t>
            </a:r>
            <a:endParaRPr lang="en-US" sz="1300" dirty="0"/>
          </a:p>
        </p:txBody>
      </p:sp>
      <p:sp>
        <p:nvSpPr>
          <p:cNvPr id="18" name="Text 16"/>
          <p:cNvSpPr/>
          <p:nvPr/>
        </p:nvSpPr>
        <p:spPr>
          <a:xfrm>
            <a:off x="3995928" y="1261872"/>
            <a:ext cx="1920240" cy="182880"/>
          </a:xfrm>
          <a:prstGeom prst="rect">
            <a:avLst/>
          </a:prstGeom>
          <a:noFill/>
          <a:ln/>
        </p:spPr>
        <p:txBody>
          <a:bodyPr wrap="square" lIns="0" tIns="0" rIns="0" bIns="0" rtlCol="0" anchor="ctr"/>
          <a:lstStyle/>
          <a:p>
            <a:pPr indent="0" marL="0">
              <a:buNone/>
            </a:pPr>
            <a:r>
              <a:rPr lang="en-US" sz="850" i="1" dirty="0">
                <a:solidFill>
                  <a:srgbClr val="FFFFFF"/>
                </a:solidFill>
                <a:latin typeface="Calibri" pitchFamily="34" charset="0"/>
                <a:ea typeface="Calibri" pitchFamily="34" charset="-122"/>
                <a:cs typeface="Calibri" pitchFamily="34" charset="-120"/>
              </a:rPr>
              <a:t>Phase 4–5</a:t>
            </a:r>
            <a:endParaRPr lang="en-US" sz="850" dirty="0"/>
          </a:p>
        </p:txBody>
      </p:sp>
      <p:sp>
        <p:nvSpPr>
          <p:cNvPr id="19" name="Text 17"/>
          <p:cNvSpPr/>
          <p:nvPr/>
        </p:nvSpPr>
        <p:spPr>
          <a:xfrm>
            <a:off x="3493008" y="1627632"/>
            <a:ext cx="2423160" cy="384048"/>
          </a:xfrm>
          <a:prstGeom prst="rect">
            <a:avLst/>
          </a:prstGeom>
          <a:noFill/>
          <a:ln/>
        </p:spPr>
        <p:txBody>
          <a:bodyPr wrap="square" rtlCol="0" anchor="ctr"/>
          <a:lstStyle/>
          <a:p>
            <a:pPr marL="342900" indent="-342900">
              <a:buSzPct val="100000"/>
              <a:buChar char="•"/>
            </a:pPr>
            <a:r>
              <a:rPr lang="en-US" sz="1000" dirty="0">
                <a:solidFill>
                  <a:srgbClr val="4A5568"/>
                </a:solidFill>
                <a:latin typeface="Calibri" pitchFamily="34" charset="0"/>
                <a:ea typeface="Calibri" pitchFamily="34" charset="-122"/>
                <a:cs typeface="Calibri" pitchFamily="34" charset="-120"/>
              </a:rPr>
              <a:t>Budget forecasting &amp; alerts (Phase 4)</a:t>
            </a:r>
            <a:endParaRPr lang="en-US" sz="1000" dirty="0"/>
          </a:p>
        </p:txBody>
      </p:sp>
      <p:sp>
        <p:nvSpPr>
          <p:cNvPr id="20" name="Text 18"/>
          <p:cNvSpPr/>
          <p:nvPr/>
        </p:nvSpPr>
        <p:spPr>
          <a:xfrm>
            <a:off x="3493008" y="2057400"/>
            <a:ext cx="2423160" cy="384048"/>
          </a:xfrm>
          <a:prstGeom prst="rect">
            <a:avLst/>
          </a:prstGeom>
          <a:noFill/>
          <a:ln/>
        </p:spPr>
        <p:txBody>
          <a:bodyPr wrap="square" rtlCol="0" anchor="ctr"/>
          <a:lstStyle/>
          <a:p>
            <a:pPr marL="342900" indent="-342900">
              <a:buSzPct val="100000"/>
              <a:buChar char="•"/>
            </a:pPr>
            <a:r>
              <a:rPr lang="en-US" sz="1000" dirty="0">
                <a:solidFill>
                  <a:srgbClr val="4A5568"/>
                </a:solidFill>
                <a:latin typeface="Calibri" pitchFamily="34" charset="0"/>
                <a:ea typeface="Calibri" pitchFamily="34" charset="-122"/>
                <a:cs typeface="Calibri" pitchFamily="34" charset="-120"/>
              </a:rPr>
              <a:t>Cost by feature/user/model</a:t>
            </a:r>
            <a:endParaRPr lang="en-US" sz="1000" dirty="0"/>
          </a:p>
        </p:txBody>
      </p:sp>
      <p:sp>
        <p:nvSpPr>
          <p:cNvPr id="21" name="Text 19"/>
          <p:cNvSpPr/>
          <p:nvPr/>
        </p:nvSpPr>
        <p:spPr>
          <a:xfrm>
            <a:off x="3493008" y="2487168"/>
            <a:ext cx="2423160" cy="384048"/>
          </a:xfrm>
          <a:prstGeom prst="rect">
            <a:avLst/>
          </a:prstGeom>
          <a:noFill/>
          <a:ln/>
        </p:spPr>
        <p:txBody>
          <a:bodyPr wrap="square" rtlCol="0" anchor="ctr"/>
          <a:lstStyle/>
          <a:p>
            <a:pPr marL="342900" indent="-342900">
              <a:buSzPct val="100000"/>
              <a:buChar char="•"/>
            </a:pPr>
            <a:r>
              <a:rPr lang="en-US" sz="1000" dirty="0">
                <a:solidFill>
                  <a:srgbClr val="4A5568"/>
                </a:solidFill>
                <a:latin typeface="Calibri" pitchFamily="34" charset="0"/>
                <a:ea typeface="Calibri" pitchFamily="34" charset="-122"/>
                <a:cs typeface="Calibri" pitchFamily="34" charset="-120"/>
              </a:rPr>
              <a:t>AI Advisor recommendations</a:t>
            </a:r>
            <a:endParaRPr lang="en-US" sz="1000" dirty="0"/>
          </a:p>
        </p:txBody>
      </p:sp>
      <p:sp>
        <p:nvSpPr>
          <p:cNvPr id="22" name="Text 20"/>
          <p:cNvSpPr/>
          <p:nvPr/>
        </p:nvSpPr>
        <p:spPr>
          <a:xfrm>
            <a:off x="3493008" y="2916936"/>
            <a:ext cx="2423160" cy="384048"/>
          </a:xfrm>
          <a:prstGeom prst="rect">
            <a:avLst/>
          </a:prstGeom>
          <a:noFill/>
          <a:ln/>
        </p:spPr>
        <p:txBody>
          <a:bodyPr wrap="square" rtlCol="0" anchor="ctr"/>
          <a:lstStyle/>
          <a:p>
            <a:pPr marL="342900" indent="-342900">
              <a:buSzPct val="100000"/>
              <a:buChar char="•"/>
            </a:pPr>
            <a:r>
              <a:rPr lang="en-US" sz="1000" dirty="0">
                <a:solidFill>
                  <a:srgbClr val="4A5568"/>
                </a:solidFill>
                <a:latin typeface="Calibri" pitchFamily="34" charset="0"/>
                <a:ea typeface="Calibri" pitchFamily="34" charset="-122"/>
                <a:cs typeface="Calibri" pitchFamily="34" charset="-120"/>
              </a:rPr>
              <a:t>Trend analysis (30-day)</a:t>
            </a:r>
            <a:endParaRPr lang="en-US" sz="1000" dirty="0"/>
          </a:p>
        </p:txBody>
      </p:sp>
      <p:sp>
        <p:nvSpPr>
          <p:cNvPr id="23" name="Shape 21"/>
          <p:cNvSpPr/>
          <p:nvPr/>
        </p:nvSpPr>
        <p:spPr>
          <a:xfrm>
            <a:off x="6254496" y="960120"/>
            <a:ext cx="2697480" cy="3246120"/>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2000"/>
              </a:srgbClr>
            </a:outerShdw>
          </a:effectLst>
        </p:spPr>
      </p:sp>
      <p:sp>
        <p:nvSpPr>
          <p:cNvPr id="24" name="Shape 22"/>
          <p:cNvSpPr/>
          <p:nvPr/>
        </p:nvSpPr>
        <p:spPr>
          <a:xfrm>
            <a:off x="6254496" y="960120"/>
            <a:ext cx="2697480" cy="566928"/>
          </a:xfrm>
          <a:prstGeom prst="rect">
            <a:avLst/>
          </a:prstGeom>
          <a:solidFill>
            <a:srgbClr val="0A1628"/>
          </a:solidFill>
          <a:ln w="12700">
            <a:solidFill>
              <a:srgbClr val="0A1628"/>
            </a:solidFill>
            <a:prstDash val="solid"/>
          </a:ln>
        </p:spPr>
      </p:sp>
      <p:sp>
        <p:nvSpPr>
          <p:cNvPr id="25" name="Text 23"/>
          <p:cNvSpPr/>
          <p:nvPr/>
        </p:nvSpPr>
        <p:spPr>
          <a:xfrm>
            <a:off x="6254496" y="960120"/>
            <a:ext cx="640080"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L3</a:t>
            </a:r>
            <a:endParaRPr lang="en-US" sz="2200" dirty="0"/>
          </a:p>
        </p:txBody>
      </p:sp>
      <p:sp>
        <p:nvSpPr>
          <p:cNvPr id="26" name="Text 24"/>
          <p:cNvSpPr/>
          <p:nvPr/>
        </p:nvSpPr>
        <p:spPr>
          <a:xfrm>
            <a:off x="6894576" y="1033272"/>
            <a:ext cx="192024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OPERATE</a:t>
            </a:r>
            <a:endParaRPr lang="en-US" sz="1300" dirty="0"/>
          </a:p>
        </p:txBody>
      </p:sp>
      <p:sp>
        <p:nvSpPr>
          <p:cNvPr id="27" name="Text 25"/>
          <p:cNvSpPr/>
          <p:nvPr/>
        </p:nvSpPr>
        <p:spPr>
          <a:xfrm>
            <a:off x="6894576" y="1261872"/>
            <a:ext cx="1920240" cy="182880"/>
          </a:xfrm>
          <a:prstGeom prst="rect">
            <a:avLst/>
          </a:prstGeom>
          <a:noFill/>
          <a:ln/>
        </p:spPr>
        <p:txBody>
          <a:bodyPr wrap="square" lIns="0" tIns="0" rIns="0" bIns="0" rtlCol="0" anchor="ctr"/>
          <a:lstStyle/>
          <a:p>
            <a:pPr indent="0" marL="0">
              <a:buNone/>
            </a:pPr>
            <a:r>
              <a:rPr lang="en-US" sz="850" i="1" dirty="0">
                <a:solidFill>
                  <a:srgbClr val="FFFFFF"/>
                </a:solidFill>
                <a:latin typeface="Calibri" pitchFamily="34" charset="0"/>
                <a:ea typeface="Calibri" pitchFamily="34" charset="-122"/>
                <a:cs typeface="Calibri" pitchFamily="34" charset="-120"/>
              </a:rPr>
              <a:t>Phase 5</a:t>
            </a:r>
            <a:endParaRPr lang="en-US" sz="850" dirty="0"/>
          </a:p>
        </p:txBody>
      </p:sp>
      <p:sp>
        <p:nvSpPr>
          <p:cNvPr id="28" name="Text 26"/>
          <p:cNvSpPr/>
          <p:nvPr/>
        </p:nvSpPr>
        <p:spPr>
          <a:xfrm>
            <a:off x="6391656" y="1627632"/>
            <a:ext cx="2423160" cy="384048"/>
          </a:xfrm>
          <a:prstGeom prst="rect">
            <a:avLst/>
          </a:prstGeom>
          <a:noFill/>
          <a:ln/>
        </p:spPr>
        <p:txBody>
          <a:bodyPr wrap="square" rtlCol="0" anchor="ctr"/>
          <a:lstStyle/>
          <a:p>
            <a:pPr marL="342900" indent="-342900">
              <a:buSzPct val="100000"/>
              <a:buChar char="•"/>
            </a:pPr>
            <a:r>
              <a:rPr lang="en-US" sz="1000" dirty="0">
                <a:solidFill>
                  <a:srgbClr val="4A5568"/>
                </a:solidFill>
                <a:latin typeface="Calibri" pitchFamily="34" charset="0"/>
                <a:ea typeface="Calibri" pitchFamily="34" charset="-122"/>
                <a:cs typeface="Calibri" pitchFamily="34" charset="-120"/>
              </a:rPr>
              <a:t>Autonomous model routing</a:t>
            </a:r>
            <a:endParaRPr lang="en-US" sz="1000" dirty="0"/>
          </a:p>
        </p:txBody>
      </p:sp>
      <p:sp>
        <p:nvSpPr>
          <p:cNvPr id="29" name="Text 27"/>
          <p:cNvSpPr/>
          <p:nvPr/>
        </p:nvSpPr>
        <p:spPr>
          <a:xfrm>
            <a:off x="6391656" y="2057400"/>
            <a:ext cx="2423160" cy="384048"/>
          </a:xfrm>
          <a:prstGeom prst="rect">
            <a:avLst/>
          </a:prstGeom>
          <a:noFill/>
          <a:ln/>
        </p:spPr>
        <p:txBody>
          <a:bodyPr wrap="square" rtlCol="0" anchor="ctr"/>
          <a:lstStyle/>
          <a:p>
            <a:pPr marL="342900" indent="-342900">
              <a:buSzPct val="100000"/>
              <a:buChar char="•"/>
            </a:pPr>
            <a:r>
              <a:rPr lang="en-US" sz="1000" dirty="0">
                <a:solidFill>
                  <a:srgbClr val="4A5568"/>
                </a:solidFill>
                <a:latin typeface="Calibri" pitchFamily="34" charset="0"/>
                <a:ea typeface="Calibri" pitchFamily="34" charset="-122"/>
                <a:cs typeface="Calibri" pitchFamily="34" charset="-120"/>
              </a:rPr>
              <a:t>Prompt cache detection</a:t>
            </a:r>
            <a:endParaRPr lang="en-US" sz="1000" dirty="0"/>
          </a:p>
        </p:txBody>
      </p:sp>
      <p:sp>
        <p:nvSpPr>
          <p:cNvPr id="30" name="Text 28"/>
          <p:cNvSpPr/>
          <p:nvPr/>
        </p:nvSpPr>
        <p:spPr>
          <a:xfrm>
            <a:off x="6391656" y="2487168"/>
            <a:ext cx="2423160" cy="384048"/>
          </a:xfrm>
          <a:prstGeom prst="rect">
            <a:avLst/>
          </a:prstGeom>
          <a:noFill/>
          <a:ln/>
        </p:spPr>
        <p:txBody>
          <a:bodyPr wrap="square" rtlCol="0" anchor="ctr"/>
          <a:lstStyle/>
          <a:p>
            <a:pPr marL="342900" indent="-342900">
              <a:buSzPct val="100000"/>
              <a:buChar char="•"/>
            </a:pPr>
            <a:r>
              <a:rPr lang="en-US" sz="1000" dirty="0">
                <a:solidFill>
                  <a:srgbClr val="4A5568"/>
                </a:solidFill>
                <a:latin typeface="Calibri" pitchFamily="34" charset="0"/>
                <a:ea typeface="Calibri" pitchFamily="34" charset="-122"/>
                <a:cs typeface="Calibri" pitchFamily="34" charset="-120"/>
              </a:rPr>
              <a:t>Budget throttling (dept-level)</a:t>
            </a:r>
            <a:endParaRPr lang="en-US" sz="1000" dirty="0"/>
          </a:p>
        </p:txBody>
      </p:sp>
      <p:sp>
        <p:nvSpPr>
          <p:cNvPr id="31" name="Text 29"/>
          <p:cNvSpPr/>
          <p:nvPr/>
        </p:nvSpPr>
        <p:spPr>
          <a:xfrm>
            <a:off x="6391656" y="2916936"/>
            <a:ext cx="2423160" cy="384048"/>
          </a:xfrm>
          <a:prstGeom prst="rect">
            <a:avLst/>
          </a:prstGeom>
          <a:noFill/>
          <a:ln/>
        </p:spPr>
        <p:txBody>
          <a:bodyPr wrap="square" rtlCol="0" anchor="ctr"/>
          <a:lstStyle/>
          <a:p>
            <a:pPr marL="342900" indent="-342900">
              <a:buSzPct val="100000"/>
              <a:buChar char="•"/>
            </a:pPr>
            <a:r>
              <a:rPr lang="en-US" sz="1000" dirty="0">
                <a:solidFill>
                  <a:srgbClr val="4A5568"/>
                </a:solidFill>
                <a:latin typeface="Calibri" pitchFamily="34" charset="0"/>
                <a:ea typeface="Calibri" pitchFamily="34" charset="-122"/>
                <a:cs typeface="Calibri" pitchFamily="34" charset="-120"/>
              </a:rPr>
              <a:t>Batch deferral after-hours</a:t>
            </a:r>
            <a:endParaRPr lang="en-US" sz="1000" dirty="0"/>
          </a:p>
        </p:txBody>
      </p:sp>
      <p:sp>
        <p:nvSpPr>
          <p:cNvPr id="32" name="Shape 30"/>
          <p:cNvSpPr/>
          <p:nvPr/>
        </p:nvSpPr>
        <p:spPr>
          <a:xfrm>
            <a:off x="457200" y="4315968"/>
            <a:ext cx="8229600" cy="502920"/>
          </a:xfrm>
          <a:prstGeom prst="rect">
            <a:avLst/>
          </a:prstGeom>
          <a:solidFill>
            <a:srgbClr val="112240"/>
          </a:solidFill>
          <a:ln w="6350">
            <a:solidFill>
              <a:srgbClr val="0077A8"/>
            </a:solidFill>
            <a:prstDash val="solid"/>
          </a:ln>
        </p:spPr>
      </p:sp>
      <p:sp>
        <p:nvSpPr>
          <p:cNvPr id="33" name="Text 31"/>
          <p:cNvSpPr/>
          <p:nvPr/>
        </p:nvSpPr>
        <p:spPr>
          <a:xfrm>
            <a:off x="640080" y="4315968"/>
            <a:ext cx="7863840" cy="502920"/>
          </a:xfrm>
          <a:prstGeom prst="rect">
            <a:avLst/>
          </a:prstGeom>
          <a:noFill/>
          <a:ln/>
        </p:spPr>
        <p:txBody>
          <a:bodyPr wrap="square" lIns="0" tIns="0" rIns="0" bIns="0" rtlCol="0" anchor="ctr"/>
          <a:lstStyle/>
          <a:p>
            <a:pPr indent="0" marL="0">
              <a:buNone/>
            </a:pPr>
            <a:r>
              <a:rPr lang="en-US" sz="1000" dirty="0">
                <a:solidFill>
                  <a:srgbClr val="90E0EF"/>
                </a:solidFill>
                <a:latin typeface="Calibri" pitchFamily="34" charset="0"/>
                <a:ea typeface="Calibri" pitchFamily="34" charset="-122"/>
                <a:cs typeface="Calibri" pitchFamily="34" charset="-120"/>
              </a:rPr>
              <a:t>L4+ Advanced:  Phase 7 — Agent Trap Hardening   ·   Phase 8 — Managed Agent Architecture   ·   Phase 9 — Business Outcome FinOps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457200" y="137160"/>
            <a:ext cx="2194560" cy="256032"/>
          </a:xfrm>
          <a:prstGeom prst="roundRect">
            <a:avLst>
              <a:gd name="adj" fmla="val 17857"/>
            </a:avLst>
          </a:prstGeom>
          <a:solidFill>
            <a:srgbClr val="D97706"/>
          </a:solidFill>
          <a:ln w="12700">
            <a:solidFill>
              <a:srgbClr val="D97706"/>
            </a:solidFill>
            <a:prstDash val="solid"/>
          </a:ln>
        </p:spPr>
      </p:sp>
      <p:sp>
        <p:nvSpPr>
          <p:cNvPr id="3" name="Text 1"/>
          <p:cNvSpPr/>
          <p:nvPr/>
        </p:nvSpPr>
        <p:spPr>
          <a:xfrm>
            <a:off x="457200" y="137160"/>
            <a:ext cx="2194560" cy="256032"/>
          </a:xfrm>
          <a:prstGeom prst="rect">
            <a:avLst/>
          </a:prstGeom>
          <a:noFill/>
          <a:ln/>
        </p:spPr>
        <p:txBody>
          <a:bodyPr wrap="square" lIns="0" tIns="0" rIns="0" bIns="0" rtlCol="0" anchor="ctr"/>
          <a:lstStyle/>
          <a:p>
            <a:pPr algn="ctr" indent="0" marL="0">
              <a:buNone/>
            </a:pPr>
            <a:r>
              <a:rPr lang="en-US" sz="800" b="1" dirty="0">
                <a:solidFill>
                  <a:srgbClr val="0A1628"/>
                </a:solidFill>
                <a:latin typeface="Calibri" pitchFamily="34" charset="0"/>
                <a:ea typeface="Calibri" pitchFamily="34" charset="-122"/>
                <a:cs typeface="Calibri" pitchFamily="34" charset="-120"/>
              </a:rPr>
              <a:t>HACKATHON SCOPE</a:t>
            </a:r>
            <a:endParaRPr lang="en-US" sz="800" dirty="0"/>
          </a:p>
        </p:txBody>
      </p:sp>
      <p:sp>
        <p:nvSpPr>
          <p:cNvPr id="4" name="Text 2"/>
          <p:cNvSpPr/>
          <p:nvPr/>
        </p:nvSpPr>
        <p:spPr>
          <a:xfrm>
            <a:off x="457200" y="502920"/>
            <a:ext cx="822960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What We Build Today — Hackathon Target</a:t>
            </a:r>
            <a:endParaRPr lang="en-US" sz="2200" dirty="0"/>
          </a:p>
        </p:txBody>
      </p:sp>
      <p:sp>
        <p:nvSpPr>
          <p:cNvPr id="5" name="Shape 3"/>
          <p:cNvSpPr/>
          <p:nvPr/>
        </p:nvSpPr>
        <p:spPr>
          <a:xfrm>
            <a:off x="457200" y="960120"/>
            <a:ext cx="3977640" cy="3840480"/>
          </a:xfrm>
          <a:prstGeom prst="rect">
            <a:avLst/>
          </a:prstGeom>
          <a:solidFill>
            <a:srgbClr val="112240"/>
          </a:solidFill>
          <a:ln w="6350">
            <a:solidFill>
              <a:srgbClr val="1E3A5F"/>
            </a:solidFill>
            <a:prstDash val="solid"/>
          </a:ln>
        </p:spPr>
      </p:sp>
      <p:sp>
        <p:nvSpPr>
          <p:cNvPr id="6" name="Shape 4"/>
          <p:cNvSpPr/>
          <p:nvPr/>
        </p:nvSpPr>
        <p:spPr>
          <a:xfrm>
            <a:off x="457200" y="960120"/>
            <a:ext cx="3977640" cy="365760"/>
          </a:xfrm>
          <a:prstGeom prst="rect">
            <a:avLst/>
          </a:prstGeom>
          <a:solidFill>
            <a:srgbClr val="38A169"/>
          </a:solidFill>
          <a:ln w="12700">
            <a:solidFill>
              <a:srgbClr val="38A169"/>
            </a:solidFill>
            <a:prstDash val="solid"/>
          </a:ln>
        </p:spPr>
      </p:sp>
      <p:sp>
        <p:nvSpPr>
          <p:cNvPr id="7" name="Text 5"/>
          <p:cNvSpPr/>
          <p:nvPr/>
        </p:nvSpPr>
        <p:spPr>
          <a:xfrm>
            <a:off x="548640" y="960120"/>
            <a:ext cx="3749040" cy="36576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IN SCOPE — Build Today</a:t>
            </a:r>
            <a:endParaRPr lang="en-US" sz="1100" dirty="0"/>
          </a:p>
        </p:txBody>
      </p:sp>
      <p:sp>
        <p:nvSpPr>
          <p:cNvPr id="8" name="Text 6"/>
          <p:cNvSpPr/>
          <p:nvPr/>
        </p:nvSpPr>
        <p:spPr>
          <a:xfrm>
            <a:off x="640080" y="1435608"/>
            <a:ext cx="3657600" cy="22860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Phase 1 — Context Window Monitor</a:t>
            </a:r>
            <a:endParaRPr lang="en-US" sz="1000" dirty="0"/>
          </a:p>
        </p:txBody>
      </p:sp>
      <p:sp>
        <p:nvSpPr>
          <p:cNvPr id="9" name="Text 7"/>
          <p:cNvSpPr/>
          <p:nvPr/>
        </p:nvSpPr>
        <p:spPr>
          <a:xfrm>
            <a:off x="640080" y="1645920"/>
            <a:ext cx="3657600" cy="201168"/>
          </a:xfrm>
          <a:prstGeom prst="rect">
            <a:avLst/>
          </a:prstGeom>
          <a:noFill/>
          <a:ln/>
        </p:spPr>
        <p:txBody>
          <a:bodyPr wrap="square" lIns="0" tIns="0" rIns="0" bIns="0" rtlCol="0" anchor="ctr"/>
          <a:lstStyle/>
          <a:p>
            <a:pPr indent="0" marL="0">
              <a:buNone/>
            </a:pPr>
            <a:r>
              <a:rPr lang="en-US" sz="900" dirty="0">
                <a:solidFill>
                  <a:srgbClr val="90E0EF"/>
                </a:solidFill>
                <a:latin typeface="Calibri" pitchFamily="34" charset="0"/>
                <a:ea typeface="Calibri" pitchFamily="34" charset="-122"/>
                <a:cs typeface="Calibri" pitchFamily="34" charset="-120"/>
              </a:rPr>
              <a:t>    Pre-call token estimation, 5-segment breakdown</a:t>
            </a:r>
            <a:endParaRPr lang="en-US" sz="900" dirty="0"/>
          </a:p>
        </p:txBody>
      </p:sp>
      <p:sp>
        <p:nvSpPr>
          <p:cNvPr id="10" name="Text 8"/>
          <p:cNvSpPr/>
          <p:nvPr/>
        </p:nvSpPr>
        <p:spPr>
          <a:xfrm>
            <a:off x="640080" y="2066544"/>
            <a:ext cx="3657600" cy="22860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Phase 2 — API Proxy Interceptor</a:t>
            </a:r>
            <a:endParaRPr lang="en-US" sz="1000" dirty="0"/>
          </a:p>
        </p:txBody>
      </p:sp>
      <p:sp>
        <p:nvSpPr>
          <p:cNvPr id="11" name="Text 9"/>
          <p:cNvSpPr/>
          <p:nvPr/>
        </p:nvSpPr>
        <p:spPr>
          <a:xfrm>
            <a:off x="640080" y="2276856"/>
            <a:ext cx="3657600" cy="201168"/>
          </a:xfrm>
          <a:prstGeom prst="rect">
            <a:avLst/>
          </a:prstGeom>
          <a:noFill/>
          <a:ln/>
        </p:spPr>
        <p:txBody>
          <a:bodyPr wrap="square" lIns="0" tIns="0" rIns="0" bIns="0" rtlCol="0" anchor="ctr"/>
          <a:lstStyle/>
          <a:p>
            <a:pPr indent="0" marL="0">
              <a:buNone/>
            </a:pPr>
            <a:r>
              <a:rPr lang="en-US" sz="900" dirty="0">
                <a:solidFill>
                  <a:srgbClr val="90E0EF"/>
                </a:solidFill>
                <a:latin typeface="Calibri" pitchFamily="34" charset="0"/>
                <a:ea typeface="Calibri" pitchFamily="34" charset="-122"/>
                <a:cs typeface="Calibri" pitchFamily="34" charset="-120"/>
              </a:rPr>
              <a:t>    Exact token counts from Anthropic response</a:t>
            </a:r>
            <a:endParaRPr lang="en-US" sz="900" dirty="0"/>
          </a:p>
        </p:txBody>
      </p:sp>
      <p:sp>
        <p:nvSpPr>
          <p:cNvPr id="12" name="Text 10"/>
          <p:cNvSpPr/>
          <p:nvPr/>
        </p:nvSpPr>
        <p:spPr>
          <a:xfrm>
            <a:off x="640080" y="2697480"/>
            <a:ext cx="3657600" cy="22860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Phase 3 — pgvector Trajectory Store</a:t>
            </a:r>
            <a:endParaRPr lang="en-US" sz="1000" dirty="0"/>
          </a:p>
        </p:txBody>
      </p:sp>
      <p:sp>
        <p:nvSpPr>
          <p:cNvPr id="13" name="Text 11"/>
          <p:cNvSpPr/>
          <p:nvPr/>
        </p:nvSpPr>
        <p:spPr>
          <a:xfrm>
            <a:off x="640080" y="2907792"/>
            <a:ext cx="3657600" cy="201168"/>
          </a:xfrm>
          <a:prstGeom prst="rect">
            <a:avLst/>
          </a:prstGeom>
          <a:noFill/>
          <a:ln/>
        </p:spPr>
        <p:txBody>
          <a:bodyPr wrap="square" lIns="0" tIns="0" rIns="0" bIns="0" rtlCol="0" anchor="ctr"/>
          <a:lstStyle/>
          <a:p>
            <a:pPr indent="0" marL="0">
              <a:buNone/>
            </a:pPr>
            <a:r>
              <a:rPr lang="en-US" sz="900" dirty="0">
                <a:solidFill>
                  <a:srgbClr val="90E0EF"/>
                </a:solidFill>
                <a:latin typeface="Calibri" pitchFamily="34" charset="0"/>
                <a:ea typeface="Calibri" pitchFamily="34" charset="-122"/>
                <a:cs typeface="Calibri" pitchFamily="34" charset="-120"/>
              </a:rPr>
              <a:t>    Persistent cost records, session reconstruction</a:t>
            </a:r>
            <a:endParaRPr lang="en-US" sz="900" dirty="0"/>
          </a:p>
        </p:txBody>
      </p:sp>
      <p:sp>
        <p:nvSpPr>
          <p:cNvPr id="14" name="Text 12"/>
          <p:cNvSpPr/>
          <p:nvPr/>
        </p:nvSpPr>
        <p:spPr>
          <a:xfrm>
            <a:off x="640080" y="3328416"/>
            <a:ext cx="3657600" cy="22860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Phase 4 — Cost Intelligence APIs</a:t>
            </a:r>
            <a:endParaRPr lang="en-US" sz="1000" dirty="0"/>
          </a:p>
        </p:txBody>
      </p:sp>
      <p:sp>
        <p:nvSpPr>
          <p:cNvPr id="15" name="Text 13"/>
          <p:cNvSpPr/>
          <p:nvPr/>
        </p:nvSpPr>
        <p:spPr>
          <a:xfrm>
            <a:off x="640080" y="3538728"/>
            <a:ext cx="3657600" cy="201168"/>
          </a:xfrm>
          <a:prstGeom prst="rect">
            <a:avLst/>
          </a:prstGeom>
          <a:noFill/>
          <a:ln/>
        </p:spPr>
        <p:txBody>
          <a:bodyPr wrap="square" lIns="0" tIns="0" rIns="0" bIns="0" rtlCol="0" anchor="ctr"/>
          <a:lstStyle/>
          <a:p>
            <a:pPr indent="0" marL="0">
              <a:buNone/>
            </a:pPr>
            <a:r>
              <a:rPr lang="en-US" sz="900" dirty="0">
                <a:solidFill>
                  <a:srgbClr val="90E0EF"/>
                </a:solidFill>
                <a:latin typeface="Calibri" pitchFamily="34" charset="0"/>
                <a:ea typeface="Calibri" pitchFamily="34" charset="-122"/>
                <a:cs typeface="Calibri" pitchFamily="34" charset="-120"/>
              </a:rPr>
              <a:t>    Full REST API surface for the dashboard</a:t>
            </a:r>
            <a:endParaRPr lang="en-US" sz="900" dirty="0"/>
          </a:p>
        </p:txBody>
      </p:sp>
      <p:sp>
        <p:nvSpPr>
          <p:cNvPr id="16" name="Text 14"/>
          <p:cNvSpPr/>
          <p:nvPr/>
        </p:nvSpPr>
        <p:spPr>
          <a:xfrm>
            <a:off x="640080" y="3959352"/>
            <a:ext cx="3657600" cy="22860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Phase 6 — React FinOps Dashboard</a:t>
            </a:r>
            <a:endParaRPr lang="en-US" sz="1000" dirty="0"/>
          </a:p>
        </p:txBody>
      </p:sp>
      <p:sp>
        <p:nvSpPr>
          <p:cNvPr id="17" name="Text 15"/>
          <p:cNvSpPr/>
          <p:nvPr/>
        </p:nvSpPr>
        <p:spPr>
          <a:xfrm>
            <a:off x="640080" y="4169664"/>
            <a:ext cx="3657600" cy="201168"/>
          </a:xfrm>
          <a:prstGeom prst="rect">
            <a:avLst/>
          </a:prstGeom>
          <a:noFill/>
          <a:ln/>
        </p:spPr>
        <p:txBody>
          <a:bodyPr wrap="square" lIns="0" tIns="0" rIns="0" bIns="0" rtlCol="0" anchor="ctr"/>
          <a:lstStyle/>
          <a:p>
            <a:pPr indent="0" marL="0">
              <a:buNone/>
            </a:pPr>
            <a:r>
              <a:rPr lang="en-US" sz="900" dirty="0">
                <a:solidFill>
                  <a:srgbClr val="90E0EF"/>
                </a:solidFill>
                <a:latin typeface="Calibri" pitchFamily="34" charset="0"/>
                <a:ea typeface="Calibri" pitchFamily="34" charset="-122"/>
                <a:cs typeface="Calibri" pitchFamily="34" charset="-120"/>
              </a:rPr>
              <a:t>    Overview, Sessions, Features, Trends, Context tabs</a:t>
            </a:r>
            <a:endParaRPr lang="en-US" sz="900" dirty="0"/>
          </a:p>
        </p:txBody>
      </p:sp>
      <p:sp>
        <p:nvSpPr>
          <p:cNvPr id="18" name="Shape 16"/>
          <p:cNvSpPr/>
          <p:nvPr/>
        </p:nvSpPr>
        <p:spPr>
          <a:xfrm>
            <a:off x="4709160" y="960120"/>
            <a:ext cx="3977640" cy="1874520"/>
          </a:xfrm>
          <a:prstGeom prst="rect">
            <a:avLst/>
          </a:prstGeom>
          <a:solidFill>
            <a:srgbClr val="0D1F36"/>
          </a:solidFill>
          <a:ln w="6350">
            <a:solidFill>
              <a:srgbClr val="1E3A5F"/>
            </a:solidFill>
            <a:prstDash val="solid"/>
          </a:ln>
        </p:spPr>
      </p:sp>
      <p:sp>
        <p:nvSpPr>
          <p:cNvPr id="19" name="Shape 17"/>
          <p:cNvSpPr/>
          <p:nvPr/>
        </p:nvSpPr>
        <p:spPr>
          <a:xfrm>
            <a:off x="4709160" y="960120"/>
            <a:ext cx="3977640" cy="365760"/>
          </a:xfrm>
          <a:prstGeom prst="rect">
            <a:avLst/>
          </a:prstGeom>
          <a:solidFill>
            <a:srgbClr val="0077A8"/>
          </a:solidFill>
          <a:ln w="12700">
            <a:solidFill>
              <a:srgbClr val="0077A8"/>
            </a:solidFill>
            <a:prstDash val="solid"/>
          </a:ln>
        </p:spPr>
      </p:sp>
      <p:sp>
        <p:nvSpPr>
          <p:cNvPr id="20" name="Text 18"/>
          <p:cNvSpPr/>
          <p:nvPr/>
        </p:nvSpPr>
        <p:spPr>
          <a:xfrm>
            <a:off x="4800600" y="960120"/>
            <a:ext cx="3749040" cy="36576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STRETCH — If Time Allows</a:t>
            </a:r>
            <a:endParaRPr lang="en-US" sz="1100" dirty="0"/>
          </a:p>
        </p:txBody>
      </p:sp>
      <p:sp>
        <p:nvSpPr>
          <p:cNvPr id="21" name="Text 19"/>
          <p:cNvSpPr/>
          <p:nvPr/>
        </p:nvSpPr>
        <p:spPr>
          <a:xfrm>
            <a:off x="4846320" y="1444752"/>
            <a:ext cx="3657600" cy="347472"/>
          </a:xfrm>
          <a:prstGeom prst="rect">
            <a:avLst/>
          </a:prstGeom>
          <a:noFill/>
          <a:ln/>
        </p:spPr>
        <p:txBody>
          <a:bodyPr wrap="square" lIns="0" tIns="0" rIns="0" bIns="0" rtlCol="0" anchor="ctr"/>
          <a:lstStyle/>
          <a:p>
            <a:pPr indent="0" marL="0">
              <a:buNone/>
            </a:pPr>
            <a:r>
              <a:rPr lang="en-US" sz="1000" dirty="0">
                <a:solidFill>
                  <a:srgbClr val="90E0EF"/>
                </a:solidFill>
                <a:latin typeface="Calibri" pitchFamily="34" charset="0"/>
                <a:ea typeface="Calibri" pitchFamily="34" charset="-122"/>
                <a:cs typeface="Calibri" pitchFamily="34" charset="-120"/>
              </a:rPr>
              <a:t>→  Phase 5 — Active Optimizer Engine (Rule 1 + 2)</a:t>
            </a:r>
            <a:endParaRPr lang="en-US" sz="1000" dirty="0"/>
          </a:p>
        </p:txBody>
      </p:sp>
      <p:sp>
        <p:nvSpPr>
          <p:cNvPr id="22" name="Text 20"/>
          <p:cNvSpPr/>
          <p:nvPr/>
        </p:nvSpPr>
        <p:spPr>
          <a:xfrm>
            <a:off x="4846320" y="1856232"/>
            <a:ext cx="3657600" cy="347472"/>
          </a:xfrm>
          <a:prstGeom prst="rect">
            <a:avLst/>
          </a:prstGeom>
          <a:noFill/>
          <a:ln/>
        </p:spPr>
        <p:txBody>
          <a:bodyPr wrap="square" lIns="0" tIns="0" rIns="0" bIns="0" rtlCol="0" anchor="ctr"/>
          <a:lstStyle/>
          <a:p>
            <a:pPr indent="0" marL="0">
              <a:buNone/>
            </a:pPr>
            <a:r>
              <a:rPr lang="en-US" sz="1000" dirty="0">
                <a:solidFill>
                  <a:srgbClr val="90E0EF"/>
                </a:solidFill>
                <a:latin typeface="Calibri" pitchFamily="34" charset="0"/>
                <a:ea typeface="Calibri" pitchFamily="34" charset="-122"/>
                <a:cs typeface="Calibri" pitchFamily="34" charset="-120"/>
              </a:rPr>
              <a:t>→  Phase 7 — Basic Circuit Breaker</a:t>
            </a:r>
            <a:endParaRPr lang="en-US" sz="1000" dirty="0"/>
          </a:p>
        </p:txBody>
      </p:sp>
      <p:sp>
        <p:nvSpPr>
          <p:cNvPr id="23" name="Text 21"/>
          <p:cNvSpPr/>
          <p:nvPr/>
        </p:nvSpPr>
        <p:spPr>
          <a:xfrm>
            <a:off x="4846320" y="2267712"/>
            <a:ext cx="3657600" cy="347472"/>
          </a:xfrm>
          <a:prstGeom prst="rect">
            <a:avLst/>
          </a:prstGeom>
          <a:noFill/>
          <a:ln/>
        </p:spPr>
        <p:txBody>
          <a:bodyPr wrap="square" lIns="0" tIns="0" rIns="0" bIns="0" rtlCol="0" anchor="ctr"/>
          <a:lstStyle/>
          <a:p>
            <a:pPr indent="0" marL="0">
              <a:buNone/>
            </a:pPr>
            <a:r>
              <a:rPr lang="en-US" sz="1000" dirty="0">
                <a:solidFill>
                  <a:srgbClr val="90E0EF"/>
                </a:solidFill>
                <a:latin typeface="Calibri" pitchFamily="34" charset="0"/>
                <a:ea typeface="Calibri" pitchFamily="34" charset="-122"/>
                <a:cs typeface="Calibri" pitchFamily="34" charset="-120"/>
              </a:rPr>
              <a:t>→  Phase 9 — Cost Per Outcome metric</a:t>
            </a:r>
            <a:endParaRPr lang="en-US" sz="1000" dirty="0"/>
          </a:p>
        </p:txBody>
      </p:sp>
      <p:sp>
        <p:nvSpPr>
          <p:cNvPr id="24" name="Shape 22"/>
          <p:cNvSpPr/>
          <p:nvPr/>
        </p:nvSpPr>
        <p:spPr>
          <a:xfrm>
            <a:off x="4709160" y="2971800"/>
            <a:ext cx="3977640" cy="1828800"/>
          </a:xfrm>
          <a:prstGeom prst="rect">
            <a:avLst/>
          </a:prstGeom>
          <a:solidFill>
            <a:srgbClr val="0D1F36"/>
          </a:solidFill>
          <a:ln w="6350">
            <a:solidFill>
              <a:srgbClr val="1E3A5F"/>
            </a:solidFill>
            <a:prstDash val="solid"/>
          </a:ln>
        </p:spPr>
      </p:sp>
      <p:sp>
        <p:nvSpPr>
          <p:cNvPr id="25" name="Shape 23"/>
          <p:cNvSpPr/>
          <p:nvPr/>
        </p:nvSpPr>
        <p:spPr>
          <a:xfrm>
            <a:off x="4709160" y="2971800"/>
            <a:ext cx="3977640" cy="365760"/>
          </a:xfrm>
          <a:prstGeom prst="rect">
            <a:avLst/>
          </a:prstGeom>
          <a:solidFill>
            <a:srgbClr val="4A2020"/>
          </a:solidFill>
          <a:ln w="12700">
            <a:solidFill>
              <a:srgbClr val="4A2020"/>
            </a:solidFill>
            <a:prstDash val="solid"/>
          </a:ln>
        </p:spPr>
      </p:sp>
      <p:sp>
        <p:nvSpPr>
          <p:cNvPr id="26" name="Text 24"/>
          <p:cNvSpPr/>
          <p:nvPr/>
        </p:nvSpPr>
        <p:spPr>
          <a:xfrm>
            <a:off x="4800600" y="2971800"/>
            <a:ext cx="3749040" cy="36576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OUT OF SCOPE — Post-Hackathon</a:t>
            </a:r>
            <a:endParaRPr lang="en-US" sz="1100" dirty="0"/>
          </a:p>
        </p:txBody>
      </p:sp>
      <p:sp>
        <p:nvSpPr>
          <p:cNvPr id="27" name="Text 25"/>
          <p:cNvSpPr/>
          <p:nvPr/>
        </p:nvSpPr>
        <p:spPr>
          <a:xfrm>
            <a:off x="4846320" y="3447288"/>
            <a:ext cx="3657600" cy="274320"/>
          </a:xfrm>
          <a:prstGeom prst="rect">
            <a:avLst/>
          </a:prstGeom>
          <a:noFill/>
          <a:ln/>
        </p:spPr>
        <p:txBody>
          <a:bodyPr wrap="square" lIns="0" tIns="0" rIns="0" bIns="0" rtlCol="0" anchor="ctr"/>
          <a:lstStyle/>
          <a:p>
            <a:pPr indent="0" marL="0">
              <a:buNone/>
            </a:pPr>
            <a:r>
              <a:rPr lang="en-US" sz="950" dirty="0">
                <a:solidFill>
                  <a:srgbClr val="FCA5A5"/>
                </a:solidFill>
                <a:latin typeface="Calibri" pitchFamily="34" charset="0"/>
                <a:ea typeface="Calibri" pitchFamily="34" charset="-122"/>
                <a:cs typeface="Calibri" pitchFamily="34" charset="-120"/>
              </a:rPr>
              <a:t>✗  Phase 8 — Managed Agent Architecture</a:t>
            </a:r>
            <a:endParaRPr lang="en-US" sz="950" dirty="0"/>
          </a:p>
        </p:txBody>
      </p:sp>
      <p:sp>
        <p:nvSpPr>
          <p:cNvPr id="28" name="Text 26"/>
          <p:cNvSpPr/>
          <p:nvPr/>
        </p:nvSpPr>
        <p:spPr>
          <a:xfrm>
            <a:off x="4846320" y="3767328"/>
            <a:ext cx="3657600" cy="274320"/>
          </a:xfrm>
          <a:prstGeom prst="rect">
            <a:avLst/>
          </a:prstGeom>
          <a:noFill/>
          <a:ln/>
        </p:spPr>
        <p:txBody>
          <a:bodyPr wrap="square" lIns="0" tIns="0" rIns="0" bIns="0" rtlCol="0" anchor="ctr"/>
          <a:lstStyle/>
          <a:p>
            <a:pPr indent="0" marL="0">
              <a:buNone/>
            </a:pPr>
            <a:r>
              <a:rPr lang="en-US" sz="950" dirty="0">
                <a:solidFill>
                  <a:srgbClr val="FCA5A5"/>
                </a:solidFill>
                <a:latin typeface="Calibri" pitchFamily="34" charset="0"/>
                <a:ea typeface="Calibri" pitchFamily="34" charset="-122"/>
                <a:cs typeface="Calibri" pitchFamily="34" charset="-120"/>
              </a:rPr>
              <a:t>✗  Full Oracle DB / Oracle Coherence migration</a:t>
            </a:r>
            <a:endParaRPr lang="en-US" sz="950" dirty="0"/>
          </a:p>
        </p:txBody>
      </p:sp>
      <p:sp>
        <p:nvSpPr>
          <p:cNvPr id="29" name="Text 27"/>
          <p:cNvSpPr/>
          <p:nvPr/>
        </p:nvSpPr>
        <p:spPr>
          <a:xfrm>
            <a:off x="4846320" y="4087368"/>
            <a:ext cx="3657600" cy="274320"/>
          </a:xfrm>
          <a:prstGeom prst="rect">
            <a:avLst/>
          </a:prstGeom>
          <a:noFill/>
          <a:ln/>
        </p:spPr>
        <p:txBody>
          <a:bodyPr wrap="square" lIns="0" tIns="0" rIns="0" bIns="0" rtlCol="0" anchor="ctr"/>
          <a:lstStyle/>
          <a:p>
            <a:pPr indent="0" marL="0">
              <a:buNone/>
            </a:pPr>
            <a:r>
              <a:rPr lang="en-US" sz="950" dirty="0">
                <a:solidFill>
                  <a:srgbClr val="FCA5A5"/>
                </a:solidFill>
                <a:latin typeface="Calibri" pitchFamily="34" charset="0"/>
                <a:ea typeface="Calibri" pitchFamily="34" charset="-122"/>
                <a:cs typeface="Calibri" pitchFamily="34" charset="-120"/>
              </a:rPr>
              <a:t>✗  Multi-tenant enterprise deployment</a:t>
            </a:r>
            <a:endParaRPr lang="en-US" sz="950" dirty="0"/>
          </a:p>
        </p:txBody>
      </p:sp>
      <p:sp>
        <p:nvSpPr>
          <p:cNvPr id="30" name="Text 28"/>
          <p:cNvSpPr/>
          <p:nvPr/>
        </p:nvSpPr>
        <p:spPr>
          <a:xfrm>
            <a:off x="4846320" y="4407408"/>
            <a:ext cx="3657600" cy="274320"/>
          </a:xfrm>
          <a:prstGeom prst="rect">
            <a:avLst/>
          </a:prstGeom>
          <a:noFill/>
          <a:ln/>
        </p:spPr>
        <p:txBody>
          <a:bodyPr wrap="square" lIns="0" tIns="0" rIns="0" bIns="0" rtlCol="0" anchor="ctr"/>
          <a:lstStyle/>
          <a:p>
            <a:pPr indent="0" marL="0">
              <a:buNone/>
            </a:pPr>
            <a:r>
              <a:rPr lang="en-US" sz="950" dirty="0">
                <a:solidFill>
                  <a:srgbClr val="FCA5A5"/>
                </a:solidFill>
                <a:latin typeface="Calibri" pitchFamily="34" charset="0"/>
                <a:ea typeface="Calibri" pitchFamily="34" charset="-122"/>
                <a:cs typeface="Calibri" pitchFamily="34" charset="-120"/>
              </a:rPr>
              <a:t>✗  Production security hardening (Phase 7 full)</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457200" y="137160"/>
            <a:ext cx="2011680" cy="256032"/>
          </a:xfrm>
          <a:prstGeom prst="roundRect">
            <a:avLst>
              <a:gd name="adj" fmla="val 17857"/>
            </a:avLst>
          </a:prstGeom>
          <a:solidFill>
            <a:srgbClr val="00B4D8"/>
          </a:solidFill>
          <a:ln w="12700">
            <a:solidFill>
              <a:srgbClr val="00B4D8"/>
            </a:solidFill>
            <a:prstDash val="solid"/>
          </a:ln>
        </p:spPr>
      </p:sp>
      <p:sp>
        <p:nvSpPr>
          <p:cNvPr id="3" name="Text 1"/>
          <p:cNvSpPr/>
          <p:nvPr/>
        </p:nvSpPr>
        <p:spPr>
          <a:xfrm>
            <a:off x="457200" y="137160"/>
            <a:ext cx="2011680" cy="256032"/>
          </a:xfrm>
          <a:prstGeom prst="rect">
            <a:avLst/>
          </a:prstGeom>
          <a:noFill/>
          <a:ln/>
        </p:spPr>
        <p:txBody>
          <a:bodyPr wrap="square" lIns="0" tIns="0" rIns="0" bIns="0" rtlCol="0" anchor="ctr"/>
          <a:lstStyle/>
          <a:p>
            <a:pPr algn="ctr" indent="0" marL="0">
              <a:buNone/>
            </a:pPr>
            <a:r>
              <a:rPr lang="en-US" sz="800" b="1" dirty="0">
                <a:solidFill>
                  <a:srgbClr val="0A1628"/>
                </a:solidFill>
                <a:latin typeface="Calibri" pitchFamily="34" charset="0"/>
                <a:ea typeface="Calibri" pitchFamily="34" charset="-122"/>
                <a:cs typeface="Calibri" pitchFamily="34" charset="-120"/>
              </a:rPr>
              <a:t>END-TO-END FLOW</a:t>
            </a:r>
            <a:endParaRPr lang="en-US" sz="800" dirty="0"/>
          </a:p>
        </p:txBody>
      </p:sp>
      <p:sp>
        <p:nvSpPr>
          <p:cNvPr id="4" name="Text 2"/>
          <p:cNvSpPr/>
          <p:nvPr/>
        </p:nvSpPr>
        <p:spPr>
          <a:xfrm>
            <a:off x="457200" y="502920"/>
            <a:ext cx="8229600" cy="457200"/>
          </a:xfrm>
          <a:prstGeom prst="rect">
            <a:avLst/>
          </a:prstGeom>
          <a:noFill/>
          <a:ln/>
        </p:spPr>
        <p:txBody>
          <a:bodyPr wrap="square" lIns="0" tIns="0" rIns="0" bIns="0" rtlCol="0" anchor="ctr"/>
          <a:lstStyle/>
          <a:p>
            <a:pPr indent="0" marL="0">
              <a:buNone/>
            </a:pPr>
            <a:r>
              <a:rPr lang="en-US" sz="2200" b="1" dirty="0">
                <a:solidFill>
                  <a:srgbClr val="0A1628"/>
                </a:solidFill>
                <a:latin typeface="Calibri" pitchFamily="34" charset="0"/>
                <a:ea typeface="Calibri" pitchFamily="34" charset="-122"/>
                <a:cs typeface="Calibri" pitchFamily="34" charset="-120"/>
              </a:rPr>
              <a:t>What You Will Build — Data Flow End to End</a:t>
            </a:r>
            <a:endParaRPr lang="en-US" sz="2200" dirty="0"/>
          </a:p>
        </p:txBody>
      </p:sp>
      <p:sp>
        <p:nvSpPr>
          <p:cNvPr id="5" name="Shape 3"/>
          <p:cNvSpPr/>
          <p:nvPr/>
        </p:nvSpPr>
        <p:spPr>
          <a:xfrm>
            <a:off x="457200" y="1014984"/>
            <a:ext cx="320040" cy="320040"/>
          </a:xfrm>
          <a:prstGeom prst="ellipse">
            <a:avLst/>
          </a:prstGeom>
          <a:solidFill>
            <a:srgbClr val="00B4D8"/>
          </a:solidFill>
          <a:ln w="12700">
            <a:solidFill>
              <a:srgbClr val="00B4D8"/>
            </a:solidFill>
            <a:prstDash val="solid"/>
          </a:ln>
        </p:spPr>
      </p:sp>
      <p:sp>
        <p:nvSpPr>
          <p:cNvPr id="6" name="Text 4"/>
          <p:cNvSpPr/>
          <p:nvPr/>
        </p:nvSpPr>
        <p:spPr>
          <a:xfrm>
            <a:off x="457200" y="1014984"/>
            <a:ext cx="320040" cy="320040"/>
          </a:xfrm>
          <a:prstGeom prst="rect">
            <a:avLst/>
          </a:prstGeom>
          <a:noFill/>
          <a:ln/>
        </p:spPr>
        <p:txBody>
          <a:bodyPr wrap="square" lIns="0" tIns="0" rIns="0" bIns="0" rtlCol="0" anchor="ctr"/>
          <a:lstStyle/>
          <a:p>
            <a:pPr algn="ctr" indent="0" marL="0">
              <a:buNone/>
            </a:pPr>
            <a:r>
              <a:rPr lang="en-US" sz="1100" b="1" dirty="0">
                <a:solidFill>
                  <a:srgbClr val="0A1628"/>
                </a:solidFill>
                <a:latin typeface="Calibri" pitchFamily="34" charset="0"/>
                <a:ea typeface="Calibri" pitchFamily="34" charset="-122"/>
                <a:cs typeface="Calibri" pitchFamily="34" charset="-120"/>
              </a:rPr>
              <a:t>1</a:t>
            </a:r>
            <a:endParaRPr lang="en-US" sz="1100" dirty="0"/>
          </a:p>
        </p:txBody>
      </p:sp>
      <p:sp>
        <p:nvSpPr>
          <p:cNvPr id="7" name="Shape 5"/>
          <p:cNvSpPr/>
          <p:nvPr/>
        </p:nvSpPr>
        <p:spPr>
          <a:xfrm>
            <a:off x="617220" y="1335024"/>
            <a:ext cx="0" cy="246888"/>
          </a:xfrm>
          <a:prstGeom prst="line">
            <a:avLst/>
          </a:prstGeom>
          <a:noFill/>
          <a:ln w="19050">
            <a:solidFill>
              <a:srgbClr val="00B4D8"/>
            </a:solidFill>
            <a:prstDash val="solid"/>
          </a:ln>
        </p:spPr>
      </p:sp>
      <p:sp>
        <p:nvSpPr>
          <p:cNvPr id="8" name="Shape 6"/>
          <p:cNvSpPr/>
          <p:nvPr/>
        </p:nvSpPr>
        <p:spPr>
          <a:xfrm>
            <a:off x="960120" y="960120"/>
            <a:ext cx="7726680" cy="475488"/>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2000"/>
              </a:srgbClr>
            </a:outerShdw>
          </a:effectLst>
        </p:spPr>
      </p:sp>
      <p:sp>
        <p:nvSpPr>
          <p:cNvPr id="9" name="Text 7"/>
          <p:cNvSpPr/>
          <p:nvPr/>
        </p:nvSpPr>
        <p:spPr>
          <a:xfrm>
            <a:off x="1078992" y="1005840"/>
            <a:ext cx="7406640" cy="219456"/>
          </a:xfrm>
          <a:prstGeom prst="rect">
            <a:avLst/>
          </a:prstGeom>
          <a:noFill/>
          <a:ln/>
        </p:spPr>
        <p:txBody>
          <a:bodyPr wrap="square" lIns="0" tIns="0" rIns="0" bIns="0" rtlCol="0" anchor="ctr"/>
          <a:lstStyle/>
          <a:p>
            <a:pPr indent="0" marL="0">
              <a:buNone/>
            </a:pPr>
            <a:r>
              <a:rPr lang="en-US" sz="1100" b="1" dirty="0">
                <a:solidFill>
                  <a:srgbClr val="0A1628"/>
                </a:solidFill>
                <a:latin typeface="Calibri" pitchFamily="34" charset="0"/>
                <a:ea typeface="Calibri" pitchFamily="34" charset="-122"/>
                <a:cs typeface="Calibri" pitchFamily="34" charset="-120"/>
              </a:rPr>
              <a:t>User sends a message</a:t>
            </a:r>
            <a:endParaRPr lang="en-US" sz="1100" dirty="0"/>
          </a:p>
        </p:txBody>
      </p:sp>
      <p:sp>
        <p:nvSpPr>
          <p:cNvPr id="10" name="Text 8"/>
          <p:cNvSpPr/>
          <p:nvPr/>
        </p:nvSpPr>
        <p:spPr>
          <a:xfrm>
            <a:off x="1078992" y="1216152"/>
            <a:ext cx="7406640" cy="182880"/>
          </a:xfrm>
          <a:prstGeom prst="rect">
            <a:avLst/>
          </a:prstGeom>
          <a:noFill/>
          <a:ln/>
        </p:spPr>
        <p:txBody>
          <a:bodyPr wrap="square" lIns="0" tIns="0" rIns="0" bIns="0" rtlCol="0" anchor="ctr"/>
          <a:lstStyle/>
          <a:p>
            <a:pPr indent="0" marL="0">
              <a:buNone/>
            </a:pPr>
            <a:r>
              <a:rPr lang="en-US" sz="950" dirty="0">
                <a:solidFill>
                  <a:srgbClr val="4A5568"/>
                </a:solidFill>
                <a:latin typeface="Calibri" pitchFamily="34" charset="0"/>
                <a:ea typeface="Calibri" pitchFamily="34" charset="-122"/>
                <a:cs typeface="Calibri" pitchFamily="34" charset="-120"/>
              </a:rPr>
              <a:t>Any banking feature: KYC, AML, chat, report</a:t>
            </a:r>
            <a:endParaRPr lang="en-US" sz="950" dirty="0"/>
          </a:p>
        </p:txBody>
      </p:sp>
      <p:sp>
        <p:nvSpPr>
          <p:cNvPr id="11" name="Shape 9"/>
          <p:cNvSpPr/>
          <p:nvPr/>
        </p:nvSpPr>
        <p:spPr>
          <a:xfrm>
            <a:off x="457200" y="1572768"/>
            <a:ext cx="320040" cy="320040"/>
          </a:xfrm>
          <a:prstGeom prst="ellipse">
            <a:avLst/>
          </a:prstGeom>
          <a:solidFill>
            <a:srgbClr val="00B4D8"/>
          </a:solidFill>
          <a:ln w="12700">
            <a:solidFill>
              <a:srgbClr val="00B4D8"/>
            </a:solidFill>
            <a:prstDash val="solid"/>
          </a:ln>
        </p:spPr>
      </p:sp>
      <p:sp>
        <p:nvSpPr>
          <p:cNvPr id="12" name="Text 10"/>
          <p:cNvSpPr/>
          <p:nvPr/>
        </p:nvSpPr>
        <p:spPr>
          <a:xfrm>
            <a:off x="457200" y="1572768"/>
            <a:ext cx="320040" cy="320040"/>
          </a:xfrm>
          <a:prstGeom prst="rect">
            <a:avLst/>
          </a:prstGeom>
          <a:noFill/>
          <a:ln/>
        </p:spPr>
        <p:txBody>
          <a:bodyPr wrap="square" lIns="0" tIns="0" rIns="0" bIns="0" rtlCol="0" anchor="ctr"/>
          <a:lstStyle/>
          <a:p>
            <a:pPr algn="ctr" indent="0" marL="0">
              <a:buNone/>
            </a:pPr>
            <a:r>
              <a:rPr lang="en-US" sz="1100" b="1" dirty="0">
                <a:solidFill>
                  <a:srgbClr val="0A1628"/>
                </a:solidFill>
                <a:latin typeface="Calibri" pitchFamily="34" charset="0"/>
                <a:ea typeface="Calibri" pitchFamily="34" charset="-122"/>
                <a:cs typeface="Calibri" pitchFamily="34" charset="-120"/>
              </a:rPr>
              <a:t>2</a:t>
            </a:r>
            <a:endParaRPr lang="en-US" sz="1100" dirty="0"/>
          </a:p>
        </p:txBody>
      </p:sp>
      <p:sp>
        <p:nvSpPr>
          <p:cNvPr id="13" name="Shape 11"/>
          <p:cNvSpPr/>
          <p:nvPr/>
        </p:nvSpPr>
        <p:spPr>
          <a:xfrm>
            <a:off x="617220" y="1892808"/>
            <a:ext cx="0" cy="246888"/>
          </a:xfrm>
          <a:prstGeom prst="line">
            <a:avLst/>
          </a:prstGeom>
          <a:noFill/>
          <a:ln w="19050">
            <a:solidFill>
              <a:srgbClr val="00B4D8"/>
            </a:solidFill>
            <a:prstDash val="solid"/>
          </a:ln>
        </p:spPr>
      </p:sp>
      <p:sp>
        <p:nvSpPr>
          <p:cNvPr id="14" name="Shape 12"/>
          <p:cNvSpPr/>
          <p:nvPr/>
        </p:nvSpPr>
        <p:spPr>
          <a:xfrm>
            <a:off x="960120" y="1517904"/>
            <a:ext cx="7726680" cy="475488"/>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2000"/>
              </a:srgbClr>
            </a:outerShdw>
          </a:effectLst>
        </p:spPr>
      </p:sp>
      <p:sp>
        <p:nvSpPr>
          <p:cNvPr id="15" name="Text 13"/>
          <p:cNvSpPr/>
          <p:nvPr/>
        </p:nvSpPr>
        <p:spPr>
          <a:xfrm>
            <a:off x="1078992" y="1563624"/>
            <a:ext cx="7406640" cy="219456"/>
          </a:xfrm>
          <a:prstGeom prst="rect">
            <a:avLst/>
          </a:prstGeom>
          <a:noFill/>
          <a:ln/>
        </p:spPr>
        <p:txBody>
          <a:bodyPr wrap="square" lIns="0" tIns="0" rIns="0" bIns="0" rtlCol="0" anchor="ctr"/>
          <a:lstStyle/>
          <a:p>
            <a:pPr indent="0" marL="0">
              <a:buNone/>
            </a:pPr>
            <a:r>
              <a:rPr lang="en-US" sz="1100" b="1" dirty="0">
                <a:solidFill>
                  <a:srgbClr val="0A1628"/>
                </a:solidFill>
                <a:latin typeface="Calibri" pitchFamily="34" charset="0"/>
                <a:ea typeface="Calibri" pitchFamily="34" charset="-122"/>
                <a:cs typeface="Calibri" pitchFamily="34" charset="-120"/>
              </a:rPr>
              <a:t>AriaAgentService assembles context</a:t>
            </a:r>
            <a:endParaRPr lang="en-US" sz="1100" dirty="0"/>
          </a:p>
        </p:txBody>
      </p:sp>
      <p:sp>
        <p:nvSpPr>
          <p:cNvPr id="16" name="Text 14"/>
          <p:cNvSpPr/>
          <p:nvPr/>
        </p:nvSpPr>
        <p:spPr>
          <a:xfrm>
            <a:off x="1078992" y="1773936"/>
            <a:ext cx="7406640" cy="182880"/>
          </a:xfrm>
          <a:prstGeom prst="rect">
            <a:avLst/>
          </a:prstGeom>
          <a:noFill/>
          <a:ln/>
        </p:spPr>
        <p:txBody>
          <a:bodyPr wrap="square" lIns="0" tIns="0" rIns="0" bIns="0" rtlCol="0" anchor="ctr"/>
          <a:lstStyle/>
          <a:p>
            <a:pPr indent="0" marL="0">
              <a:buNone/>
            </a:pPr>
            <a:r>
              <a:rPr lang="en-US" sz="950" dirty="0">
                <a:solidFill>
                  <a:srgbClr val="4A5568"/>
                </a:solidFill>
                <a:latin typeface="Calibri" pitchFamily="34" charset="0"/>
                <a:ea typeface="Calibri" pitchFamily="34" charset="-122"/>
                <a:cs typeface="Calibri" pitchFamily="34" charset="-120"/>
              </a:rPr>
              <a:t>System prompt + RAG + memory + tools + history</a:t>
            </a:r>
            <a:endParaRPr lang="en-US" sz="950" dirty="0"/>
          </a:p>
        </p:txBody>
      </p:sp>
      <p:sp>
        <p:nvSpPr>
          <p:cNvPr id="17" name="Shape 15"/>
          <p:cNvSpPr/>
          <p:nvPr/>
        </p:nvSpPr>
        <p:spPr>
          <a:xfrm>
            <a:off x="457200" y="2130552"/>
            <a:ext cx="320040" cy="320040"/>
          </a:xfrm>
          <a:prstGeom prst="ellipse">
            <a:avLst/>
          </a:prstGeom>
          <a:solidFill>
            <a:srgbClr val="00B4D8"/>
          </a:solidFill>
          <a:ln w="12700">
            <a:solidFill>
              <a:srgbClr val="00B4D8"/>
            </a:solidFill>
            <a:prstDash val="solid"/>
          </a:ln>
        </p:spPr>
      </p:sp>
      <p:sp>
        <p:nvSpPr>
          <p:cNvPr id="18" name="Text 16"/>
          <p:cNvSpPr/>
          <p:nvPr/>
        </p:nvSpPr>
        <p:spPr>
          <a:xfrm>
            <a:off x="457200" y="2130552"/>
            <a:ext cx="320040" cy="320040"/>
          </a:xfrm>
          <a:prstGeom prst="rect">
            <a:avLst/>
          </a:prstGeom>
          <a:noFill/>
          <a:ln/>
        </p:spPr>
        <p:txBody>
          <a:bodyPr wrap="square" lIns="0" tIns="0" rIns="0" bIns="0" rtlCol="0" anchor="ctr"/>
          <a:lstStyle/>
          <a:p>
            <a:pPr algn="ctr" indent="0" marL="0">
              <a:buNone/>
            </a:pPr>
            <a:r>
              <a:rPr lang="en-US" sz="1100" b="1" dirty="0">
                <a:solidFill>
                  <a:srgbClr val="0A1628"/>
                </a:solidFill>
                <a:latin typeface="Calibri" pitchFamily="34" charset="0"/>
                <a:ea typeface="Calibri" pitchFamily="34" charset="-122"/>
                <a:cs typeface="Calibri" pitchFamily="34" charset="-120"/>
              </a:rPr>
              <a:t>3</a:t>
            </a:r>
            <a:endParaRPr lang="en-US" sz="1100" dirty="0"/>
          </a:p>
        </p:txBody>
      </p:sp>
      <p:sp>
        <p:nvSpPr>
          <p:cNvPr id="19" name="Shape 17"/>
          <p:cNvSpPr/>
          <p:nvPr/>
        </p:nvSpPr>
        <p:spPr>
          <a:xfrm>
            <a:off x="617220" y="2450592"/>
            <a:ext cx="0" cy="246888"/>
          </a:xfrm>
          <a:prstGeom prst="line">
            <a:avLst/>
          </a:prstGeom>
          <a:noFill/>
          <a:ln w="19050">
            <a:solidFill>
              <a:srgbClr val="00B4D8"/>
            </a:solidFill>
            <a:prstDash val="solid"/>
          </a:ln>
        </p:spPr>
      </p:sp>
      <p:sp>
        <p:nvSpPr>
          <p:cNvPr id="20" name="Shape 18"/>
          <p:cNvSpPr/>
          <p:nvPr/>
        </p:nvSpPr>
        <p:spPr>
          <a:xfrm>
            <a:off x="960120" y="2075688"/>
            <a:ext cx="7726680" cy="475488"/>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2000"/>
              </a:srgbClr>
            </a:outerShdw>
          </a:effectLst>
        </p:spPr>
      </p:sp>
      <p:sp>
        <p:nvSpPr>
          <p:cNvPr id="21" name="Text 19"/>
          <p:cNvSpPr/>
          <p:nvPr/>
        </p:nvSpPr>
        <p:spPr>
          <a:xfrm>
            <a:off x="1078992" y="2121408"/>
            <a:ext cx="7406640" cy="219456"/>
          </a:xfrm>
          <a:prstGeom prst="rect">
            <a:avLst/>
          </a:prstGeom>
          <a:noFill/>
          <a:ln/>
        </p:spPr>
        <p:txBody>
          <a:bodyPr wrap="square" lIns="0" tIns="0" rIns="0" bIns="0" rtlCol="0" anchor="ctr"/>
          <a:lstStyle/>
          <a:p>
            <a:pPr indent="0" marL="0">
              <a:buNone/>
            </a:pPr>
            <a:r>
              <a:rPr lang="en-US" sz="1100" b="1" dirty="0">
                <a:solidFill>
                  <a:srgbClr val="0A1628"/>
                </a:solidFill>
                <a:latin typeface="Calibri" pitchFamily="34" charset="0"/>
                <a:ea typeface="Calibri" pitchFamily="34" charset="-122"/>
                <a:cs typeface="Calibri" pitchFamily="34" charset="-120"/>
              </a:rPr>
              <a:t>Phase 1: Token estimation runs</a:t>
            </a:r>
            <a:endParaRPr lang="en-US" sz="1100" dirty="0"/>
          </a:p>
        </p:txBody>
      </p:sp>
      <p:sp>
        <p:nvSpPr>
          <p:cNvPr id="22" name="Text 20"/>
          <p:cNvSpPr/>
          <p:nvPr/>
        </p:nvSpPr>
        <p:spPr>
          <a:xfrm>
            <a:off x="1078992" y="2331720"/>
            <a:ext cx="7406640" cy="182880"/>
          </a:xfrm>
          <a:prstGeom prst="rect">
            <a:avLst/>
          </a:prstGeom>
          <a:noFill/>
          <a:ln/>
        </p:spPr>
        <p:txBody>
          <a:bodyPr wrap="square" lIns="0" tIns="0" rIns="0" bIns="0" rtlCol="0" anchor="ctr"/>
          <a:lstStyle/>
          <a:p>
            <a:pPr indent="0" marL="0">
              <a:buNone/>
            </a:pPr>
            <a:r>
              <a:rPr lang="en-US" sz="950" dirty="0">
                <a:solidFill>
                  <a:srgbClr val="4A5568"/>
                </a:solidFill>
                <a:latin typeface="Calibri" pitchFamily="34" charset="0"/>
                <a:ea typeface="Calibri" pitchFamily="34" charset="-122"/>
                <a:cs typeface="Calibri" pitchFamily="34" charset="-120"/>
              </a:rPr>
              <a:t>5-segment breakdown computed pre-call</a:t>
            </a:r>
            <a:endParaRPr lang="en-US" sz="950" dirty="0"/>
          </a:p>
        </p:txBody>
      </p:sp>
      <p:sp>
        <p:nvSpPr>
          <p:cNvPr id="23" name="Shape 21"/>
          <p:cNvSpPr/>
          <p:nvPr/>
        </p:nvSpPr>
        <p:spPr>
          <a:xfrm>
            <a:off x="457200" y="2688336"/>
            <a:ext cx="320040" cy="320040"/>
          </a:xfrm>
          <a:prstGeom prst="ellipse">
            <a:avLst/>
          </a:prstGeom>
          <a:solidFill>
            <a:srgbClr val="00B4D8"/>
          </a:solidFill>
          <a:ln w="12700">
            <a:solidFill>
              <a:srgbClr val="00B4D8"/>
            </a:solidFill>
            <a:prstDash val="solid"/>
          </a:ln>
        </p:spPr>
      </p:sp>
      <p:sp>
        <p:nvSpPr>
          <p:cNvPr id="24" name="Text 22"/>
          <p:cNvSpPr/>
          <p:nvPr/>
        </p:nvSpPr>
        <p:spPr>
          <a:xfrm>
            <a:off x="457200" y="2688336"/>
            <a:ext cx="320040" cy="320040"/>
          </a:xfrm>
          <a:prstGeom prst="rect">
            <a:avLst/>
          </a:prstGeom>
          <a:noFill/>
          <a:ln/>
        </p:spPr>
        <p:txBody>
          <a:bodyPr wrap="square" lIns="0" tIns="0" rIns="0" bIns="0" rtlCol="0" anchor="ctr"/>
          <a:lstStyle/>
          <a:p>
            <a:pPr algn="ctr" indent="0" marL="0">
              <a:buNone/>
            </a:pPr>
            <a:r>
              <a:rPr lang="en-US" sz="1100" b="1" dirty="0">
                <a:solidFill>
                  <a:srgbClr val="0A1628"/>
                </a:solidFill>
                <a:latin typeface="Calibri" pitchFamily="34" charset="0"/>
                <a:ea typeface="Calibri" pitchFamily="34" charset="-122"/>
                <a:cs typeface="Calibri" pitchFamily="34" charset="-120"/>
              </a:rPr>
              <a:t>4</a:t>
            </a:r>
            <a:endParaRPr lang="en-US" sz="1100" dirty="0"/>
          </a:p>
        </p:txBody>
      </p:sp>
      <p:sp>
        <p:nvSpPr>
          <p:cNvPr id="25" name="Shape 23"/>
          <p:cNvSpPr/>
          <p:nvPr/>
        </p:nvSpPr>
        <p:spPr>
          <a:xfrm>
            <a:off x="617220" y="3008376"/>
            <a:ext cx="0" cy="246888"/>
          </a:xfrm>
          <a:prstGeom prst="line">
            <a:avLst/>
          </a:prstGeom>
          <a:noFill/>
          <a:ln w="19050">
            <a:solidFill>
              <a:srgbClr val="00B4D8"/>
            </a:solidFill>
            <a:prstDash val="solid"/>
          </a:ln>
        </p:spPr>
      </p:sp>
      <p:sp>
        <p:nvSpPr>
          <p:cNvPr id="26" name="Shape 24"/>
          <p:cNvSpPr/>
          <p:nvPr/>
        </p:nvSpPr>
        <p:spPr>
          <a:xfrm>
            <a:off x="960120" y="2633472"/>
            <a:ext cx="7726680" cy="475488"/>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2000"/>
              </a:srgbClr>
            </a:outerShdw>
          </a:effectLst>
        </p:spPr>
      </p:sp>
      <p:sp>
        <p:nvSpPr>
          <p:cNvPr id="27" name="Text 25"/>
          <p:cNvSpPr/>
          <p:nvPr/>
        </p:nvSpPr>
        <p:spPr>
          <a:xfrm>
            <a:off x="1078992" y="2679192"/>
            <a:ext cx="7406640" cy="219456"/>
          </a:xfrm>
          <a:prstGeom prst="rect">
            <a:avLst/>
          </a:prstGeom>
          <a:noFill/>
          <a:ln/>
        </p:spPr>
        <p:txBody>
          <a:bodyPr wrap="square" lIns="0" tIns="0" rIns="0" bIns="0" rtlCol="0" anchor="ctr"/>
          <a:lstStyle/>
          <a:p>
            <a:pPr indent="0" marL="0">
              <a:buNone/>
            </a:pPr>
            <a:r>
              <a:rPr lang="en-US" sz="1100" b="1" dirty="0">
                <a:solidFill>
                  <a:srgbClr val="0A1628"/>
                </a:solidFill>
                <a:latin typeface="Calibri" pitchFamily="34" charset="0"/>
                <a:ea typeface="Calibri" pitchFamily="34" charset="-122"/>
                <a:cs typeface="Calibri" pitchFamily="34" charset="-120"/>
              </a:rPr>
              <a:t>Phase 5: Optimizer evaluates</a:t>
            </a:r>
            <a:endParaRPr lang="en-US" sz="1100" dirty="0"/>
          </a:p>
        </p:txBody>
      </p:sp>
      <p:sp>
        <p:nvSpPr>
          <p:cNvPr id="28" name="Text 26"/>
          <p:cNvSpPr/>
          <p:nvPr/>
        </p:nvSpPr>
        <p:spPr>
          <a:xfrm>
            <a:off x="1078992" y="2889504"/>
            <a:ext cx="7406640" cy="182880"/>
          </a:xfrm>
          <a:prstGeom prst="rect">
            <a:avLst/>
          </a:prstGeom>
          <a:noFill/>
          <a:ln/>
        </p:spPr>
        <p:txBody>
          <a:bodyPr wrap="square" lIns="0" tIns="0" rIns="0" bIns="0" rtlCol="0" anchor="ctr"/>
          <a:lstStyle/>
          <a:p>
            <a:pPr indent="0" marL="0">
              <a:buNone/>
            </a:pPr>
            <a:r>
              <a:rPr lang="en-US" sz="950" dirty="0">
                <a:solidFill>
                  <a:srgbClr val="4A5568"/>
                </a:solidFill>
                <a:latin typeface="Calibri" pitchFamily="34" charset="0"/>
                <a:ea typeface="Calibri" pitchFamily="34" charset="-122"/>
                <a:cs typeface="Calibri" pitchFamily="34" charset="-120"/>
              </a:rPr>
              <a:t>Route model, check cache, throttle if needed</a:t>
            </a:r>
            <a:endParaRPr lang="en-US" sz="950" dirty="0"/>
          </a:p>
        </p:txBody>
      </p:sp>
      <p:sp>
        <p:nvSpPr>
          <p:cNvPr id="29" name="Shape 27"/>
          <p:cNvSpPr/>
          <p:nvPr/>
        </p:nvSpPr>
        <p:spPr>
          <a:xfrm>
            <a:off x="457200" y="3246120"/>
            <a:ext cx="320040" cy="320040"/>
          </a:xfrm>
          <a:prstGeom prst="ellipse">
            <a:avLst/>
          </a:prstGeom>
          <a:solidFill>
            <a:srgbClr val="00B4D8"/>
          </a:solidFill>
          <a:ln w="12700">
            <a:solidFill>
              <a:srgbClr val="00B4D8"/>
            </a:solidFill>
            <a:prstDash val="solid"/>
          </a:ln>
        </p:spPr>
      </p:sp>
      <p:sp>
        <p:nvSpPr>
          <p:cNvPr id="30" name="Text 28"/>
          <p:cNvSpPr/>
          <p:nvPr/>
        </p:nvSpPr>
        <p:spPr>
          <a:xfrm>
            <a:off x="457200" y="3246120"/>
            <a:ext cx="320040" cy="320040"/>
          </a:xfrm>
          <a:prstGeom prst="rect">
            <a:avLst/>
          </a:prstGeom>
          <a:noFill/>
          <a:ln/>
        </p:spPr>
        <p:txBody>
          <a:bodyPr wrap="square" lIns="0" tIns="0" rIns="0" bIns="0" rtlCol="0" anchor="ctr"/>
          <a:lstStyle/>
          <a:p>
            <a:pPr algn="ctr" indent="0" marL="0">
              <a:buNone/>
            </a:pPr>
            <a:r>
              <a:rPr lang="en-US" sz="1100" b="1" dirty="0">
                <a:solidFill>
                  <a:srgbClr val="0A1628"/>
                </a:solidFill>
                <a:latin typeface="Calibri" pitchFamily="34" charset="0"/>
                <a:ea typeface="Calibri" pitchFamily="34" charset="-122"/>
                <a:cs typeface="Calibri" pitchFamily="34" charset="-120"/>
              </a:rPr>
              <a:t>5</a:t>
            </a:r>
            <a:endParaRPr lang="en-US" sz="1100" dirty="0"/>
          </a:p>
        </p:txBody>
      </p:sp>
      <p:sp>
        <p:nvSpPr>
          <p:cNvPr id="31" name="Shape 29"/>
          <p:cNvSpPr/>
          <p:nvPr/>
        </p:nvSpPr>
        <p:spPr>
          <a:xfrm>
            <a:off x="617220" y="3566160"/>
            <a:ext cx="0" cy="246888"/>
          </a:xfrm>
          <a:prstGeom prst="line">
            <a:avLst/>
          </a:prstGeom>
          <a:noFill/>
          <a:ln w="19050">
            <a:solidFill>
              <a:srgbClr val="00B4D8"/>
            </a:solidFill>
            <a:prstDash val="solid"/>
          </a:ln>
        </p:spPr>
      </p:sp>
      <p:sp>
        <p:nvSpPr>
          <p:cNvPr id="32" name="Shape 30"/>
          <p:cNvSpPr/>
          <p:nvPr/>
        </p:nvSpPr>
        <p:spPr>
          <a:xfrm>
            <a:off x="960120" y="3191256"/>
            <a:ext cx="7726680" cy="475488"/>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2000"/>
              </a:srgbClr>
            </a:outerShdw>
          </a:effectLst>
        </p:spPr>
      </p:sp>
      <p:sp>
        <p:nvSpPr>
          <p:cNvPr id="33" name="Text 31"/>
          <p:cNvSpPr/>
          <p:nvPr/>
        </p:nvSpPr>
        <p:spPr>
          <a:xfrm>
            <a:off x="1078992" y="3236976"/>
            <a:ext cx="7406640" cy="219456"/>
          </a:xfrm>
          <a:prstGeom prst="rect">
            <a:avLst/>
          </a:prstGeom>
          <a:noFill/>
          <a:ln/>
        </p:spPr>
        <p:txBody>
          <a:bodyPr wrap="square" lIns="0" tIns="0" rIns="0" bIns="0" rtlCol="0" anchor="ctr"/>
          <a:lstStyle/>
          <a:p>
            <a:pPr indent="0" marL="0">
              <a:buNone/>
            </a:pPr>
            <a:r>
              <a:rPr lang="en-US" sz="1100" b="1" dirty="0">
                <a:solidFill>
                  <a:srgbClr val="0A1628"/>
                </a:solidFill>
                <a:latin typeface="Calibri" pitchFamily="34" charset="0"/>
                <a:ea typeface="Calibri" pitchFamily="34" charset="-122"/>
                <a:cs typeface="Calibri" pitchFamily="34" charset="-120"/>
              </a:rPr>
              <a:t>Anthropic API call</a:t>
            </a:r>
            <a:endParaRPr lang="en-US" sz="1100" dirty="0"/>
          </a:p>
        </p:txBody>
      </p:sp>
      <p:sp>
        <p:nvSpPr>
          <p:cNvPr id="34" name="Text 32"/>
          <p:cNvSpPr/>
          <p:nvPr/>
        </p:nvSpPr>
        <p:spPr>
          <a:xfrm>
            <a:off x="1078992" y="3447288"/>
            <a:ext cx="7406640" cy="182880"/>
          </a:xfrm>
          <a:prstGeom prst="rect">
            <a:avLst/>
          </a:prstGeom>
          <a:noFill/>
          <a:ln/>
        </p:spPr>
        <p:txBody>
          <a:bodyPr wrap="square" lIns="0" tIns="0" rIns="0" bIns="0" rtlCol="0" anchor="ctr"/>
          <a:lstStyle/>
          <a:p>
            <a:pPr indent="0" marL="0">
              <a:buNone/>
            </a:pPr>
            <a:r>
              <a:rPr lang="en-US" sz="950" dirty="0">
                <a:solidFill>
                  <a:srgbClr val="4A5568"/>
                </a:solidFill>
                <a:latin typeface="Calibri" pitchFamily="34" charset="0"/>
                <a:ea typeface="Calibri" pitchFamily="34" charset="-122"/>
                <a:cs typeface="Calibri" pitchFamily="34" charset="-120"/>
              </a:rPr>
              <a:t>Proxy intercepts — captures exact token counts</a:t>
            </a:r>
            <a:endParaRPr lang="en-US" sz="950" dirty="0"/>
          </a:p>
        </p:txBody>
      </p:sp>
      <p:sp>
        <p:nvSpPr>
          <p:cNvPr id="35" name="Shape 33"/>
          <p:cNvSpPr/>
          <p:nvPr/>
        </p:nvSpPr>
        <p:spPr>
          <a:xfrm>
            <a:off x="457200" y="3803904"/>
            <a:ext cx="320040" cy="320040"/>
          </a:xfrm>
          <a:prstGeom prst="ellipse">
            <a:avLst/>
          </a:prstGeom>
          <a:solidFill>
            <a:srgbClr val="00B4D8"/>
          </a:solidFill>
          <a:ln w="12700">
            <a:solidFill>
              <a:srgbClr val="00B4D8"/>
            </a:solidFill>
            <a:prstDash val="solid"/>
          </a:ln>
        </p:spPr>
      </p:sp>
      <p:sp>
        <p:nvSpPr>
          <p:cNvPr id="36" name="Text 34"/>
          <p:cNvSpPr/>
          <p:nvPr/>
        </p:nvSpPr>
        <p:spPr>
          <a:xfrm>
            <a:off x="457200" y="3803904"/>
            <a:ext cx="320040" cy="320040"/>
          </a:xfrm>
          <a:prstGeom prst="rect">
            <a:avLst/>
          </a:prstGeom>
          <a:noFill/>
          <a:ln/>
        </p:spPr>
        <p:txBody>
          <a:bodyPr wrap="square" lIns="0" tIns="0" rIns="0" bIns="0" rtlCol="0" anchor="ctr"/>
          <a:lstStyle/>
          <a:p>
            <a:pPr algn="ctr" indent="0" marL="0">
              <a:buNone/>
            </a:pPr>
            <a:r>
              <a:rPr lang="en-US" sz="1100" b="1" dirty="0">
                <a:solidFill>
                  <a:srgbClr val="0A1628"/>
                </a:solidFill>
                <a:latin typeface="Calibri" pitchFamily="34" charset="0"/>
                <a:ea typeface="Calibri" pitchFamily="34" charset="-122"/>
                <a:cs typeface="Calibri" pitchFamily="34" charset="-120"/>
              </a:rPr>
              <a:t>6</a:t>
            </a:r>
            <a:endParaRPr lang="en-US" sz="1100" dirty="0"/>
          </a:p>
        </p:txBody>
      </p:sp>
      <p:sp>
        <p:nvSpPr>
          <p:cNvPr id="37" name="Shape 35"/>
          <p:cNvSpPr/>
          <p:nvPr/>
        </p:nvSpPr>
        <p:spPr>
          <a:xfrm>
            <a:off x="617220" y="4123944"/>
            <a:ext cx="0" cy="246888"/>
          </a:xfrm>
          <a:prstGeom prst="line">
            <a:avLst/>
          </a:prstGeom>
          <a:noFill/>
          <a:ln w="19050">
            <a:solidFill>
              <a:srgbClr val="00B4D8"/>
            </a:solidFill>
            <a:prstDash val="solid"/>
          </a:ln>
        </p:spPr>
      </p:sp>
      <p:sp>
        <p:nvSpPr>
          <p:cNvPr id="38" name="Shape 36"/>
          <p:cNvSpPr/>
          <p:nvPr/>
        </p:nvSpPr>
        <p:spPr>
          <a:xfrm>
            <a:off x="960120" y="3749040"/>
            <a:ext cx="7726680" cy="475488"/>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2000"/>
              </a:srgbClr>
            </a:outerShdw>
          </a:effectLst>
        </p:spPr>
      </p:sp>
      <p:sp>
        <p:nvSpPr>
          <p:cNvPr id="39" name="Text 37"/>
          <p:cNvSpPr/>
          <p:nvPr/>
        </p:nvSpPr>
        <p:spPr>
          <a:xfrm>
            <a:off x="1078992" y="3794760"/>
            <a:ext cx="7406640" cy="219456"/>
          </a:xfrm>
          <a:prstGeom prst="rect">
            <a:avLst/>
          </a:prstGeom>
          <a:noFill/>
          <a:ln/>
        </p:spPr>
        <p:txBody>
          <a:bodyPr wrap="square" lIns="0" tIns="0" rIns="0" bIns="0" rtlCol="0" anchor="ctr"/>
          <a:lstStyle/>
          <a:p>
            <a:pPr indent="0" marL="0">
              <a:buNone/>
            </a:pPr>
            <a:r>
              <a:rPr lang="en-US" sz="1100" b="1" dirty="0">
                <a:solidFill>
                  <a:srgbClr val="0A1628"/>
                </a:solidFill>
                <a:latin typeface="Calibri" pitchFamily="34" charset="0"/>
                <a:ea typeface="Calibri" pitchFamily="34" charset="-122"/>
                <a:cs typeface="Calibri" pitchFamily="34" charset="-120"/>
              </a:rPr>
              <a:t>Phase 2–3: Cost recorded async</a:t>
            </a:r>
            <a:endParaRPr lang="en-US" sz="1100" dirty="0"/>
          </a:p>
        </p:txBody>
      </p:sp>
      <p:sp>
        <p:nvSpPr>
          <p:cNvPr id="40" name="Text 38"/>
          <p:cNvSpPr/>
          <p:nvPr/>
        </p:nvSpPr>
        <p:spPr>
          <a:xfrm>
            <a:off x="1078992" y="4005072"/>
            <a:ext cx="7406640" cy="182880"/>
          </a:xfrm>
          <a:prstGeom prst="rect">
            <a:avLst/>
          </a:prstGeom>
          <a:noFill/>
          <a:ln/>
        </p:spPr>
        <p:txBody>
          <a:bodyPr wrap="square" lIns="0" tIns="0" rIns="0" bIns="0" rtlCol="0" anchor="ctr"/>
          <a:lstStyle/>
          <a:p>
            <a:pPr indent="0" marL="0">
              <a:buNone/>
            </a:pPr>
            <a:r>
              <a:rPr lang="en-US" sz="950" dirty="0">
                <a:solidFill>
                  <a:srgbClr val="4A5568"/>
                </a:solidFill>
                <a:latin typeface="Calibri" pitchFamily="34" charset="0"/>
                <a:ea typeface="Calibri" pitchFamily="34" charset="-122"/>
                <a:cs typeface="Calibri" pitchFamily="34" charset="-120"/>
              </a:rPr>
              <a:t>AriaCallRecord saved to pgvector trajectory store</a:t>
            </a:r>
            <a:endParaRPr lang="en-US" sz="950" dirty="0"/>
          </a:p>
        </p:txBody>
      </p:sp>
      <p:sp>
        <p:nvSpPr>
          <p:cNvPr id="41" name="Shape 39"/>
          <p:cNvSpPr/>
          <p:nvPr/>
        </p:nvSpPr>
        <p:spPr>
          <a:xfrm>
            <a:off x="457200" y="4361688"/>
            <a:ext cx="320040" cy="320040"/>
          </a:xfrm>
          <a:prstGeom prst="ellipse">
            <a:avLst/>
          </a:prstGeom>
          <a:solidFill>
            <a:srgbClr val="00B4D8"/>
          </a:solidFill>
          <a:ln w="12700">
            <a:solidFill>
              <a:srgbClr val="00B4D8"/>
            </a:solidFill>
            <a:prstDash val="solid"/>
          </a:ln>
        </p:spPr>
      </p:sp>
      <p:sp>
        <p:nvSpPr>
          <p:cNvPr id="42" name="Text 40"/>
          <p:cNvSpPr/>
          <p:nvPr/>
        </p:nvSpPr>
        <p:spPr>
          <a:xfrm>
            <a:off x="457200" y="4361688"/>
            <a:ext cx="320040" cy="320040"/>
          </a:xfrm>
          <a:prstGeom prst="rect">
            <a:avLst/>
          </a:prstGeom>
          <a:noFill/>
          <a:ln/>
        </p:spPr>
        <p:txBody>
          <a:bodyPr wrap="square" lIns="0" tIns="0" rIns="0" bIns="0" rtlCol="0" anchor="ctr"/>
          <a:lstStyle/>
          <a:p>
            <a:pPr algn="ctr" indent="0" marL="0">
              <a:buNone/>
            </a:pPr>
            <a:r>
              <a:rPr lang="en-US" sz="1100" b="1" dirty="0">
                <a:solidFill>
                  <a:srgbClr val="0A1628"/>
                </a:solidFill>
                <a:latin typeface="Calibri" pitchFamily="34" charset="0"/>
                <a:ea typeface="Calibri" pitchFamily="34" charset="-122"/>
                <a:cs typeface="Calibri" pitchFamily="34" charset="-120"/>
              </a:rPr>
              <a:t>7</a:t>
            </a:r>
            <a:endParaRPr lang="en-US" sz="1100" dirty="0"/>
          </a:p>
        </p:txBody>
      </p:sp>
      <p:sp>
        <p:nvSpPr>
          <p:cNvPr id="43" name="Shape 41"/>
          <p:cNvSpPr/>
          <p:nvPr/>
        </p:nvSpPr>
        <p:spPr>
          <a:xfrm>
            <a:off x="960120" y="4306824"/>
            <a:ext cx="7726680" cy="475488"/>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2000"/>
              </a:srgbClr>
            </a:outerShdw>
          </a:effectLst>
        </p:spPr>
      </p:sp>
      <p:sp>
        <p:nvSpPr>
          <p:cNvPr id="44" name="Text 42"/>
          <p:cNvSpPr/>
          <p:nvPr/>
        </p:nvSpPr>
        <p:spPr>
          <a:xfrm>
            <a:off x="1078992" y="4352544"/>
            <a:ext cx="7406640" cy="219456"/>
          </a:xfrm>
          <a:prstGeom prst="rect">
            <a:avLst/>
          </a:prstGeom>
          <a:noFill/>
          <a:ln/>
        </p:spPr>
        <p:txBody>
          <a:bodyPr wrap="square" lIns="0" tIns="0" rIns="0" bIns="0" rtlCol="0" anchor="ctr"/>
          <a:lstStyle/>
          <a:p>
            <a:pPr indent="0" marL="0">
              <a:buNone/>
            </a:pPr>
            <a:r>
              <a:rPr lang="en-US" sz="1100" b="1" dirty="0">
                <a:solidFill>
                  <a:srgbClr val="0A1628"/>
                </a:solidFill>
                <a:latin typeface="Calibri" pitchFamily="34" charset="0"/>
                <a:ea typeface="Calibri" pitchFamily="34" charset="-122"/>
                <a:cs typeface="Calibri" pitchFamily="34" charset="-120"/>
              </a:rPr>
              <a:t>Phase 4–6: Dashboard updates</a:t>
            </a:r>
            <a:endParaRPr lang="en-US" sz="1100" dirty="0"/>
          </a:p>
        </p:txBody>
      </p:sp>
      <p:sp>
        <p:nvSpPr>
          <p:cNvPr id="45" name="Text 43"/>
          <p:cNvSpPr/>
          <p:nvPr/>
        </p:nvSpPr>
        <p:spPr>
          <a:xfrm>
            <a:off x="1078992" y="4562856"/>
            <a:ext cx="7406640" cy="182880"/>
          </a:xfrm>
          <a:prstGeom prst="rect">
            <a:avLst/>
          </a:prstGeom>
          <a:noFill/>
          <a:ln/>
        </p:spPr>
        <p:txBody>
          <a:bodyPr wrap="square" lIns="0" tIns="0" rIns="0" bIns="0" rtlCol="0" anchor="ctr"/>
          <a:lstStyle/>
          <a:p>
            <a:pPr indent="0" marL="0">
              <a:buNone/>
            </a:pPr>
            <a:r>
              <a:rPr lang="en-US" sz="950" dirty="0">
                <a:solidFill>
                  <a:srgbClr val="4A5568"/>
                </a:solidFill>
                <a:latin typeface="Calibri" pitchFamily="34" charset="0"/>
                <a:ea typeface="Calibri" pitchFamily="34" charset="-122"/>
                <a:cs typeface="Calibri" pitchFamily="34" charset="-120"/>
              </a:rPr>
              <a:t>React polls APIs every 3s — live cost visibility</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457200" y="137160"/>
            <a:ext cx="2011680" cy="256032"/>
          </a:xfrm>
          <a:prstGeom prst="roundRect">
            <a:avLst>
              <a:gd name="adj" fmla="val 17857"/>
            </a:avLst>
          </a:prstGeom>
          <a:solidFill>
            <a:srgbClr val="00B4D8"/>
          </a:solidFill>
          <a:ln w="12700">
            <a:solidFill>
              <a:srgbClr val="00B4D8"/>
            </a:solidFill>
            <a:prstDash val="solid"/>
          </a:ln>
        </p:spPr>
      </p:sp>
      <p:sp>
        <p:nvSpPr>
          <p:cNvPr id="3" name="Text 1"/>
          <p:cNvSpPr/>
          <p:nvPr/>
        </p:nvSpPr>
        <p:spPr>
          <a:xfrm>
            <a:off x="457200" y="137160"/>
            <a:ext cx="2011680" cy="256032"/>
          </a:xfrm>
          <a:prstGeom prst="rect">
            <a:avLst/>
          </a:prstGeom>
          <a:noFill/>
          <a:ln/>
        </p:spPr>
        <p:txBody>
          <a:bodyPr wrap="square" lIns="0" tIns="0" rIns="0" bIns="0" rtlCol="0" anchor="ctr"/>
          <a:lstStyle/>
          <a:p>
            <a:pPr algn="ctr" indent="0" marL="0">
              <a:buNone/>
            </a:pPr>
            <a:r>
              <a:rPr lang="en-US" sz="800" b="1" dirty="0">
                <a:solidFill>
                  <a:srgbClr val="0A1628"/>
                </a:solidFill>
                <a:latin typeface="Calibri" pitchFamily="34" charset="0"/>
                <a:ea typeface="Calibri" pitchFamily="34" charset="-122"/>
                <a:cs typeface="Calibri" pitchFamily="34" charset="-120"/>
              </a:rPr>
              <a:t>TEAM PLAN</a:t>
            </a:r>
            <a:endParaRPr lang="en-US" sz="800" dirty="0"/>
          </a:p>
        </p:txBody>
      </p:sp>
      <p:sp>
        <p:nvSpPr>
          <p:cNvPr id="4" name="Text 2"/>
          <p:cNvSpPr/>
          <p:nvPr/>
        </p:nvSpPr>
        <p:spPr>
          <a:xfrm>
            <a:off x="457200" y="502920"/>
            <a:ext cx="8229600" cy="457200"/>
          </a:xfrm>
          <a:prstGeom prst="rect">
            <a:avLst/>
          </a:prstGeom>
          <a:noFill/>
          <a:ln/>
        </p:spPr>
        <p:txBody>
          <a:bodyPr wrap="square" lIns="0" tIns="0" rIns="0" bIns="0" rtlCol="0" anchor="ctr"/>
          <a:lstStyle/>
          <a:p>
            <a:pPr indent="0" marL="0">
              <a:buNone/>
            </a:pPr>
            <a:r>
              <a:rPr lang="en-US" sz="2200" b="1" dirty="0">
                <a:solidFill>
                  <a:srgbClr val="0A1628"/>
                </a:solidFill>
                <a:latin typeface="Calibri" pitchFamily="34" charset="0"/>
                <a:ea typeface="Calibri" pitchFamily="34" charset="-122"/>
                <a:cs typeface="Calibri" pitchFamily="34" charset="-120"/>
              </a:rPr>
              <a:t>Suggested Team Split — One Day Hackathon</a:t>
            </a:r>
            <a:endParaRPr lang="en-US" sz="2200" dirty="0"/>
          </a:p>
        </p:txBody>
      </p:sp>
      <p:sp>
        <p:nvSpPr>
          <p:cNvPr id="5" name="Shape 3"/>
          <p:cNvSpPr/>
          <p:nvPr/>
        </p:nvSpPr>
        <p:spPr>
          <a:xfrm>
            <a:off x="457200" y="960120"/>
            <a:ext cx="2697480" cy="3858768"/>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2000"/>
              </a:srgbClr>
            </a:outerShdw>
          </a:effectLst>
        </p:spPr>
      </p:sp>
      <p:sp>
        <p:nvSpPr>
          <p:cNvPr id="6" name="Shape 4"/>
          <p:cNvSpPr/>
          <p:nvPr/>
        </p:nvSpPr>
        <p:spPr>
          <a:xfrm>
            <a:off x="457200" y="960120"/>
            <a:ext cx="2697480" cy="438912"/>
          </a:xfrm>
          <a:prstGeom prst="rect">
            <a:avLst/>
          </a:prstGeom>
          <a:solidFill>
            <a:srgbClr val="00B4D8"/>
          </a:solidFill>
          <a:ln w="12700">
            <a:solidFill>
              <a:srgbClr val="00B4D8"/>
            </a:solidFill>
            <a:prstDash val="solid"/>
          </a:ln>
        </p:spPr>
      </p:sp>
      <p:sp>
        <p:nvSpPr>
          <p:cNvPr id="7" name="Text 5"/>
          <p:cNvSpPr/>
          <p:nvPr/>
        </p:nvSpPr>
        <p:spPr>
          <a:xfrm>
            <a:off x="548640" y="978408"/>
            <a:ext cx="25146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Track A — Backend Core</a:t>
            </a:r>
            <a:endParaRPr lang="en-US" sz="1000" dirty="0"/>
          </a:p>
        </p:txBody>
      </p:sp>
      <p:sp>
        <p:nvSpPr>
          <p:cNvPr id="8" name="Text 6"/>
          <p:cNvSpPr/>
          <p:nvPr/>
        </p:nvSpPr>
        <p:spPr>
          <a:xfrm>
            <a:off x="548640" y="1216152"/>
            <a:ext cx="2514600" cy="164592"/>
          </a:xfrm>
          <a:prstGeom prst="rect">
            <a:avLst/>
          </a:prstGeom>
          <a:noFill/>
          <a:ln/>
        </p:spPr>
        <p:txBody>
          <a:bodyPr wrap="square" lIns="0" tIns="0" rIns="0" bIns="0" rtlCol="0" anchor="ctr"/>
          <a:lstStyle/>
          <a:p>
            <a:pPr indent="0" marL="0">
              <a:buNone/>
            </a:pPr>
            <a:r>
              <a:rPr lang="en-US" sz="900" i="1" dirty="0">
                <a:solidFill>
                  <a:srgbClr val="FFFFFF"/>
                </a:solidFill>
                <a:latin typeface="Calibri" pitchFamily="34" charset="0"/>
                <a:ea typeface="Calibri" pitchFamily="34" charset="-122"/>
                <a:cs typeface="Calibri" pitchFamily="34" charset="-120"/>
              </a:rPr>
              <a:t>👥  2 developers</a:t>
            </a:r>
            <a:endParaRPr lang="en-US" sz="900" dirty="0"/>
          </a:p>
        </p:txBody>
      </p:sp>
      <p:sp>
        <p:nvSpPr>
          <p:cNvPr id="9" name="Text 7"/>
          <p:cNvSpPr/>
          <p:nvPr/>
        </p:nvSpPr>
        <p:spPr>
          <a:xfrm>
            <a:off x="548640" y="1490472"/>
            <a:ext cx="2514600" cy="438912"/>
          </a:xfrm>
          <a:prstGeom prst="rect">
            <a:avLst/>
          </a:prstGeom>
          <a:noFill/>
          <a:ln/>
        </p:spPr>
        <p:txBody>
          <a:bodyPr wrap="square" rtlCol="0" anchor="ctr"/>
          <a:lstStyle/>
          <a:p>
            <a:pPr marL="342900" indent="-342900">
              <a:buSzPct val="100000"/>
              <a:buChar char="•"/>
            </a:pPr>
            <a:r>
              <a:rPr lang="en-US" sz="950" dirty="0">
                <a:solidFill>
                  <a:srgbClr val="4A5568"/>
                </a:solidFill>
                <a:latin typeface="Calibri" pitchFamily="34" charset="0"/>
                <a:ea typeface="Calibri" pitchFamily="34" charset="-122"/>
                <a:cs typeface="Calibri" pitchFamily="34" charset="-120"/>
              </a:rPr>
              <a:t>Setup Spring Boot 3 + Spring AI + pgvector</a:t>
            </a:r>
            <a:endParaRPr lang="en-US" sz="950" dirty="0"/>
          </a:p>
        </p:txBody>
      </p:sp>
      <p:sp>
        <p:nvSpPr>
          <p:cNvPr id="10" name="Text 8"/>
          <p:cNvSpPr/>
          <p:nvPr/>
        </p:nvSpPr>
        <p:spPr>
          <a:xfrm>
            <a:off x="548640" y="1984248"/>
            <a:ext cx="2514600" cy="438912"/>
          </a:xfrm>
          <a:prstGeom prst="rect">
            <a:avLst/>
          </a:prstGeom>
          <a:noFill/>
          <a:ln/>
        </p:spPr>
        <p:txBody>
          <a:bodyPr wrap="square" rtlCol="0" anchor="ctr"/>
          <a:lstStyle/>
          <a:p>
            <a:pPr marL="342900" indent="-342900">
              <a:buSzPct val="100000"/>
              <a:buChar char="•"/>
            </a:pPr>
            <a:r>
              <a:rPr lang="en-US" sz="950" dirty="0">
                <a:solidFill>
                  <a:srgbClr val="4A5568"/>
                </a:solidFill>
                <a:latin typeface="Calibri" pitchFamily="34" charset="0"/>
                <a:ea typeface="Calibri" pitchFamily="34" charset="-122"/>
                <a:cs typeface="Calibri" pitchFamily="34" charset="-120"/>
              </a:rPr>
              <a:t>Implement AriaContextTokenService (Phase 1)</a:t>
            </a:r>
            <a:endParaRPr lang="en-US" sz="950" dirty="0"/>
          </a:p>
        </p:txBody>
      </p:sp>
      <p:sp>
        <p:nvSpPr>
          <p:cNvPr id="11" name="Text 9"/>
          <p:cNvSpPr/>
          <p:nvPr/>
        </p:nvSpPr>
        <p:spPr>
          <a:xfrm>
            <a:off x="548640" y="2478024"/>
            <a:ext cx="2514600" cy="438912"/>
          </a:xfrm>
          <a:prstGeom prst="rect">
            <a:avLst/>
          </a:prstGeom>
          <a:noFill/>
          <a:ln/>
        </p:spPr>
        <p:txBody>
          <a:bodyPr wrap="square" rtlCol="0" anchor="ctr"/>
          <a:lstStyle/>
          <a:p>
            <a:pPr marL="342900" indent="-342900">
              <a:buSzPct val="100000"/>
              <a:buChar char="•"/>
            </a:pPr>
            <a:r>
              <a:rPr lang="en-US" sz="950" dirty="0">
                <a:solidFill>
                  <a:srgbClr val="4A5568"/>
                </a:solidFill>
                <a:latin typeface="Calibri" pitchFamily="34" charset="0"/>
                <a:ea typeface="Calibri" pitchFamily="34" charset="-122"/>
                <a:cs typeface="Calibri" pitchFamily="34" charset="-120"/>
              </a:rPr>
              <a:t>Implement AriaProxyInterceptor (Phase 2)</a:t>
            </a:r>
            <a:endParaRPr lang="en-US" sz="950" dirty="0"/>
          </a:p>
        </p:txBody>
      </p:sp>
      <p:sp>
        <p:nvSpPr>
          <p:cNvPr id="12" name="Text 10"/>
          <p:cNvSpPr/>
          <p:nvPr/>
        </p:nvSpPr>
        <p:spPr>
          <a:xfrm>
            <a:off x="548640" y="2971800"/>
            <a:ext cx="2514600" cy="438912"/>
          </a:xfrm>
          <a:prstGeom prst="rect">
            <a:avLst/>
          </a:prstGeom>
          <a:noFill/>
          <a:ln/>
        </p:spPr>
        <p:txBody>
          <a:bodyPr wrap="square" rtlCol="0" anchor="ctr"/>
          <a:lstStyle/>
          <a:p>
            <a:pPr marL="342900" indent="-342900">
              <a:buSzPct val="100000"/>
              <a:buChar char="•"/>
            </a:pPr>
            <a:r>
              <a:rPr lang="en-US" sz="950" dirty="0">
                <a:solidFill>
                  <a:srgbClr val="4A5568"/>
                </a:solidFill>
                <a:latin typeface="Calibri" pitchFamily="34" charset="0"/>
                <a:ea typeface="Calibri" pitchFamily="34" charset="-122"/>
                <a:cs typeface="Calibri" pitchFamily="34" charset="-120"/>
              </a:rPr>
              <a:t>Run DB schema migration, wire AriaTrajectoryStore (Phase 3)</a:t>
            </a:r>
            <a:endParaRPr lang="en-US" sz="950" dirty="0"/>
          </a:p>
        </p:txBody>
      </p:sp>
      <p:sp>
        <p:nvSpPr>
          <p:cNvPr id="13" name="Text 11"/>
          <p:cNvSpPr/>
          <p:nvPr/>
        </p:nvSpPr>
        <p:spPr>
          <a:xfrm>
            <a:off x="548640" y="3465576"/>
            <a:ext cx="2514600" cy="438912"/>
          </a:xfrm>
          <a:prstGeom prst="rect">
            <a:avLst/>
          </a:prstGeom>
          <a:noFill/>
          <a:ln/>
        </p:spPr>
        <p:txBody>
          <a:bodyPr wrap="square" rtlCol="0" anchor="ctr"/>
          <a:lstStyle/>
          <a:p>
            <a:pPr marL="342900" indent="-342900">
              <a:buSzPct val="100000"/>
              <a:buChar char="•"/>
            </a:pPr>
            <a:r>
              <a:rPr lang="en-US" sz="950" dirty="0">
                <a:solidFill>
                  <a:srgbClr val="4A5568"/>
                </a:solidFill>
                <a:latin typeface="Calibri" pitchFamily="34" charset="0"/>
                <a:ea typeface="Calibri" pitchFamily="34" charset="-122"/>
                <a:cs typeface="Calibri" pitchFamily="34" charset="-120"/>
              </a:rPr>
              <a:t>Build AriaCostController + AriaBudgetService (Phase 4)</a:t>
            </a:r>
            <a:endParaRPr lang="en-US" sz="950" dirty="0"/>
          </a:p>
        </p:txBody>
      </p:sp>
      <p:sp>
        <p:nvSpPr>
          <p:cNvPr id="14" name="Shape 12"/>
          <p:cNvSpPr/>
          <p:nvPr/>
        </p:nvSpPr>
        <p:spPr>
          <a:xfrm>
            <a:off x="3355848" y="960120"/>
            <a:ext cx="2697480" cy="3858768"/>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2000"/>
              </a:srgbClr>
            </a:outerShdw>
          </a:effectLst>
        </p:spPr>
      </p:sp>
      <p:sp>
        <p:nvSpPr>
          <p:cNvPr id="15" name="Shape 13"/>
          <p:cNvSpPr/>
          <p:nvPr/>
        </p:nvSpPr>
        <p:spPr>
          <a:xfrm>
            <a:off x="3355848" y="960120"/>
            <a:ext cx="2697480" cy="438912"/>
          </a:xfrm>
          <a:prstGeom prst="rect">
            <a:avLst/>
          </a:prstGeom>
          <a:solidFill>
            <a:srgbClr val="0077A8"/>
          </a:solidFill>
          <a:ln w="12700">
            <a:solidFill>
              <a:srgbClr val="0077A8"/>
            </a:solidFill>
            <a:prstDash val="solid"/>
          </a:ln>
        </p:spPr>
      </p:sp>
      <p:sp>
        <p:nvSpPr>
          <p:cNvPr id="16" name="Text 14"/>
          <p:cNvSpPr/>
          <p:nvPr/>
        </p:nvSpPr>
        <p:spPr>
          <a:xfrm>
            <a:off x="3447288" y="978408"/>
            <a:ext cx="25146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Track B — Frontend + APIs</a:t>
            </a:r>
            <a:endParaRPr lang="en-US" sz="1000" dirty="0"/>
          </a:p>
        </p:txBody>
      </p:sp>
      <p:sp>
        <p:nvSpPr>
          <p:cNvPr id="17" name="Text 15"/>
          <p:cNvSpPr/>
          <p:nvPr/>
        </p:nvSpPr>
        <p:spPr>
          <a:xfrm>
            <a:off x="3447288" y="1216152"/>
            <a:ext cx="2514600" cy="164592"/>
          </a:xfrm>
          <a:prstGeom prst="rect">
            <a:avLst/>
          </a:prstGeom>
          <a:noFill/>
          <a:ln/>
        </p:spPr>
        <p:txBody>
          <a:bodyPr wrap="square" lIns="0" tIns="0" rIns="0" bIns="0" rtlCol="0" anchor="ctr"/>
          <a:lstStyle/>
          <a:p>
            <a:pPr indent="0" marL="0">
              <a:buNone/>
            </a:pPr>
            <a:r>
              <a:rPr lang="en-US" sz="900" i="1" dirty="0">
                <a:solidFill>
                  <a:srgbClr val="FFFFFF"/>
                </a:solidFill>
                <a:latin typeface="Calibri" pitchFamily="34" charset="0"/>
                <a:ea typeface="Calibri" pitchFamily="34" charset="-122"/>
                <a:cs typeface="Calibri" pitchFamily="34" charset="-120"/>
              </a:rPr>
              <a:t>👥  1–2 developers</a:t>
            </a:r>
            <a:endParaRPr lang="en-US" sz="900" dirty="0"/>
          </a:p>
        </p:txBody>
      </p:sp>
      <p:sp>
        <p:nvSpPr>
          <p:cNvPr id="18" name="Text 16"/>
          <p:cNvSpPr/>
          <p:nvPr/>
        </p:nvSpPr>
        <p:spPr>
          <a:xfrm>
            <a:off x="3447288" y="1490472"/>
            <a:ext cx="2514600" cy="438912"/>
          </a:xfrm>
          <a:prstGeom prst="rect">
            <a:avLst/>
          </a:prstGeom>
          <a:noFill/>
          <a:ln/>
        </p:spPr>
        <p:txBody>
          <a:bodyPr wrap="square" rtlCol="0" anchor="ctr"/>
          <a:lstStyle/>
          <a:p>
            <a:pPr marL="342900" indent="-342900">
              <a:buSzPct val="100000"/>
              <a:buChar char="•"/>
            </a:pPr>
            <a:r>
              <a:rPr lang="en-US" sz="950" dirty="0">
                <a:solidFill>
                  <a:srgbClr val="4A5568"/>
                </a:solidFill>
                <a:latin typeface="Calibri" pitchFamily="34" charset="0"/>
                <a:ea typeface="Calibri" pitchFamily="34" charset="-122"/>
                <a:cs typeface="Calibri" pitchFamily="34" charset="-120"/>
              </a:rPr>
              <a:t>Setup React project with Recharts</a:t>
            </a:r>
            <a:endParaRPr lang="en-US" sz="950" dirty="0"/>
          </a:p>
        </p:txBody>
      </p:sp>
      <p:sp>
        <p:nvSpPr>
          <p:cNvPr id="19" name="Text 17"/>
          <p:cNvSpPr/>
          <p:nvPr/>
        </p:nvSpPr>
        <p:spPr>
          <a:xfrm>
            <a:off x="3447288" y="1984248"/>
            <a:ext cx="2514600" cy="438912"/>
          </a:xfrm>
          <a:prstGeom prst="rect">
            <a:avLst/>
          </a:prstGeom>
          <a:noFill/>
          <a:ln/>
        </p:spPr>
        <p:txBody>
          <a:bodyPr wrap="square" rtlCol="0" anchor="ctr"/>
          <a:lstStyle/>
          <a:p>
            <a:pPr marL="342900" indent="-342900">
              <a:buSzPct val="100000"/>
              <a:buChar char="•"/>
            </a:pPr>
            <a:r>
              <a:rPr lang="en-US" sz="950" dirty="0">
                <a:solidFill>
                  <a:srgbClr val="4A5568"/>
                </a:solidFill>
                <a:latin typeface="Calibri" pitchFamily="34" charset="0"/>
                <a:ea typeface="Calibri" pitchFamily="34" charset="-122"/>
                <a:cs typeface="Calibri" pitchFamily="34" charset="-120"/>
              </a:rPr>
              <a:t>Build Overview + Features + Trends tabs (Phase 6)</a:t>
            </a:r>
            <a:endParaRPr lang="en-US" sz="950" dirty="0"/>
          </a:p>
        </p:txBody>
      </p:sp>
      <p:sp>
        <p:nvSpPr>
          <p:cNvPr id="20" name="Text 18"/>
          <p:cNvSpPr/>
          <p:nvPr/>
        </p:nvSpPr>
        <p:spPr>
          <a:xfrm>
            <a:off x="3447288" y="2478024"/>
            <a:ext cx="2514600" cy="438912"/>
          </a:xfrm>
          <a:prstGeom prst="rect">
            <a:avLst/>
          </a:prstGeom>
          <a:noFill/>
          <a:ln/>
        </p:spPr>
        <p:txBody>
          <a:bodyPr wrap="square" rtlCol="0" anchor="ctr"/>
          <a:lstStyle/>
          <a:p>
            <a:pPr marL="342900" indent="-342900">
              <a:buSzPct val="100000"/>
              <a:buChar char="•"/>
            </a:pPr>
            <a:r>
              <a:rPr lang="en-US" sz="950" dirty="0">
                <a:solidFill>
                  <a:srgbClr val="4A5568"/>
                </a:solidFill>
                <a:latin typeface="Calibri" pitchFamily="34" charset="0"/>
                <a:ea typeface="Calibri" pitchFamily="34" charset="-122"/>
                <a:cs typeface="Calibri" pitchFamily="34" charset="-120"/>
              </a:rPr>
              <a:t>Wire polling hooks to backend APIs</a:t>
            </a:r>
            <a:endParaRPr lang="en-US" sz="950" dirty="0"/>
          </a:p>
        </p:txBody>
      </p:sp>
      <p:sp>
        <p:nvSpPr>
          <p:cNvPr id="21" name="Text 19"/>
          <p:cNvSpPr/>
          <p:nvPr/>
        </p:nvSpPr>
        <p:spPr>
          <a:xfrm>
            <a:off x="3447288" y="2971800"/>
            <a:ext cx="2514600" cy="438912"/>
          </a:xfrm>
          <a:prstGeom prst="rect">
            <a:avLst/>
          </a:prstGeom>
          <a:noFill/>
          <a:ln/>
        </p:spPr>
        <p:txBody>
          <a:bodyPr wrap="square" rtlCol="0" anchor="ctr"/>
          <a:lstStyle/>
          <a:p>
            <a:pPr marL="342900" indent="-342900">
              <a:buSzPct val="100000"/>
              <a:buChar char="•"/>
            </a:pPr>
            <a:r>
              <a:rPr lang="en-US" sz="950" dirty="0">
                <a:solidFill>
                  <a:srgbClr val="4A5568"/>
                </a:solidFill>
                <a:latin typeface="Calibri" pitchFamily="34" charset="0"/>
                <a:ea typeface="Calibri" pitchFamily="34" charset="-122"/>
                <a:cs typeface="Calibri" pitchFamily="34" charset="-120"/>
              </a:rPr>
              <a:t>Build Context Window tab (Phase 6)</a:t>
            </a:r>
            <a:endParaRPr lang="en-US" sz="950" dirty="0"/>
          </a:p>
        </p:txBody>
      </p:sp>
      <p:sp>
        <p:nvSpPr>
          <p:cNvPr id="22" name="Text 20"/>
          <p:cNvSpPr/>
          <p:nvPr/>
        </p:nvSpPr>
        <p:spPr>
          <a:xfrm>
            <a:off x="3447288" y="3465576"/>
            <a:ext cx="2514600" cy="438912"/>
          </a:xfrm>
          <a:prstGeom prst="rect">
            <a:avLst/>
          </a:prstGeom>
          <a:noFill/>
          <a:ln/>
        </p:spPr>
        <p:txBody>
          <a:bodyPr wrap="square" rtlCol="0" anchor="ctr"/>
          <a:lstStyle/>
          <a:p>
            <a:pPr marL="342900" indent="-342900">
              <a:buSzPct val="100000"/>
              <a:buChar char="•"/>
            </a:pPr>
            <a:r>
              <a:rPr lang="en-US" sz="950" dirty="0">
                <a:solidFill>
                  <a:srgbClr val="4A5568"/>
                </a:solidFill>
                <a:latin typeface="Calibri" pitchFamily="34" charset="0"/>
                <a:ea typeface="Calibri" pitchFamily="34" charset="-122"/>
                <a:cs typeface="Calibri" pitchFamily="34" charset="-120"/>
              </a:rPr>
              <a:t>Integrate AI Advisor tab (Anthropic API direct call)</a:t>
            </a:r>
            <a:endParaRPr lang="en-US" sz="950" dirty="0"/>
          </a:p>
        </p:txBody>
      </p:sp>
      <p:sp>
        <p:nvSpPr>
          <p:cNvPr id="23" name="Shape 21"/>
          <p:cNvSpPr/>
          <p:nvPr/>
        </p:nvSpPr>
        <p:spPr>
          <a:xfrm>
            <a:off x="6254496" y="960120"/>
            <a:ext cx="2697480" cy="3858768"/>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2000"/>
              </a:srgbClr>
            </a:outerShdw>
          </a:effectLst>
        </p:spPr>
      </p:sp>
      <p:sp>
        <p:nvSpPr>
          <p:cNvPr id="24" name="Shape 22"/>
          <p:cNvSpPr/>
          <p:nvPr/>
        </p:nvSpPr>
        <p:spPr>
          <a:xfrm>
            <a:off x="6254496" y="960120"/>
            <a:ext cx="2697480" cy="438912"/>
          </a:xfrm>
          <a:prstGeom prst="rect">
            <a:avLst/>
          </a:prstGeom>
          <a:solidFill>
            <a:srgbClr val="7C3AED"/>
          </a:solidFill>
          <a:ln w="12700">
            <a:solidFill>
              <a:srgbClr val="7C3AED"/>
            </a:solidFill>
            <a:prstDash val="solid"/>
          </a:ln>
        </p:spPr>
      </p:sp>
      <p:sp>
        <p:nvSpPr>
          <p:cNvPr id="25" name="Text 23"/>
          <p:cNvSpPr/>
          <p:nvPr/>
        </p:nvSpPr>
        <p:spPr>
          <a:xfrm>
            <a:off x="6345936" y="978408"/>
            <a:ext cx="25146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Track C — Integration + Demo</a:t>
            </a:r>
            <a:endParaRPr lang="en-US" sz="1000" dirty="0"/>
          </a:p>
        </p:txBody>
      </p:sp>
      <p:sp>
        <p:nvSpPr>
          <p:cNvPr id="26" name="Text 24"/>
          <p:cNvSpPr/>
          <p:nvPr/>
        </p:nvSpPr>
        <p:spPr>
          <a:xfrm>
            <a:off x="6345936" y="1216152"/>
            <a:ext cx="2514600" cy="164592"/>
          </a:xfrm>
          <a:prstGeom prst="rect">
            <a:avLst/>
          </a:prstGeom>
          <a:noFill/>
          <a:ln/>
        </p:spPr>
        <p:txBody>
          <a:bodyPr wrap="square" lIns="0" tIns="0" rIns="0" bIns="0" rtlCol="0" anchor="ctr"/>
          <a:lstStyle/>
          <a:p>
            <a:pPr indent="0" marL="0">
              <a:buNone/>
            </a:pPr>
            <a:r>
              <a:rPr lang="en-US" sz="900" i="1" dirty="0">
                <a:solidFill>
                  <a:srgbClr val="FFFFFF"/>
                </a:solidFill>
                <a:latin typeface="Calibri" pitchFamily="34" charset="0"/>
                <a:ea typeface="Calibri" pitchFamily="34" charset="-122"/>
                <a:cs typeface="Calibri" pitchFamily="34" charset="-120"/>
              </a:rPr>
              <a:t>👥  1 developer</a:t>
            </a:r>
            <a:endParaRPr lang="en-US" sz="900" dirty="0"/>
          </a:p>
        </p:txBody>
      </p:sp>
      <p:sp>
        <p:nvSpPr>
          <p:cNvPr id="27" name="Text 25"/>
          <p:cNvSpPr/>
          <p:nvPr/>
        </p:nvSpPr>
        <p:spPr>
          <a:xfrm>
            <a:off x="6345936" y="1490472"/>
            <a:ext cx="2514600" cy="438912"/>
          </a:xfrm>
          <a:prstGeom prst="rect">
            <a:avLst/>
          </a:prstGeom>
          <a:noFill/>
          <a:ln/>
        </p:spPr>
        <p:txBody>
          <a:bodyPr wrap="square" rtlCol="0" anchor="ctr"/>
          <a:lstStyle/>
          <a:p>
            <a:pPr marL="342900" indent="-342900">
              <a:buSzPct val="100000"/>
              <a:buChar char="•"/>
            </a:pPr>
            <a:r>
              <a:rPr lang="en-US" sz="950" dirty="0">
                <a:solidFill>
                  <a:srgbClr val="4A5568"/>
                </a:solidFill>
                <a:latin typeface="Calibri" pitchFamily="34" charset="0"/>
                <a:ea typeface="Calibri" pitchFamily="34" charset="-122"/>
                <a:cs typeface="Calibri" pitchFamily="34" charset="-120"/>
              </a:rPr>
              <a:t>End-to-end wiring: agent → proxy → DB → dashboard</a:t>
            </a:r>
            <a:endParaRPr lang="en-US" sz="950" dirty="0"/>
          </a:p>
        </p:txBody>
      </p:sp>
      <p:sp>
        <p:nvSpPr>
          <p:cNvPr id="28" name="Text 26"/>
          <p:cNvSpPr/>
          <p:nvPr/>
        </p:nvSpPr>
        <p:spPr>
          <a:xfrm>
            <a:off x="6345936" y="1984248"/>
            <a:ext cx="2514600" cy="438912"/>
          </a:xfrm>
          <a:prstGeom prst="rect">
            <a:avLst/>
          </a:prstGeom>
          <a:noFill/>
          <a:ln/>
        </p:spPr>
        <p:txBody>
          <a:bodyPr wrap="square" rtlCol="0" anchor="ctr"/>
          <a:lstStyle/>
          <a:p>
            <a:pPr marL="342900" indent="-342900">
              <a:buSzPct val="100000"/>
              <a:buChar char="•"/>
            </a:pPr>
            <a:r>
              <a:rPr lang="en-US" sz="950" dirty="0">
                <a:solidFill>
                  <a:srgbClr val="4A5568"/>
                </a:solidFill>
                <a:latin typeface="Calibri" pitchFamily="34" charset="0"/>
                <a:ea typeface="Calibri" pitchFamily="34" charset="-122"/>
                <a:cs typeface="Calibri" pitchFamily="34" charset="-120"/>
              </a:rPr>
              <a:t>Load test: verify async write latency &lt; 5s</a:t>
            </a:r>
            <a:endParaRPr lang="en-US" sz="950" dirty="0"/>
          </a:p>
        </p:txBody>
      </p:sp>
      <p:sp>
        <p:nvSpPr>
          <p:cNvPr id="29" name="Text 27"/>
          <p:cNvSpPr/>
          <p:nvPr/>
        </p:nvSpPr>
        <p:spPr>
          <a:xfrm>
            <a:off x="6345936" y="2478024"/>
            <a:ext cx="2514600" cy="438912"/>
          </a:xfrm>
          <a:prstGeom prst="rect">
            <a:avLst/>
          </a:prstGeom>
          <a:noFill/>
          <a:ln/>
        </p:spPr>
        <p:txBody>
          <a:bodyPr wrap="square" rtlCol="0" anchor="ctr"/>
          <a:lstStyle/>
          <a:p>
            <a:pPr marL="342900" indent="-342900">
              <a:buSzPct val="100000"/>
              <a:buChar char="•"/>
            </a:pPr>
            <a:r>
              <a:rPr lang="en-US" sz="950" dirty="0">
                <a:solidFill>
                  <a:srgbClr val="4A5568"/>
                </a:solidFill>
                <a:latin typeface="Calibri" pitchFamily="34" charset="0"/>
                <a:ea typeface="Calibri" pitchFamily="34" charset="-122"/>
                <a:cs typeface="Calibri" pitchFamily="34" charset="-120"/>
              </a:rPr>
              <a:t>Seed demo data: 3+ features, multiple sessions</a:t>
            </a:r>
            <a:endParaRPr lang="en-US" sz="950" dirty="0"/>
          </a:p>
        </p:txBody>
      </p:sp>
      <p:sp>
        <p:nvSpPr>
          <p:cNvPr id="30" name="Text 28"/>
          <p:cNvSpPr/>
          <p:nvPr/>
        </p:nvSpPr>
        <p:spPr>
          <a:xfrm>
            <a:off x="6345936" y="2971800"/>
            <a:ext cx="2514600" cy="438912"/>
          </a:xfrm>
          <a:prstGeom prst="rect">
            <a:avLst/>
          </a:prstGeom>
          <a:noFill/>
          <a:ln/>
        </p:spPr>
        <p:txBody>
          <a:bodyPr wrap="square" rtlCol="0" anchor="ctr"/>
          <a:lstStyle/>
          <a:p>
            <a:pPr marL="342900" indent="-342900">
              <a:buSzPct val="100000"/>
              <a:buChar char="•"/>
            </a:pPr>
            <a:r>
              <a:rPr lang="en-US" sz="950" dirty="0">
                <a:solidFill>
                  <a:srgbClr val="4A5568"/>
                </a:solidFill>
                <a:latin typeface="Calibri" pitchFamily="34" charset="0"/>
                <a:ea typeface="Calibri" pitchFamily="34" charset="-122"/>
                <a:cs typeface="Calibri" pitchFamily="34" charset="-120"/>
              </a:rPr>
              <a:t>Prepare live demo script (see Slide 12)</a:t>
            </a:r>
            <a:endParaRPr lang="en-US" sz="950" dirty="0"/>
          </a:p>
        </p:txBody>
      </p:sp>
      <p:sp>
        <p:nvSpPr>
          <p:cNvPr id="31" name="Text 29"/>
          <p:cNvSpPr/>
          <p:nvPr/>
        </p:nvSpPr>
        <p:spPr>
          <a:xfrm>
            <a:off x="6345936" y="3465576"/>
            <a:ext cx="2514600" cy="438912"/>
          </a:xfrm>
          <a:prstGeom prst="rect">
            <a:avLst/>
          </a:prstGeom>
          <a:noFill/>
          <a:ln/>
        </p:spPr>
        <p:txBody>
          <a:bodyPr wrap="square" rtlCol="0" anchor="ctr"/>
          <a:lstStyle/>
          <a:p>
            <a:pPr marL="342900" indent="-342900">
              <a:buSzPct val="100000"/>
              <a:buChar char="•"/>
            </a:pPr>
            <a:r>
              <a:rPr lang="en-US" sz="950" dirty="0">
                <a:solidFill>
                  <a:srgbClr val="4A5568"/>
                </a:solidFill>
                <a:latin typeface="Calibri" pitchFamily="34" charset="0"/>
                <a:ea typeface="Calibri" pitchFamily="34" charset="-122"/>
                <a:cs typeface="Calibri" pitchFamily="34" charset="-120"/>
              </a:rPr>
              <a:t>Stretch: implement Phase 5 optimizer Rule 1</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457200" y="137160"/>
            <a:ext cx="1645920" cy="256032"/>
          </a:xfrm>
          <a:prstGeom prst="roundRect">
            <a:avLst>
              <a:gd name="adj" fmla="val 17857"/>
            </a:avLst>
          </a:prstGeom>
          <a:solidFill>
            <a:srgbClr val="D97706"/>
          </a:solidFill>
          <a:ln w="12700">
            <a:solidFill>
              <a:srgbClr val="D97706"/>
            </a:solidFill>
            <a:prstDash val="solid"/>
          </a:ln>
        </p:spPr>
      </p:sp>
      <p:sp>
        <p:nvSpPr>
          <p:cNvPr id="3" name="Text 1"/>
          <p:cNvSpPr/>
          <p:nvPr/>
        </p:nvSpPr>
        <p:spPr>
          <a:xfrm>
            <a:off x="457200" y="137160"/>
            <a:ext cx="1645920" cy="256032"/>
          </a:xfrm>
          <a:prstGeom prst="rect">
            <a:avLst/>
          </a:prstGeom>
          <a:noFill/>
          <a:ln/>
        </p:spPr>
        <p:txBody>
          <a:bodyPr wrap="square" lIns="0" tIns="0" rIns="0" bIns="0" rtlCol="0" anchor="ctr"/>
          <a:lstStyle/>
          <a:p>
            <a:pPr algn="ctr" indent="0" marL="0">
              <a:buNone/>
            </a:pPr>
            <a:r>
              <a:rPr lang="en-US" sz="800" b="1" dirty="0">
                <a:solidFill>
                  <a:srgbClr val="0A1628"/>
                </a:solidFill>
                <a:latin typeface="Calibri" pitchFamily="34" charset="0"/>
                <a:ea typeface="Calibri" pitchFamily="34" charset="-122"/>
                <a:cs typeface="Calibri" pitchFamily="34" charset="-120"/>
              </a:rPr>
              <a:t>TIMELINE</a:t>
            </a:r>
            <a:endParaRPr lang="en-US" sz="800" dirty="0"/>
          </a:p>
        </p:txBody>
      </p:sp>
      <p:sp>
        <p:nvSpPr>
          <p:cNvPr id="4" name="Text 2"/>
          <p:cNvSpPr/>
          <p:nvPr/>
        </p:nvSpPr>
        <p:spPr>
          <a:xfrm>
            <a:off x="457200" y="502920"/>
            <a:ext cx="822960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Hackathon Day — Hour by Hour</a:t>
            </a:r>
            <a:endParaRPr lang="en-US" sz="2200" dirty="0"/>
          </a:p>
        </p:txBody>
      </p:sp>
      <p:sp>
        <p:nvSpPr>
          <p:cNvPr id="5" name="Shape 3"/>
          <p:cNvSpPr/>
          <p:nvPr/>
        </p:nvSpPr>
        <p:spPr>
          <a:xfrm>
            <a:off x="457200" y="960120"/>
            <a:ext cx="1371600" cy="429768"/>
          </a:xfrm>
          <a:prstGeom prst="rect">
            <a:avLst/>
          </a:prstGeom>
          <a:solidFill>
            <a:srgbClr val="0077A8"/>
          </a:solidFill>
          <a:ln w="12700">
            <a:solidFill>
              <a:srgbClr val="0077A8"/>
            </a:solidFill>
            <a:prstDash val="solid"/>
          </a:ln>
        </p:spPr>
      </p:sp>
      <p:sp>
        <p:nvSpPr>
          <p:cNvPr id="6" name="Text 4"/>
          <p:cNvSpPr/>
          <p:nvPr/>
        </p:nvSpPr>
        <p:spPr>
          <a:xfrm>
            <a:off x="457200" y="960120"/>
            <a:ext cx="1371600" cy="42976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9:00–9:30</a:t>
            </a:r>
            <a:endParaRPr lang="en-US" sz="850" dirty="0"/>
          </a:p>
        </p:txBody>
      </p:sp>
      <p:sp>
        <p:nvSpPr>
          <p:cNvPr id="7" name="Shape 5"/>
          <p:cNvSpPr/>
          <p:nvPr/>
        </p:nvSpPr>
        <p:spPr>
          <a:xfrm>
            <a:off x="1920240" y="960120"/>
            <a:ext cx="6766560" cy="429768"/>
          </a:xfrm>
          <a:prstGeom prst="rect">
            <a:avLst/>
          </a:prstGeom>
          <a:solidFill>
            <a:srgbClr val="112240"/>
          </a:solidFill>
          <a:ln w="6350">
            <a:solidFill>
              <a:srgbClr val="1E3A5F"/>
            </a:solidFill>
            <a:prstDash val="solid"/>
          </a:ln>
        </p:spPr>
      </p:sp>
      <p:sp>
        <p:nvSpPr>
          <p:cNvPr id="8" name="Text 6"/>
          <p:cNvSpPr/>
          <p:nvPr/>
        </p:nvSpPr>
        <p:spPr>
          <a:xfrm>
            <a:off x="2029968" y="996696"/>
            <a:ext cx="3200400" cy="18288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Kickoff &amp; Setup</a:t>
            </a:r>
            <a:endParaRPr lang="en-US" sz="1000" dirty="0"/>
          </a:p>
        </p:txBody>
      </p:sp>
      <p:sp>
        <p:nvSpPr>
          <p:cNvPr id="9" name="Text 7"/>
          <p:cNvSpPr/>
          <p:nvPr/>
        </p:nvSpPr>
        <p:spPr>
          <a:xfrm>
            <a:off x="2029968" y="1179576"/>
            <a:ext cx="6492240" cy="182880"/>
          </a:xfrm>
          <a:prstGeom prst="rect">
            <a:avLst/>
          </a:prstGeom>
          <a:noFill/>
          <a:ln/>
        </p:spPr>
        <p:txBody>
          <a:bodyPr wrap="square" lIns="0" tIns="0" rIns="0" bIns="0" rtlCol="0" anchor="ctr"/>
          <a:lstStyle/>
          <a:p>
            <a:pPr indent="0" marL="0">
              <a:buNone/>
            </a:pPr>
            <a:r>
              <a:rPr lang="en-US" sz="900" dirty="0">
                <a:solidFill>
                  <a:srgbClr val="90E0EF"/>
                </a:solidFill>
                <a:latin typeface="Calibri" pitchFamily="34" charset="0"/>
                <a:ea typeface="Calibri" pitchFamily="34" charset="-122"/>
                <a:cs typeface="Calibri" pitchFamily="34" charset="-120"/>
              </a:rPr>
              <a:t>Repo clone, env setup, pgvector running locally, confirm Spring Boot starts</a:t>
            </a:r>
            <a:endParaRPr lang="en-US" sz="900" dirty="0"/>
          </a:p>
        </p:txBody>
      </p:sp>
      <p:sp>
        <p:nvSpPr>
          <p:cNvPr id="10" name="Shape 8"/>
          <p:cNvSpPr/>
          <p:nvPr/>
        </p:nvSpPr>
        <p:spPr>
          <a:xfrm>
            <a:off x="457200" y="1472184"/>
            <a:ext cx="1371600" cy="429768"/>
          </a:xfrm>
          <a:prstGeom prst="rect">
            <a:avLst/>
          </a:prstGeom>
          <a:solidFill>
            <a:srgbClr val="00B4D8"/>
          </a:solidFill>
          <a:ln w="12700">
            <a:solidFill>
              <a:srgbClr val="00B4D8"/>
            </a:solidFill>
            <a:prstDash val="solid"/>
          </a:ln>
        </p:spPr>
      </p:sp>
      <p:sp>
        <p:nvSpPr>
          <p:cNvPr id="11" name="Text 9"/>
          <p:cNvSpPr/>
          <p:nvPr/>
        </p:nvSpPr>
        <p:spPr>
          <a:xfrm>
            <a:off x="457200" y="1472184"/>
            <a:ext cx="1371600" cy="42976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9:30–11:30</a:t>
            </a:r>
            <a:endParaRPr lang="en-US" sz="850" dirty="0"/>
          </a:p>
        </p:txBody>
      </p:sp>
      <p:sp>
        <p:nvSpPr>
          <p:cNvPr id="12" name="Shape 10"/>
          <p:cNvSpPr/>
          <p:nvPr/>
        </p:nvSpPr>
        <p:spPr>
          <a:xfrm>
            <a:off x="1920240" y="1472184"/>
            <a:ext cx="6766560" cy="429768"/>
          </a:xfrm>
          <a:prstGeom prst="rect">
            <a:avLst/>
          </a:prstGeom>
          <a:solidFill>
            <a:srgbClr val="112240"/>
          </a:solidFill>
          <a:ln w="6350">
            <a:solidFill>
              <a:srgbClr val="1E3A5F"/>
            </a:solidFill>
            <a:prstDash val="solid"/>
          </a:ln>
        </p:spPr>
      </p:sp>
      <p:sp>
        <p:nvSpPr>
          <p:cNvPr id="13" name="Text 11"/>
          <p:cNvSpPr/>
          <p:nvPr/>
        </p:nvSpPr>
        <p:spPr>
          <a:xfrm>
            <a:off x="2029968" y="1508760"/>
            <a:ext cx="3200400" cy="18288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Phase 1 + 2 Backend</a:t>
            </a:r>
            <a:endParaRPr lang="en-US" sz="1000" dirty="0"/>
          </a:p>
        </p:txBody>
      </p:sp>
      <p:sp>
        <p:nvSpPr>
          <p:cNvPr id="14" name="Text 12"/>
          <p:cNvSpPr/>
          <p:nvPr/>
        </p:nvSpPr>
        <p:spPr>
          <a:xfrm>
            <a:off x="2029968" y="1691640"/>
            <a:ext cx="6492240" cy="182880"/>
          </a:xfrm>
          <a:prstGeom prst="rect">
            <a:avLst/>
          </a:prstGeom>
          <a:noFill/>
          <a:ln/>
        </p:spPr>
        <p:txBody>
          <a:bodyPr wrap="square" lIns="0" tIns="0" rIns="0" bIns="0" rtlCol="0" anchor="ctr"/>
          <a:lstStyle/>
          <a:p>
            <a:pPr indent="0" marL="0">
              <a:buNone/>
            </a:pPr>
            <a:r>
              <a:rPr lang="en-US" sz="900" dirty="0">
                <a:solidFill>
                  <a:srgbClr val="90E0EF"/>
                </a:solidFill>
                <a:latin typeface="Calibri" pitchFamily="34" charset="0"/>
                <a:ea typeface="Calibri" pitchFamily="34" charset="-122"/>
                <a:cs typeface="Calibri" pitchFamily="34" charset="-120"/>
              </a:rPr>
              <a:t>AriaContextTokenService + AriaProxyInterceptor — first token records in DB</a:t>
            </a:r>
            <a:endParaRPr lang="en-US" sz="900" dirty="0"/>
          </a:p>
        </p:txBody>
      </p:sp>
      <p:sp>
        <p:nvSpPr>
          <p:cNvPr id="15" name="Shape 13"/>
          <p:cNvSpPr/>
          <p:nvPr/>
        </p:nvSpPr>
        <p:spPr>
          <a:xfrm>
            <a:off x="457200" y="1984248"/>
            <a:ext cx="1371600" cy="429768"/>
          </a:xfrm>
          <a:prstGeom prst="rect">
            <a:avLst/>
          </a:prstGeom>
          <a:solidFill>
            <a:srgbClr val="00B4D8"/>
          </a:solidFill>
          <a:ln w="12700">
            <a:solidFill>
              <a:srgbClr val="00B4D8"/>
            </a:solidFill>
            <a:prstDash val="solid"/>
          </a:ln>
        </p:spPr>
      </p:sp>
      <p:sp>
        <p:nvSpPr>
          <p:cNvPr id="16" name="Text 14"/>
          <p:cNvSpPr/>
          <p:nvPr/>
        </p:nvSpPr>
        <p:spPr>
          <a:xfrm>
            <a:off x="457200" y="1984248"/>
            <a:ext cx="1371600" cy="42976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11:30–12:30</a:t>
            </a:r>
            <a:endParaRPr lang="en-US" sz="850" dirty="0"/>
          </a:p>
        </p:txBody>
      </p:sp>
      <p:sp>
        <p:nvSpPr>
          <p:cNvPr id="17" name="Shape 15"/>
          <p:cNvSpPr/>
          <p:nvPr/>
        </p:nvSpPr>
        <p:spPr>
          <a:xfrm>
            <a:off x="1920240" y="1984248"/>
            <a:ext cx="6766560" cy="429768"/>
          </a:xfrm>
          <a:prstGeom prst="rect">
            <a:avLst/>
          </a:prstGeom>
          <a:solidFill>
            <a:srgbClr val="112240"/>
          </a:solidFill>
          <a:ln w="6350">
            <a:solidFill>
              <a:srgbClr val="1E3A5F"/>
            </a:solidFill>
            <a:prstDash val="solid"/>
          </a:ln>
        </p:spPr>
      </p:sp>
      <p:sp>
        <p:nvSpPr>
          <p:cNvPr id="18" name="Text 16"/>
          <p:cNvSpPr/>
          <p:nvPr/>
        </p:nvSpPr>
        <p:spPr>
          <a:xfrm>
            <a:off x="2029968" y="2020824"/>
            <a:ext cx="3200400" cy="18288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Phase 3 + 4 Backend</a:t>
            </a:r>
            <a:endParaRPr lang="en-US" sz="1000" dirty="0"/>
          </a:p>
        </p:txBody>
      </p:sp>
      <p:sp>
        <p:nvSpPr>
          <p:cNvPr id="19" name="Text 17"/>
          <p:cNvSpPr/>
          <p:nvPr/>
        </p:nvSpPr>
        <p:spPr>
          <a:xfrm>
            <a:off x="2029968" y="2203704"/>
            <a:ext cx="6492240" cy="182880"/>
          </a:xfrm>
          <a:prstGeom prst="rect">
            <a:avLst/>
          </a:prstGeom>
          <a:noFill/>
          <a:ln/>
        </p:spPr>
        <p:txBody>
          <a:bodyPr wrap="square" lIns="0" tIns="0" rIns="0" bIns="0" rtlCol="0" anchor="ctr"/>
          <a:lstStyle/>
          <a:p>
            <a:pPr indent="0" marL="0">
              <a:buNone/>
            </a:pPr>
            <a:r>
              <a:rPr lang="en-US" sz="900" dirty="0">
                <a:solidFill>
                  <a:srgbClr val="90E0EF"/>
                </a:solidFill>
                <a:latin typeface="Calibri" pitchFamily="34" charset="0"/>
                <a:ea typeface="Calibri" pitchFamily="34" charset="-122"/>
                <a:cs typeface="Calibri" pitchFamily="34" charset="-120"/>
              </a:rPr>
              <a:t>Trajectory store schema migration + Cost Intelligence API endpoints</a:t>
            </a:r>
            <a:endParaRPr lang="en-US" sz="900" dirty="0"/>
          </a:p>
        </p:txBody>
      </p:sp>
      <p:sp>
        <p:nvSpPr>
          <p:cNvPr id="20" name="Shape 18"/>
          <p:cNvSpPr/>
          <p:nvPr/>
        </p:nvSpPr>
        <p:spPr>
          <a:xfrm>
            <a:off x="457200" y="2496312"/>
            <a:ext cx="1371600" cy="429768"/>
          </a:xfrm>
          <a:prstGeom prst="rect">
            <a:avLst/>
          </a:prstGeom>
          <a:solidFill>
            <a:srgbClr val="2D3748"/>
          </a:solidFill>
          <a:ln w="12700">
            <a:solidFill>
              <a:srgbClr val="2D3748"/>
            </a:solidFill>
            <a:prstDash val="solid"/>
          </a:ln>
        </p:spPr>
      </p:sp>
      <p:sp>
        <p:nvSpPr>
          <p:cNvPr id="21" name="Text 19"/>
          <p:cNvSpPr/>
          <p:nvPr/>
        </p:nvSpPr>
        <p:spPr>
          <a:xfrm>
            <a:off x="457200" y="2496312"/>
            <a:ext cx="1371600" cy="42976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12:30–13:00</a:t>
            </a:r>
            <a:endParaRPr lang="en-US" sz="850" dirty="0"/>
          </a:p>
        </p:txBody>
      </p:sp>
      <p:sp>
        <p:nvSpPr>
          <p:cNvPr id="22" name="Shape 20"/>
          <p:cNvSpPr/>
          <p:nvPr/>
        </p:nvSpPr>
        <p:spPr>
          <a:xfrm>
            <a:off x="1920240" y="2496312"/>
            <a:ext cx="6766560" cy="429768"/>
          </a:xfrm>
          <a:prstGeom prst="rect">
            <a:avLst/>
          </a:prstGeom>
          <a:solidFill>
            <a:srgbClr val="112240"/>
          </a:solidFill>
          <a:ln w="6350">
            <a:solidFill>
              <a:srgbClr val="1E3A5F"/>
            </a:solidFill>
            <a:prstDash val="solid"/>
          </a:ln>
        </p:spPr>
      </p:sp>
      <p:sp>
        <p:nvSpPr>
          <p:cNvPr id="23" name="Text 21"/>
          <p:cNvSpPr/>
          <p:nvPr/>
        </p:nvSpPr>
        <p:spPr>
          <a:xfrm>
            <a:off x="2029968" y="2532888"/>
            <a:ext cx="3200400" cy="18288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Lunch Break</a:t>
            </a:r>
            <a:endParaRPr lang="en-US" sz="1000" dirty="0"/>
          </a:p>
        </p:txBody>
      </p:sp>
      <p:sp>
        <p:nvSpPr>
          <p:cNvPr id="24" name="Text 22"/>
          <p:cNvSpPr/>
          <p:nvPr/>
        </p:nvSpPr>
        <p:spPr>
          <a:xfrm>
            <a:off x="2029968" y="2715768"/>
            <a:ext cx="6492240" cy="182880"/>
          </a:xfrm>
          <a:prstGeom prst="rect">
            <a:avLst/>
          </a:prstGeom>
          <a:noFill/>
          <a:ln/>
        </p:spPr>
        <p:txBody>
          <a:bodyPr wrap="square" lIns="0" tIns="0" rIns="0" bIns="0" rtlCol="0" anchor="ctr"/>
          <a:lstStyle/>
          <a:p>
            <a:pPr indent="0" marL="0">
              <a:buNone/>
            </a:pPr>
            <a:r>
              <a:rPr lang="en-US" sz="900" dirty="0">
                <a:solidFill>
                  <a:srgbClr val="90E0EF"/>
                </a:solidFill>
                <a:latin typeface="Calibri" pitchFamily="34" charset="0"/>
                <a:ea typeface="Calibri" pitchFamily="34" charset="-122"/>
                <a:cs typeface="Calibri" pitchFamily="34" charset="-120"/>
              </a:rPr>
              <a:t>Quick sync: backend team confirms GET /api/aria/cost/summary working</a:t>
            </a:r>
            <a:endParaRPr lang="en-US" sz="900" dirty="0"/>
          </a:p>
        </p:txBody>
      </p:sp>
      <p:sp>
        <p:nvSpPr>
          <p:cNvPr id="25" name="Shape 23"/>
          <p:cNvSpPr/>
          <p:nvPr/>
        </p:nvSpPr>
        <p:spPr>
          <a:xfrm>
            <a:off x="457200" y="3008376"/>
            <a:ext cx="1371600" cy="429768"/>
          </a:xfrm>
          <a:prstGeom prst="rect">
            <a:avLst/>
          </a:prstGeom>
          <a:solidFill>
            <a:srgbClr val="5B6EAE"/>
          </a:solidFill>
          <a:ln w="12700">
            <a:solidFill>
              <a:srgbClr val="5B6EAE"/>
            </a:solidFill>
            <a:prstDash val="solid"/>
          </a:ln>
        </p:spPr>
      </p:sp>
      <p:sp>
        <p:nvSpPr>
          <p:cNvPr id="26" name="Text 24"/>
          <p:cNvSpPr/>
          <p:nvPr/>
        </p:nvSpPr>
        <p:spPr>
          <a:xfrm>
            <a:off x="457200" y="3008376"/>
            <a:ext cx="1371600" cy="42976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13:00–14:30</a:t>
            </a:r>
            <a:endParaRPr lang="en-US" sz="850" dirty="0"/>
          </a:p>
        </p:txBody>
      </p:sp>
      <p:sp>
        <p:nvSpPr>
          <p:cNvPr id="27" name="Shape 25"/>
          <p:cNvSpPr/>
          <p:nvPr/>
        </p:nvSpPr>
        <p:spPr>
          <a:xfrm>
            <a:off x="1920240" y="3008376"/>
            <a:ext cx="6766560" cy="429768"/>
          </a:xfrm>
          <a:prstGeom prst="rect">
            <a:avLst/>
          </a:prstGeom>
          <a:solidFill>
            <a:srgbClr val="112240"/>
          </a:solidFill>
          <a:ln w="6350">
            <a:solidFill>
              <a:srgbClr val="1E3A5F"/>
            </a:solidFill>
            <a:prstDash val="solid"/>
          </a:ln>
        </p:spPr>
      </p:sp>
      <p:sp>
        <p:nvSpPr>
          <p:cNvPr id="28" name="Text 26"/>
          <p:cNvSpPr/>
          <p:nvPr/>
        </p:nvSpPr>
        <p:spPr>
          <a:xfrm>
            <a:off x="2029968" y="3044952"/>
            <a:ext cx="3200400" cy="18288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Phase 6 Frontend</a:t>
            </a:r>
            <a:endParaRPr lang="en-US" sz="1000" dirty="0"/>
          </a:p>
        </p:txBody>
      </p:sp>
      <p:sp>
        <p:nvSpPr>
          <p:cNvPr id="29" name="Text 27"/>
          <p:cNvSpPr/>
          <p:nvPr/>
        </p:nvSpPr>
        <p:spPr>
          <a:xfrm>
            <a:off x="2029968" y="3227832"/>
            <a:ext cx="6492240" cy="182880"/>
          </a:xfrm>
          <a:prstGeom prst="rect">
            <a:avLst/>
          </a:prstGeom>
          <a:noFill/>
          <a:ln/>
        </p:spPr>
        <p:txBody>
          <a:bodyPr wrap="square" lIns="0" tIns="0" rIns="0" bIns="0" rtlCol="0" anchor="ctr"/>
          <a:lstStyle/>
          <a:p>
            <a:pPr indent="0" marL="0">
              <a:buNone/>
            </a:pPr>
            <a:r>
              <a:rPr lang="en-US" sz="900" dirty="0">
                <a:solidFill>
                  <a:srgbClr val="90E0EF"/>
                </a:solidFill>
                <a:latin typeface="Calibri" pitchFamily="34" charset="0"/>
                <a:ea typeface="Calibri" pitchFamily="34" charset="-122"/>
                <a:cs typeface="Calibri" pitchFamily="34" charset="-120"/>
              </a:rPr>
              <a:t>React dashboard: Overview + Features + Trends tabs wired to real APIs</a:t>
            </a:r>
            <a:endParaRPr lang="en-US" sz="900" dirty="0"/>
          </a:p>
        </p:txBody>
      </p:sp>
      <p:sp>
        <p:nvSpPr>
          <p:cNvPr id="30" name="Shape 28"/>
          <p:cNvSpPr/>
          <p:nvPr/>
        </p:nvSpPr>
        <p:spPr>
          <a:xfrm>
            <a:off x="457200" y="3520440"/>
            <a:ext cx="1371600" cy="429768"/>
          </a:xfrm>
          <a:prstGeom prst="rect">
            <a:avLst/>
          </a:prstGeom>
          <a:solidFill>
            <a:srgbClr val="5B6EAE"/>
          </a:solidFill>
          <a:ln w="12700">
            <a:solidFill>
              <a:srgbClr val="5B6EAE"/>
            </a:solidFill>
            <a:prstDash val="solid"/>
          </a:ln>
        </p:spPr>
      </p:sp>
      <p:sp>
        <p:nvSpPr>
          <p:cNvPr id="31" name="Text 29"/>
          <p:cNvSpPr/>
          <p:nvPr/>
        </p:nvSpPr>
        <p:spPr>
          <a:xfrm>
            <a:off x="457200" y="3520440"/>
            <a:ext cx="1371600" cy="42976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14:30–15:30</a:t>
            </a:r>
            <a:endParaRPr lang="en-US" sz="850" dirty="0"/>
          </a:p>
        </p:txBody>
      </p:sp>
      <p:sp>
        <p:nvSpPr>
          <p:cNvPr id="32" name="Shape 30"/>
          <p:cNvSpPr/>
          <p:nvPr/>
        </p:nvSpPr>
        <p:spPr>
          <a:xfrm>
            <a:off x="1920240" y="3520440"/>
            <a:ext cx="6766560" cy="429768"/>
          </a:xfrm>
          <a:prstGeom prst="rect">
            <a:avLst/>
          </a:prstGeom>
          <a:solidFill>
            <a:srgbClr val="112240"/>
          </a:solidFill>
          <a:ln w="6350">
            <a:solidFill>
              <a:srgbClr val="1E3A5F"/>
            </a:solidFill>
            <a:prstDash val="solid"/>
          </a:ln>
        </p:spPr>
      </p:sp>
      <p:sp>
        <p:nvSpPr>
          <p:cNvPr id="33" name="Text 31"/>
          <p:cNvSpPr/>
          <p:nvPr/>
        </p:nvSpPr>
        <p:spPr>
          <a:xfrm>
            <a:off x="2029968" y="3557016"/>
            <a:ext cx="3200400" cy="18288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Integration + Context Window</a:t>
            </a:r>
            <a:endParaRPr lang="en-US" sz="1000" dirty="0"/>
          </a:p>
        </p:txBody>
      </p:sp>
      <p:sp>
        <p:nvSpPr>
          <p:cNvPr id="34" name="Text 32"/>
          <p:cNvSpPr/>
          <p:nvPr/>
        </p:nvSpPr>
        <p:spPr>
          <a:xfrm>
            <a:off x="2029968" y="3739896"/>
            <a:ext cx="6492240" cy="182880"/>
          </a:xfrm>
          <a:prstGeom prst="rect">
            <a:avLst/>
          </a:prstGeom>
          <a:noFill/>
          <a:ln/>
        </p:spPr>
        <p:txBody>
          <a:bodyPr wrap="square" lIns="0" tIns="0" rIns="0" bIns="0" rtlCol="0" anchor="ctr"/>
          <a:lstStyle/>
          <a:p>
            <a:pPr indent="0" marL="0">
              <a:buNone/>
            </a:pPr>
            <a:r>
              <a:rPr lang="en-US" sz="900" dirty="0">
                <a:solidFill>
                  <a:srgbClr val="90E0EF"/>
                </a:solidFill>
                <a:latin typeface="Calibri" pitchFamily="34" charset="0"/>
                <a:ea typeface="Calibri" pitchFamily="34" charset="-122"/>
                <a:cs typeface="Calibri" pitchFamily="34" charset="-120"/>
              </a:rPr>
              <a:t>Context Window tab + end-to-end: message → proxy → DB → dashboard</a:t>
            </a:r>
            <a:endParaRPr lang="en-US" sz="900" dirty="0"/>
          </a:p>
        </p:txBody>
      </p:sp>
      <p:sp>
        <p:nvSpPr>
          <p:cNvPr id="35" name="Shape 33"/>
          <p:cNvSpPr/>
          <p:nvPr/>
        </p:nvSpPr>
        <p:spPr>
          <a:xfrm>
            <a:off x="457200" y="4032504"/>
            <a:ext cx="1371600" cy="429768"/>
          </a:xfrm>
          <a:prstGeom prst="rect">
            <a:avLst/>
          </a:prstGeom>
          <a:solidFill>
            <a:srgbClr val="D97706"/>
          </a:solidFill>
          <a:ln w="12700">
            <a:solidFill>
              <a:srgbClr val="D97706"/>
            </a:solidFill>
            <a:prstDash val="solid"/>
          </a:ln>
        </p:spPr>
      </p:sp>
      <p:sp>
        <p:nvSpPr>
          <p:cNvPr id="36" name="Text 34"/>
          <p:cNvSpPr/>
          <p:nvPr/>
        </p:nvSpPr>
        <p:spPr>
          <a:xfrm>
            <a:off x="457200" y="4032504"/>
            <a:ext cx="1371600" cy="42976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15:30–16:00</a:t>
            </a:r>
            <a:endParaRPr lang="en-US" sz="850" dirty="0"/>
          </a:p>
        </p:txBody>
      </p:sp>
      <p:sp>
        <p:nvSpPr>
          <p:cNvPr id="37" name="Shape 35"/>
          <p:cNvSpPr/>
          <p:nvPr/>
        </p:nvSpPr>
        <p:spPr>
          <a:xfrm>
            <a:off x="1920240" y="4032504"/>
            <a:ext cx="6766560" cy="429768"/>
          </a:xfrm>
          <a:prstGeom prst="rect">
            <a:avLst/>
          </a:prstGeom>
          <a:solidFill>
            <a:srgbClr val="112240"/>
          </a:solidFill>
          <a:ln w="6350">
            <a:solidFill>
              <a:srgbClr val="1E3A5F"/>
            </a:solidFill>
            <a:prstDash val="solid"/>
          </a:ln>
        </p:spPr>
      </p:sp>
      <p:sp>
        <p:nvSpPr>
          <p:cNvPr id="38" name="Text 36"/>
          <p:cNvSpPr/>
          <p:nvPr/>
        </p:nvSpPr>
        <p:spPr>
          <a:xfrm>
            <a:off x="2029968" y="4069080"/>
            <a:ext cx="3200400" cy="18288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Stretch + Buffer</a:t>
            </a:r>
            <a:endParaRPr lang="en-US" sz="1000" dirty="0"/>
          </a:p>
        </p:txBody>
      </p:sp>
      <p:sp>
        <p:nvSpPr>
          <p:cNvPr id="39" name="Text 37"/>
          <p:cNvSpPr/>
          <p:nvPr/>
        </p:nvSpPr>
        <p:spPr>
          <a:xfrm>
            <a:off x="2029968" y="4251960"/>
            <a:ext cx="6492240" cy="182880"/>
          </a:xfrm>
          <a:prstGeom prst="rect">
            <a:avLst/>
          </a:prstGeom>
          <a:noFill/>
          <a:ln/>
        </p:spPr>
        <p:txBody>
          <a:bodyPr wrap="square" lIns="0" tIns="0" rIns="0" bIns="0" rtlCol="0" anchor="ctr"/>
          <a:lstStyle/>
          <a:p>
            <a:pPr indent="0" marL="0">
              <a:buNone/>
            </a:pPr>
            <a:r>
              <a:rPr lang="en-US" sz="900" dirty="0">
                <a:solidFill>
                  <a:srgbClr val="90E0EF"/>
                </a:solidFill>
                <a:latin typeface="Calibri" pitchFamily="34" charset="0"/>
                <a:ea typeface="Calibri" pitchFamily="34" charset="-122"/>
                <a:cs typeface="Calibri" pitchFamily="34" charset="-120"/>
              </a:rPr>
              <a:t>Phase 5 Rule 1 (model routing) if ahead; bug fixes if behind</a:t>
            </a:r>
            <a:endParaRPr lang="en-US" sz="900" dirty="0"/>
          </a:p>
        </p:txBody>
      </p:sp>
      <p:sp>
        <p:nvSpPr>
          <p:cNvPr id="40" name="Shape 38"/>
          <p:cNvSpPr/>
          <p:nvPr/>
        </p:nvSpPr>
        <p:spPr>
          <a:xfrm>
            <a:off x="457200" y="4544568"/>
            <a:ext cx="1371600" cy="429768"/>
          </a:xfrm>
          <a:prstGeom prst="rect">
            <a:avLst/>
          </a:prstGeom>
          <a:solidFill>
            <a:srgbClr val="38A169"/>
          </a:solidFill>
          <a:ln w="12700">
            <a:solidFill>
              <a:srgbClr val="38A169"/>
            </a:solidFill>
            <a:prstDash val="solid"/>
          </a:ln>
        </p:spPr>
      </p:sp>
      <p:sp>
        <p:nvSpPr>
          <p:cNvPr id="41" name="Text 39"/>
          <p:cNvSpPr/>
          <p:nvPr/>
        </p:nvSpPr>
        <p:spPr>
          <a:xfrm>
            <a:off x="457200" y="4544568"/>
            <a:ext cx="1371600" cy="42976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16:00–17:00</a:t>
            </a:r>
            <a:endParaRPr lang="en-US" sz="850" dirty="0"/>
          </a:p>
        </p:txBody>
      </p:sp>
      <p:sp>
        <p:nvSpPr>
          <p:cNvPr id="42" name="Shape 40"/>
          <p:cNvSpPr/>
          <p:nvPr/>
        </p:nvSpPr>
        <p:spPr>
          <a:xfrm>
            <a:off x="1920240" y="4544568"/>
            <a:ext cx="6766560" cy="429768"/>
          </a:xfrm>
          <a:prstGeom prst="rect">
            <a:avLst/>
          </a:prstGeom>
          <a:solidFill>
            <a:srgbClr val="112240"/>
          </a:solidFill>
          <a:ln w="6350">
            <a:solidFill>
              <a:srgbClr val="1E3A5F"/>
            </a:solidFill>
            <a:prstDash val="solid"/>
          </a:ln>
        </p:spPr>
      </p:sp>
      <p:sp>
        <p:nvSpPr>
          <p:cNvPr id="43" name="Text 41"/>
          <p:cNvSpPr/>
          <p:nvPr/>
        </p:nvSpPr>
        <p:spPr>
          <a:xfrm>
            <a:off x="2029968" y="4581144"/>
            <a:ext cx="3200400" cy="18288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Demo Prep + Presentation</a:t>
            </a:r>
            <a:endParaRPr lang="en-US" sz="1000" dirty="0"/>
          </a:p>
        </p:txBody>
      </p:sp>
      <p:sp>
        <p:nvSpPr>
          <p:cNvPr id="44" name="Text 42"/>
          <p:cNvSpPr/>
          <p:nvPr/>
        </p:nvSpPr>
        <p:spPr>
          <a:xfrm>
            <a:off x="2029968" y="4764024"/>
            <a:ext cx="6492240" cy="182880"/>
          </a:xfrm>
          <a:prstGeom prst="rect">
            <a:avLst/>
          </a:prstGeom>
          <a:noFill/>
          <a:ln/>
        </p:spPr>
        <p:txBody>
          <a:bodyPr wrap="square" lIns="0" tIns="0" rIns="0" bIns="0" rtlCol="0" anchor="ctr"/>
          <a:lstStyle/>
          <a:p>
            <a:pPr indent="0" marL="0">
              <a:buNone/>
            </a:pPr>
            <a:r>
              <a:rPr lang="en-US" sz="900" dirty="0">
                <a:solidFill>
                  <a:srgbClr val="90E0EF"/>
                </a:solidFill>
                <a:latin typeface="Calibri" pitchFamily="34" charset="0"/>
                <a:ea typeface="Calibri" pitchFamily="34" charset="-122"/>
                <a:cs typeface="Calibri" pitchFamily="34" charset="-120"/>
              </a:rPr>
              <a:t>Seed demo data, walk the live demo script, prepare 5-min team demo</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457200" y="137160"/>
            <a:ext cx="2011680" cy="256032"/>
          </a:xfrm>
          <a:prstGeom prst="roundRect">
            <a:avLst>
              <a:gd name="adj" fmla="val 17857"/>
            </a:avLst>
          </a:prstGeom>
          <a:solidFill>
            <a:srgbClr val="00B4D8"/>
          </a:solidFill>
          <a:ln w="12700">
            <a:solidFill>
              <a:srgbClr val="00B4D8"/>
            </a:solidFill>
            <a:prstDash val="solid"/>
          </a:ln>
        </p:spPr>
      </p:sp>
      <p:sp>
        <p:nvSpPr>
          <p:cNvPr id="3" name="Text 1"/>
          <p:cNvSpPr/>
          <p:nvPr/>
        </p:nvSpPr>
        <p:spPr>
          <a:xfrm>
            <a:off x="457200" y="137160"/>
            <a:ext cx="2011680" cy="256032"/>
          </a:xfrm>
          <a:prstGeom prst="rect">
            <a:avLst/>
          </a:prstGeom>
          <a:noFill/>
          <a:ln/>
        </p:spPr>
        <p:txBody>
          <a:bodyPr wrap="square" lIns="0" tIns="0" rIns="0" bIns="0" rtlCol="0" anchor="ctr"/>
          <a:lstStyle/>
          <a:p>
            <a:pPr algn="ctr" indent="0" marL="0">
              <a:buNone/>
            </a:pPr>
            <a:r>
              <a:rPr lang="en-US" sz="800" b="1" dirty="0">
                <a:solidFill>
                  <a:srgbClr val="0A1628"/>
                </a:solidFill>
                <a:latin typeface="Calibri" pitchFamily="34" charset="0"/>
                <a:ea typeface="Calibri" pitchFamily="34" charset="-122"/>
                <a:cs typeface="Calibri" pitchFamily="34" charset="-120"/>
              </a:rPr>
              <a:t>DEMO SCRIPT</a:t>
            </a:r>
            <a:endParaRPr lang="en-US" sz="800" dirty="0"/>
          </a:p>
        </p:txBody>
      </p:sp>
      <p:sp>
        <p:nvSpPr>
          <p:cNvPr id="4" name="Text 2"/>
          <p:cNvSpPr/>
          <p:nvPr/>
        </p:nvSpPr>
        <p:spPr>
          <a:xfrm>
            <a:off x="457200" y="502920"/>
            <a:ext cx="8229600" cy="457200"/>
          </a:xfrm>
          <a:prstGeom prst="rect">
            <a:avLst/>
          </a:prstGeom>
          <a:noFill/>
          <a:ln/>
        </p:spPr>
        <p:txBody>
          <a:bodyPr wrap="square" lIns="0" tIns="0" rIns="0" bIns="0" rtlCol="0" anchor="ctr"/>
          <a:lstStyle/>
          <a:p>
            <a:pPr indent="0" marL="0">
              <a:buNone/>
            </a:pPr>
            <a:r>
              <a:rPr lang="en-US" sz="2200" b="1" dirty="0">
                <a:solidFill>
                  <a:srgbClr val="0A1628"/>
                </a:solidFill>
                <a:latin typeface="Calibri" pitchFamily="34" charset="0"/>
                <a:ea typeface="Calibri" pitchFamily="34" charset="-122"/>
                <a:cs typeface="Calibri" pitchFamily="34" charset="-120"/>
              </a:rPr>
              <a:t>What to Demo — The 5-Minute Walkthrough</a:t>
            </a:r>
            <a:endParaRPr lang="en-US" sz="2200" dirty="0"/>
          </a:p>
        </p:txBody>
      </p:sp>
      <p:sp>
        <p:nvSpPr>
          <p:cNvPr id="5" name="Shape 3"/>
          <p:cNvSpPr/>
          <p:nvPr/>
        </p:nvSpPr>
        <p:spPr>
          <a:xfrm>
            <a:off x="457200" y="960120"/>
            <a:ext cx="4069080" cy="1188720"/>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2000"/>
              </a:srgbClr>
            </a:outerShdw>
          </a:effectLst>
        </p:spPr>
      </p:sp>
      <p:sp>
        <p:nvSpPr>
          <p:cNvPr id="6" name="Shape 4"/>
          <p:cNvSpPr/>
          <p:nvPr/>
        </p:nvSpPr>
        <p:spPr>
          <a:xfrm>
            <a:off x="457200" y="960120"/>
            <a:ext cx="384048" cy="384048"/>
          </a:xfrm>
          <a:prstGeom prst="rect">
            <a:avLst/>
          </a:prstGeom>
          <a:solidFill>
            <a:srgbClr val="00B4D8"/>
          </a:solidFill>
          <a:ln w="12700">
            <a:solidFill>
              <a:srgbClr val="00B4D8"/>
            </a:solidFill>
            <a:prstDash val="solid"/>
          </a:ln>
        </p:spPr>
      </p:sp>
      <p:sp>
        <p:nvSpPr>
          <p:cNvPr id="7" name="Text 5"/>
          <p:cNvSpPr/>
          <p:nvPr/>
        </p:nvSpPr>
        <p:spPr>
          <a:xfrm>
            <a:off x="457200" y="960120"/>
            <a:ext cx="384048" cy="384048"/>
          </a:xfrm>
          <a:prstGeom prst="rect">
            <a:avLst/>
          </a:prstGeom>
          <a:noFill/>
          <a:ln/>
        </p:spPr>
        <p:txBody>
          <a:bodyPr wrap="square" lIns="0" tIns="0" rIns="0" bIns="0" rtlCol="0" anchor="ctr"/>
          <a:lstStyle/>
          <a:p>
            <a:pPr algn="ctr" indent="0" marL="0">
              <a:buNone/>
            </a:pPr>
            <a:r>
              <a:rPr lang="en-US" sz="1400" b="1" dirty="0">
                <a:solidFill>
                  <a:srgbClr val="0A1628"/>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914400" y="1014984"/>
            <a:ext cx="3474720" cy="274320"/>
          </a:xfrm>
          <a:prstGeom prst="rect">
            <a:avLst/>
          </a:prstGeom>
          <a:noFill/>
          <a:ln/>
        </p:spPr>
        <p:txBody>
          <a:bodyPr wrap="square" lIns="0" tIns="0" rIns="0" bIns="0" rtlCol="0" anchor="ctr"/>
          <a:lstStyle/>
          <a:p>
            <a:pPr indent="0" marL="0">
              <a:buNone/>
            </a:pPr>
            <a:r>
              <a:rPr lang="en-US" sz="1100" b="1" dirty="0">
                <a:solidFill>
                  <a:srgbClr val="0A1628"/>
                </a:solidFill>
                <a:latin typeface="Calibri" pitchFamily="34" charset="0"/>
                <a:ea typeface="Calibri" pitchFamily="34" charset="-122"/>
                <a:cs typeface="Calibri" pitchFamily="34" charset="-120"/>
              </a:rPr>
              <a:t>Send a message to ARIA</a:t>
            </a:r>
            <a:endParaRPr lang="en-US" sz="1100" dirty="0"/>
          </a:p>
        </p:txBody>
      </p:sp>
      <p:sp>
        <p:nvSpPr>
          <p:cNvPr id="9" name="Text 7"/>
          <p:cNvSpPr/>
          <p:nvPr/>
        </p:nvSpPr>
        <p:spPr>
          <a:xfrm>
            <a:off x="566928" y="1371600"/>
            <a:ext cx="3840480" cy="685800"/>
          </a:xfrm>
          <a:prstGeom prst="rect">
            <a:avLst/>
          </a:prstGeom>
          <a:noFill/>
          <a:ln/>
        </p:spPr>
        <p:txBody>
          <a:bodyPr wrap="square" rtlCol="0" anchor="t"/>
          <a:lstStyle/>
          <a:p>
            <a:pPr indent="0" marL="0">
              <a:buNone/>
            </a:pPr>
            <a:r>
              <a:rPr lang="en-US" sz="950" dirty="0">
                <a:solidFill>
                  <a:srgbClr val="4A5568"/>
                </a:solidFill>
                <a:latin typeface="Calibri" pitchFamily="34" charset="0"/>
                <a:ea typeface="Calibri" pitchFamily="34" charset="-122"/>
                <a:cs typeface="Calibri" pitchFamily="34" charset="-120"/>
              </a:rPr>
              <a:t>Trigger a KYC or AML query via the chat interface. Show the natural language response.</a:t>
            </a:r>
            <a:endParaRPr lang="en-US" sz="950" dirty="0"/>
          </a:p>
        </p:txBody>
      </p:sp>
      <p:sp>
        <p:nvSpPr>
          <p:cNvPr id="10" name="Shape 8"/>
          <p:cNvSpPr/>
          <p:nvPr/>
        </p:nvSpPr>
        <p:spPr>
          <a:xfrm>
            <a:off x="4800600" y="960120"/>
            <a:ext cx="4069080" cy="1188720"/>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2000"/>
              </a:srgbClr>
            </a:outerShdw>
          </a:effectLst>
        </p:spPr>
      </p:sp>
      <p:sp>
        <p:nvSpPr>
          <p:cNvPr id="11" name="Shape 9"/>
          <p:cNvSpPr/>
          <p:nvPr/>
        </p:nvSpPr>
        <p:spPr>
          <a:xfrm>
            <a:off x="4800600" y="960120"/>
            <a:ext cx="384048" cy="384048"/>
          </a:xfrm>
          <a:prstGeom prst="rect">
            <a:avLst/>
          </a:prstGeom>
          <a:solidFill>
            <a:srgbClr val="00B4D8"/>
          </a:solidFill>
          <a:ln w="12700">
            <a:solidFill>
              <a:srgbClr val="00B4D8"/>
            </a:solidFill>
            <a:prstDash val="solid"/>
          </a:ln>
        </p:spPr>
      </p:sp>
      <p:sp>
        <p:nvSpPr>
          <p:cNvPr id="12" name="Text 10"/>
          <p:cNvSpPr/>
          <p:nvPr/>
        </p:nvSpPr>
        <p:spPr>
          <a:xfrm>
            <a:off x="4800600" y="960120"/>
            <a:ext cx="384048" cy="384048"/>
          </a:xfrm>
          <a:prstGeom prst="rect">
            <a:avLst/>
          </a:prstGeom>
          <a:noFill/>
          <a:ln/>
        </p:spPr>
        <p:txBody>
          <a:bodyPr wrap="square" lIns="0" tIns="0" rIns="0" bIns="0" rtlCol="0" anchor="ctr"/>
          <a:lstStyle/>
          <a:p>
            <a:pPr algn="ctr" indent="0" marL="0">
              <a:buNone/>
            </a:pPr>
            <a:r>
              <a:rPr lang="en-US" sz="1400" b="1" dirty="0">
                <a:solidFill>
                  <a:srgbClr val="0A1628"/>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5257800" y="1014984"/>
            <a:ext cx="3474720" cy="274320"/>
          </a:xfrm>
          <a:prstGeom prst="rect">
            <a:avLst/>
          </a:prstGeom>
          <a:noFill/>
          <a:ln/>
        </p:spPr>
        <p:txBody>
          <a:bodyPr wrap="square" lIns="0" tIns="0" rIns="0" bIns="0" rtlCol="0" anchor="ctr"/>
          <a:lstStyle/>
          <a:p>
            <a:pPr indent="0" marL="0">
              <a:buNone/>
            </a:pPr>
            <a:r>
              <a:rPr lang="en-US" sz="1100" b="1" dirty="0">
                <a:solidFill>
                  <a:srgbClr val="0A1628"/>
                </a:solidFill>
                <a:latin typeface="Calibri" pitchFamily="34" charset="0"/>
                <a:ea typeface="Calibri" pitchFamily="34" charset="-122"/>
                <a:cs typeface="Calibri" pitchFamily="34" charset="-120"/>
              </a:rPr>
              <a:t>Open the FinOps Dashboard</a:t>
            </a:r>
            <a:endParaRPr lang="en-US" sz="1100" dirty="0"/>
          </a:p>
        </p:txBody>
      </p:sp>
      <p:sp>
        <p:nvSpPr>
          <p:cNvPr id="14" name="Text 12"/>
          <p:cNvSpPr/>
          <p:nvPr/>
        </p:nvSpPr>
        <p:spPr>
          <a:xfrm>
            <a:off x="4910328" y="1371600"/>
            <a:ext cx="3840480" cy="685800"/>
          </a:xfrm>
          <a:prstGeom prst="rect">
            <a:avLst/>
          </a:prstGeom>
          <a:noFill/>
          <a:ln/>
        </p:spPr>
        <p:txBody>
          <a:bodyPr wrap="square" rtlCol="0" anchor="t"/>
          <a:lstStyle/>
          <a:p>
            <a:pPr indent="0" marL="0">
              <a:buNone/>
            </a:pPr>
            <a:r>
              <a:rPr lang="en-US" sz="950" dirty="0">
                <a:solidFill>
                  <a:srgbClr val="4A5568"/>
                </a:solidFill>
                <a:latin typeface="Calibri" pitchFamily="34" charset="0"/>
                <a:ea typeface="Calibri" pitchFamily="34" charset="-122"/>
                <a:cs typeface="Calibri" pitchFamily="34" charset="-120"/>
              </a:rPr>
              <a:t>Switch to the React dashboard. Show the Overview tab — MTD spend, daily burn, cache rate updated live.</a:t>
            </a:r>
            <a:endParaRPr lang="en-US" sz="950" dirty="0"/>
          </a:p>
        </p:txBody>
      </p:sp>
      <p:sp>
        <p:nvSpPr>
          <p:cNvPr id="15" name="Shape 13"/>
          <p:cNvSpPr/>
          <p:nvPr/>
        </p:nvSpPr>
        <p:spPr>
          <a:xfrm>
            <a:off x="457200" y="2286000"/>
            <a:ext cx="4069080" cy="1188720"/>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2000"/>
              </a:srgbClr>
            </a:outerShdw>
          </a:effectLst>
        </p:spPr>
      </p:sp>
      <p:sp>
        <p:nvSpPr>
          <p:cNvPr id="16" name="Shape 14"/>
          <p:cNvSpPr/>
          <p:nvPr/>
        </p:nvSpPr>
        <p:spPr>
          <a:xfrm>
            <a:off x="457200" y="2286000"/>
            <a:ext cx="384048" cy="384048"/>
          </a:xfrm>
          <a:prstGeom prst="rect">
            <a:avLst/>
          </a:prstGeom>
          <a:solidFill>
            <a:srgbClr val="00B4D8"/>
          </a:solidFill>
          <a:ln w="12700">
            <a:solidFill>
              <a:srgbClr val="00B4D8"/>
            </a:solidFill>
            <a:prstDash val="solid"/>
          </a:ln>
        </p:spPr>
      </p:sp>
      <p:sp>
        <p:nvSpPr>
          <p:cNvPr id="17" name="Text 15"/>
          <p:cNvSpPr/>
          <p:nvPr/>
        </p:nvSpPr>
        <p:spPr>
          <a:xfrm>
            <a:off x="457200" y="2286000"/>
            <a:ext cx="384048" cy="384048"/>
          </a:xfrm>
          <a:prstGeom prst="rect">
            <a:avLst/>
          </a:prstGeom>
          <a:noFill/>
          <a:ln/>
        </p:spPr>
        <p:txBody>
          <a:bodyPr wrap="square" lIns="0" tIns="0" rIns="0" bIns="0" rtlCol="0" anchor="ctr"/>
          <a:lstStyle/>
          <a:p>
            <a:pPr algn="ctr" indent="0" marL="0">
              <a:buNone/>
            </a:pPr>
            <a:r>
              <a:rPr lang="en-US" sz="1400" b="1" dirty="0">
                <a:solidFill>
                  <a:srgbClr val="0A1628"/>
                </a:solidFill>
                <a:latin typeface="Calibri" pitchFamily="34" charset="0"/>
                <a:ea typeface="Calibri" pitchFamily="34" charset="-122"/>
                <a:cs typeface="Calibri" pitchFamily="34" charset="-120"/>
              </a:rPr>
              <a:t>3</a:t>
            </a:r>
            <a:endParaRPr lang="en-US" sz="1400" dirty="0"/>
          </a:p>
        </p:txBody>
      </p:sp>
      <p:sp>
        <p:nvSpPr>
          <p:cNvPr id="18" name="Text 16"/>
          <p:cNvSpPr/>
          <p:nvPr/>
        </p:nvSpPr>
        <p:spPr>
          <a:xfrm>
            <a:off x="914400" y="2340864"/>
            <a:ext cx="3474720" cy="274320"/>
          </a:xfrm>
          <a:prstGeom prst="rect">
            <a:avLst/>
          </a:prstGeom>
          <a:noFill/>
          <a:ln/>
        </p:spPr>
        <p:txBody>
          <a:bodyPr wrap="square" lIns="0" tIns="0" rIns="0" bIns="0" rtlCol="0" anchor="ctr"/>
          <a:lstStyle/>
          <a:p>
            <a:pPr indent="0" marL="0">
              <a:buNone/>
            </a:pPr>
            <a:r>
              <a:rPr lang="en-US" sz="1100" b="1" dirty="0">
                <a:solidFill>
                  <a:srgbClr val="0A1628"/>
                </a:solidFill>
                <a:latin typeface="Calibri" pitchFamily="34" charset="0"/>
                <a:ea typeface="Calibri" pitchFamily="34" charset="-122"/>
                <a:cs typeface="Calibri" pitchFamily="34" charset="-120"/>
              </a:rPr>
              <a:t>Context Window Tab</a:t>
            </a:r>
            <a:endParaRPr lang="en-US" sz="1100" dirty="0"/>
          </a:p>
        </p:txBody>
      </p:sp>
      <p:sp>
        <p:nvSpPr>
          <p:cNvPr id="19" name="Text 17"/>
          <p:cNvSpPr/>
          <p:nvPr/>
        </p:nvSpPr>
        <p:spPr>
          <a:xfrm>
            <a:off x="566928" y="2697480"/>
            <a:ext cx="3840480" cy="685800"/>
          </a:xfrm>
          <a:prstGeom prst="rect">
            <a:avLst/>
          </a:prstGeom>
          <a:noFill/>
          <a:ln/>
        </p:spPr>
        <p:txBody>
          <a:bodyPr wrap="square" rtlCol="0" anchor="t"/>
          <a:lstStyle/>
          <a:p>
            <a:pPr indent="0" marL="0">
              <a:buNone/>
            </a:pPr>
            <a:r>
              <a:rPr lang="en-US" sz="950" dirty="0">
                <a:solidFill>
                  <a:srgbClr val="4A5568"/>
                </a:solidFill>
                <a:latin typeface="Calibri" pitchFamily="34" charset="0"/>
                <a:ea typeface="Calibri" pitchFamily="34" charset="-122"/>
                <a:cs typeface="Calibri" pitchFamily="34" charset="-120"/>
              </a:rPr>
              <a:t>Select the session ID just used. Show the 5-segment donut chart — how many tokens went to RAG vs conversation history vs system prompt.</a:t>
            </a:r>
            <a:endParaRPr lang="en-US" sz="950" dirty="0"/>
          </a:p>
        </p:txBody>
      </p:sp>
      <p:sp>
        <p:nvSpPr>
          <p:cNvPr id="20" name="Shape 18"/>
          <p:cNvSpPr/>
          <p:nvPr/>
        </p:nvSpPr>
        <p:spPr>
          <a:xfrm>
            <a:off x="4800600" y="2286000"/>
            <a:ext cx="4069080" cy="1188720"/>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2000"/>
              </a:srgbClr>
            </a:outerShdw>
          </a:effectLst>
        </p:spPr>
      </p:sp>
      <p:sp>
        <p:nvSpPr>
          <p:cNvPr id="21" name="Shape 19"/>
          <p:cNvSpPr/>
          <p:nvPr/>
        </p:nvSpPr>
        <p:spPr>
          <a:xfrm>
            <a:off x="4800600" y="2286000"/>
            <a:ext cx="384048" cy="384048"/>
          </a:xfrm>
          <a:prstGeom prst="rect">
            <a:avLst/>
          </a:prstGeom>
          <a:solidFill>
            <a:srgbClr val="00B4D8"/>
          </a:solidFill>
          <a:ln w="12700">
            <a:solidFill>
              <a:srgbClr val="00B4D8"/>
            </a:solidFill>
            <a:prstDash val="solid"/>
          </a:ln>
        </p:spPr>
      </p:sp>
      <p:sp>
        <p:nvSpPr>
          <p:cNvPr id="22" name="Text 20"/>
          <p:cNvSpPr/>
          <p:nvPr/>
        </p:nvSpPr>
        <p:spPr>
          <a:xfrm>
            <a:off x="4800600" y="2286000"/>
            <a:ext cx="384048" cy="384048"/>
          </a:xfrm>
          <a:prstGeom prst="rect">
            <a:avLst/>
          </a:prstGeom>
          <a:noFill/>
          <a:ln/>
        </p:spPr>
        <p:txBody>
          <a:bodyPr wrap="square" lIns="0" tIns="0" rIns="0" bIns="0" rtlCol="0" anchor="ctr"/>
          <a:lstStyle/>
          <a:p>
            <a:pPr algn="ctr" indent="0" marL="0">
              <a:buNone/>
            </a:pPr>
            <a:r>
              <a:rPr lang="en-US" sz="1400" b="1" dirty="0">
                <a:solidFill>
                  <a:srgbClr val="0A1628"/>
                </a:solidFill>
                <a:latin typeface="Calibri" pitchFamily="34" charset="0"/>
                <a:ea typeface="Calibri" pitchFamily="34" charset="-122"/>
                <a:cs typeface="Calibri" pitchFamily="34" charset="-120"/>
              </a:rPr>
              <a:t>4</a:t>
            </a:r>
            <a:endParaRPr lang="en-US" sz="1400" dirty="0"/>
          </a:p>
        </p:txBody>
      </p:sp>
      <p:sp>
        <p:nvSpPr>
          <p:cNvPr id="23" name="Text 21"/>
          <p:cNvSpPr/>
          <p:nvPr/>
        </p:nvSpPr>
        <p:spPr>
          <a:xfrm>
            <a:off x="5257800" y="2340864"/>
            <a:ext cx="3474720" cy="274320"/>
          </a:xfrm>
          <a:prstGeom prst="rect">
            <a:avLst/>
          </a:prstGeom>
          <a:noFill/>
          <a:ln/>
        </p:spPr>
        <p:txBody>
          <a:bodyPr wrap="square" lIns="0" tIns="0" rIns="0" bIns="0" rtlCol="0" anchor="ctr"/>
          <a:lstStyle/>
          <a:p>
            <a:pPr indent="0" marL="0">
              <a:buNone/>
            </a:pPr>
            <a:r>
              <a:rPr lang="en-US" sz="1100" b="1" dirty="0">
                <a:solidFill>
                  <a:srgbClr val="0A1628"/>
                </a:solidFill>
                <a:latin typeface="Calibri" pitchFamily="34" charset="0"/>
                <a:ea typeface="Calibri" pitchFamily="34" charset="-122"/>
                <a:cs typeface="Calibri" pitchFamily="34" charset="-120"/>
              </a:rPr>
              <a:t>Features Tab</a:t>
            </a:r>
            <a:endParaRPr lang="en-US" sz="1100" dirty="0"/>
          </a:p>
        </p:txBody>
      </p:sp>
      <p:sp>
        <p:nvSpPr>
          <p:cNvPr id="24" name="Text 22"/>
          <p:cNvSpPr/>
          <p:nvPr/>
        </p:nvSpPr>
        <p:spPr>
          <a:xfrm>
            <a:off x="4910328" y="2697480"/>
            <a:ext cx="3840480" cy="685800"/>
          </a:xfrm>
          <a:prstGeom prst="rect">
            <a:avLst/>
          </a:prstGeom>
          <a:noFill/>
          <a:ln/>
        </p:spPr>
        <p:txBody>
          <a:bodyPr wrap="square" rtlCol="0" anchor="t"/>
          <a:lstStyle/>
          <a:p>
            <a:pPr indent="0" marL="0">
              <a:buNone/>
            </a:pPr>
            <a:r>
              <a:rPr lang="en-US" sz="950" dirty="0">
                <a:solidFill>
                  <a:srgbClr val="4A5568"/>
                </a:solidFill>
                <a:latin typeface="Calibri" pitchFamily="34" charset="0"/>
                <a:ea typeface="Calibri" pitchFamily="34" charset="-122"/>
                <a:cs typeface="Calibri" pitchFamily="34" charset="-120"/>
              </a:rPr>
              <a:t>Show cost attribution by feature: KYC vs AML vs report generation — which feature costs the most per session.</a:t>
            </a:r>
            <a:endParaRPr lang="en-US" sz="950" dirty="0"/>
          </a:p>
        </p:txBody>
      </p:sp>
      <p:sp>
        <p:nvSpPr>
          <p:cNvPr id="25" name="Shape 23"/>
          <p:cNvSpPr/>
          <p:nvPr/>
        </p:nvSpPr>
        <p:spPr>
          <a:xfrm>
            <a:off x="457200" y="3611880"/>
            <a:ext cx="4069080" cy="1188720"/>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2000"/>
              </a:srgbClr>
            </a:outerShdw>
          </a:effectLst>
        </p:spPr>
      </p:sp>
      <p:sp>
        <p:nvSpPr>
          <p:cNvPr id="26" name="Shape 24"/>
          <p:cNvSpPr/>
          <p:nvPr/>
        </p:nvSpPr>
        <p:spPr>
          <a:xfrm>
            <a:off x="457200" y="3611880"/>
            <a:ext cx="384048" cy="384048"/>
          </a:xfrm>
          <a:prstGeom prst="rect">
            <a:avLst/>
          </a:prstGeom>
          <a:solidFill>
            <a:srgbClr val="00B4D8"/>
          </a:solidFill>
          <a:ln w="12700">
            <a:solidFill>
              <a:srgbClr val="00B4D8"/>
            </a:solidFill>
            <a:prstDash val="solid"/>
          </a:ln>
        </p:spPr>
      </p:sp>
      <p:sp>
        <p:nvSpPr>
          <p:cNvPr id="27" name="Text 25"/>
          <p:cNvSpPr/>
          <p:nvPr/>
        </p:nvSpPr>
        <p:spPr>
          <a:xfrm>
            <a:off x="457200" y="3611880"/>
            <a:ext cx="384048" cy="384048"/>
          </a:xfrm>
          <a:prstGeom prst="rect">
            <a:avLst/>
          </a:prstGeom>
          <a:noFill/>
          <a:ln/>
        </p:spPr>
        <p:txBody>
          <a:bodyPr wrap="square" lIns="0" tIns="0" rIns="0" bIns="0" rtlCol="0" anchor="ctr"/>
          <a:lstStyle/>
          <a:p>
            <a:pPr algn="ctr" indent="0" marL="0">
              <a:buNone/>
            </a:pPr>
            <a:r>
              <a:rPr lang="en-US" sz="1400" b="1" dirty="0">
                <a:solidFill>
                  <a:srgbClr val="0A1628"/>
                </a:solidFill>
                <a:latin typeface="Calibri" pitchFamily="34" charset="0"/>
                <a:ea typeface="Calibri" pitchFamily="34" charset="-122"/>
                <a:cs typeface="Calibri" pitchFamily="34" charset="-120"/>
              </a:rPr>
              <a:t>5</a:t>
            </a:r>
            <a:endParaRPr lang="en-US" sz="1400" dirty="0"/>
          </a:p>
        </p:txBody>
      </p:sp>
      <p:sp>
        <p:nvSpPr>
          <p:cNvPr id="28" name="Text 26"/>
          <p:cNvSpPr/>
          <p:nvPr/>
        </p:nvSpPr>
        <p:spPr>
          <a:xfrm>
            <a:off x="914400" y="3666744"/>
            <a:ext cx="3474720" cy="274320"/>
          </a:xfrm>
          <a:prstGeom prst="rect">
            <a:avLst/>
          </a:prstGeom>
          <a:noFill/>
          <a:ln/>
        </p:spPr>
        <p:txBody>
          <a:bodyPr wrap="square" lIns="0" tIns="0" rIns="0" bIns="0" rtlCol="0" anchor="ctr"/>
          <a:lstStyle/>
          <a:p>
            <a:pPr indent="0" marL="0">
              <a:buNone/>
            </a:pPr>
            <a:r>
              <a:rPr lang="en-US" sz="1100" b="1" dirty="0">
                <a:solidFill>
                  <a:srgbClr val="0A1628"/>
                </a:solidFill>
                <a:latin typeface="Calibri" pitchFamily="34" charset="0"/>
                <a:ea typeface="Calibri" pitchFamily="34" charset="-122"/>
                <a:cs typeface="Calibri" pitchFamily="34" charset="-120"/>
              </a:rPr>
              <a:t>Trends Tab</a:t>
            </a:r>
            <a:endParaRPr lang="en-US" sz="1100" dirty="0"/>
          </a:p>
        </p:txBody>
      </p:sp>
      <p:sp>
        <p:nvSpPr>
          <p:cNvPr id="29" name="Text 27"/>
          <p:cNvSpPr/>
          <p:nvPr/>
        </p:nvSpPr>
        <p:spPr>
          <a:xfrm>
            <a:off x="566928" y="4023360"/>
            <a:ext cx="3840480" cy="685800"/>
          </a:xfrm>
          <a:prstGeom prst="rect">
            <a:avLst/>
          </a:prstGeom>
          <a:noFill/>
          <a:ln/>
        </p:spPr>
        <p:txBody>
          <a:bodyPr wrap="square" rtlCol="0" anchor="t"/>
          <a:lstStyle/>
          <a:p>
            <a:pPr indent="0" marL="0">
              <a:buNone/>
            </a:pPr>
            <a:r>
              <a:rPr lang="en-US" sz="950" dirty="0">
                <a:solidFill>
                  <a:srgbClr val="4A5568"/>
                </a:solidFill>
                <a:latin typeface="Calibri" pitchFamily="34" charset="0"/>
                <a:ea typeface="Calibri" pitchFamily="34" charset="-122"/>
                <a:cs typeface="Calibri" pitchFamily="34" charset="-120"/>
              </a:rPr>
              <a:t>Show the 30-day daily cost chart. Point out the day-over-day burn trend.</a:t>
            </a:r>
            <a:endParaRPr lang="en-US" sz="950" dirty="0"/>
          </a:p>
        </p:txBody>
      </p:sp>
      <p:sp>
        <p:nvSpPr>
          <p:cNvPr id="30" name="Shape 28"/>
          <p:cNvSpPr/>
          <p:nvPr/>
        </p:nvSpPr>
        <p:spPr>
          <a:xfrm>
            <a:off x="4800600" y="3611880"/>
            <a:ext cx="4069080" cy="1188720"/>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2000"/>
              </a:srgbClr>
            </a:outerShdw>
          </a:effectLst>
        </p:spPr>
      </p:sp>
      <p:sp>
        <p:nvSpPr>
          <p:cNvPr id="31" name="Shape 29"/>
          <p:cNvSpPr/>
          <p:nvPr/>
        </p:nvSpPr>
        <p:spPr>
          <a:xfrm>
            <a:off x="4800600" y="3611880"/>
            <a:ext cx="384048" cy="384048"/>
          </a:xfrm>
          <a:prstGeom prst="rect">
            <a:avLst/>
          </a:prstGeom>
          <a:solidFill>
            <a:srgbClr val="00B4D8"/>
          </a:solidFill>
          <a:ln w="12700">
            <a:solidFill>
              <a:srgbClr val="00B4D8"/>
            </a:solidFill>
            <a:prstDash val="solid"/>
          </a:ln>
        </p:spPr>
      </p:sp>
      <p:sp>
        <p:nvSpPr>
          <p:cNvPr id="32" name="Text 30"/>
          <p:cNvSpPr/>
          <p:nvPr/>
        </p:nvSpPr>
        <p:spPr>
          <a:xfrm>
            <a:off x="4800600" y="3611880"/>
            <a:ext cx="384048" cy="384048"/>
          </a:xfrm>
          <a:prstGeom prst="rect">
            <a:avLst/>
          </a:prstGeom>
          <a:noFill/>
          <a:ln/>
        </p:spPr>
        <p:txBody>
          <a:bodyPr wrap="square" lIns="0" tIns="0" rIns="0" bIns="0" rtlCol="0" anchor="ctr"/>
          <a:lstStyle/>
          <a:p>
            <a:pPr algn="ctr" indent="0" marL="0">
              <a:buNone/>
            </a:pPr>
            <a:r>
              <a:rPr lang="en-US" sz="1400" b="1" dirty="0">
                <a:solidFill>
                  <a:srgbClr val="0A1628"/>
                </a:solidFill>
                <a:latin typeface="Calibri" pitchFamily="34" charset="0"/>
                <a:ea typeface="Calibri" pitchFamily="34" charset="-122"/>
                <a:cs typeface="Calibri" pitchFamily="34" charset="-120"/>
              </a:rPr>
              <a:t>6</a:t>
            </a:r>
            <a:endParaRPr lang="en-US" sz="1400" dirty="0"/>
          </a:p>
        </p:txBody>
      </p:sp>
      <p:sp>
        <p:nvSpPr>
          <p:cNvPr id="33" name="Text 31"/>
          <p:cNvSpPr/>
          <p:nvPr/>
        </p:nvSpPr>
        <p:spPr>
          <a:xfrm>
            <a:off x="5257800" y="3666744"/>
            <a:ext cx="3474720" cy="274320"/>
          </a:xfrm>
          <a:prstGeom prst="rect">
            <a:avLst/>
          </a:prstGeom>
          <a:noFill/>
          <a:ln/>
        </p:spPr>
        <p:txBody>
          <a:bodyPr wrap="square" lIns="0" tIns="0" rIns="0" bIns="0" rtlCol="0" anchor="ctr"/>
          <a:lstStyle/>
          <a:p>
            <a:pPr indent="0" marL="0">
              <a:buNone/>
            </a:pPr>
            <a:r>
              <a:rPr lang="en-US" sz="1100" b="1" dirty="0">
                <a:solidFill>
                  <a:srgbClr val="0A1628"/>
                </a:solidFill>
                <a:latin typeface="Calibri" pitchFamily="34" charset="0"/>
                <a:ea typeface="Calibri" pitchFamily="34" charset="-122"/>
                <a:cs typeface="Calibri" pitchFamily="34" charset="-120"/>
              </a:rPr>
              <a:t>Stretch: Optimizer in action</a:t>
            </a:r>
            <a:endParaRPr lang="en-US" sz="1100" dirty="0"/>
          </a:p>
        </p:txBody>
      </p:sp>
      <p:sp>
        <p:nvSpPr>
          <p:cNvPr id="34" name="Text 32"/>
          <p:cNvSpPr/>
          <p:nvPr/>
        </p:nvSpPr>
        <p:spPr>
          <a:xfrm>
            <a:off x="4910328" y="4023360"/>
            <a:ext cx="3840480" cy="685800"/>
          </a:xfrm>
          <a:prstGeom prst="rect">
            <a:avLst/>
          </a:prstGeom>
          <a:noFill/>
          <a:ln/>
        </p:spPr>
        <p:txBody>
          <a:bodyPr wrap="square" rtlCol="0" anchor="t"/>
          <a:lstStyle/>
          <a:p>
            <a:pPr indent="0" marL="0">
              <a:buNone/>
            </a:pPr>
            <a:r>
              <a:rPr lang="en-US" sz="950" dirty="0">
                <a:solidFill>
                  <a:srgbClr val="4A5568"/>
                </a:solidFill>
                <a:latin typeface="Calibri" pitchFamily="34" charset="0"/>
                <a:ea typeface="Calibri" pitchFamily="34" charset="-122"/>
                <a:cs typeface="Calibri" pitchFamily="34" charset="-120"/>
              </a:rPr>
              <a:t>If Phase 5 is built: send a simple Q&amp;A query, show it was auto-routed to Haiku instead of Sonnet. Open Optimizer tab — show the action log and estimated savings.</a:t>
            </a:r>
            <a:endParaRPr lang="en-US" sz="950" dirty="0"/>
          </a:p>
        </p:txBody>
      </p:sp>
      <p:sp>
        <p:nvSpPr>
          <p:cNvPr id="35" name="Shape 33"/>
          <p:cNvSpPr/>
          <p:nvPr/>
        </p:nvSpPr>
        <p:spPr>
          <a:xfrm>
            <a:off x="457200" y="4626864"/>
            <a:ext cx="8229600" cy="292608"/>
          </a:xfrm>
          <a:prstGeom prst="rect">
            <a:avLst/>
          </a:prstGeom>
          <a:solidFill>
            <a:srgbClr val="112240"/>
          </a:solidFill>
          <a:ln w="12700">
            <a:solidFill>
              <a:srgbClr val="112240"/>
            </a:solidFill>
            <a:prstDash val="solid"/>
          </a:ln>
        </p:spPr>
      </p:sp>
      <p:sp>
        <p:nvSpPr>
          <p:cNvPr id="36" name="Text 34"/>
          <p:cNvSpPr/>
          <p:nvPr/>
        </p:nvSpPr>
        <p:spPr>
          <a:xfrm>
            <a:off x="594360" y="4626864"/>
            <a:ext cx="7955280" cy="292608"/>
          </a:xfrm>
          <a:prstGeom prst="rect">
            <a:avLst/>
          </a:prstGeom>
          <a:noFill/>
          <a:ln/>
        </p:spPr>
        <p:txBody>
          <a:bodyPr wrap="square" lIns="0" tIns="0" rIns="0" bIns="0" rtlCol="0" anchor="ctr"/>
          <a:lstStyle/>
          <a:p>
            <a:pPr indent="0" marL="0">
              <a:buNone/>
            </a:pPr>
            <a:r>
              <a:rPr lang="en-US" sz="900" i="1" dirty="0">
                <a:solidFill>
                  <a:srgbClr val="90E0EF"/>
                </a:solidFill>
                <a:latin typeface="Calibri" pitchFamily="34" charset="0"/>
                <a:ea typeface="Calibri" pitchFamily="34" charset="-122"/>
                <a:cs typeface="Calibri" pitchFamily="34" charset="-120"/>
              </a:rPr>
              <a:t>Key message for the judges: ARIA closes the loop — from token tracking to autonomous cost optimization to business outcome measurement. Not just observability, but action.</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457200" y="137160"/>
            <a:ext cx="2194560" cy="256032"/>
          </a:xfrm>
          <a:prstGeom prst="roundRect">
            <a:avLst>
              <a:gd name="adj" fmla="val 17857"/>
            </a:avLst>
          </a:prstGeom>
          <a:solidFill>
            <a:srgbClr val="38A169"/>
          </a:solidFill>
          <a:ln w="12700">
            <a:solidFill>
              <a:srgbClr val="38A169"/>
            </a:solidFill>
            <a:prstDash val="solid"/>
          </a:ln>
        </p:spPr>
      </p:sp>
      <p:sp>
        <p:nvSpPr>
          <p:cNvPr id="3" name="Text 1"/>
          <p:cNvSpPr/>
          <p:nvPr/>
        </p:nvSpPr>
        <p:spPr>
          <a:xfrm>
            <a:off x="457200" y="137160"/>
            <a:ext cx="2194560" cy="256032"/>
          </a:xfrm>
          <a:prstGeom prst="rect">
            <a:avLst/>
          </a:prstGeom>
          <a:noFill/>
          <a:ln/>
        </p:spPr>
        <p:txBody>
          <a:bodyPr wrap="square" lIns="0" tIns="0" rIns="0" bIns="0" rtlCol="0" anchor="ctr"/>
          <a:lstStyle/>
          <a:p>
            <a:pPr algn="ctr" indent="0" marL="0">
              <a:buNone/>
            </a:pPr>
            <a:r>
              <a:rPr lang="en-US" sz="800" b="1" dirty="0">
                <a:solidFill>
                  <a:srgbClr val="0A1628"/>
                </a:solidFill>
                <a:latin typeface="Calibri" pitchFamily="34" charset="0"/>
                <a:ea typeface="Calibri" pitchFamily="34" charset="-122"/>
                <a:cs typeface="Calibri" pitchFamily="34" charset="-120"/>
              </a:rPr>
              <a:t>SUCCESS CRITERIA</a:t>
            </a:r>
            <a:endParaRPr lang="en-US" sz="800" dirty="0"/>
          </a:p>
        </p:txBody>
      </p:sp>
      <p:sp>
        <p:nvSpPr>
          <p:cNvPr id="4" name="Text 2"/>
          <p:cNvSpPr/>
          <p:nvPr/>
        </p:nvSpPr>
        <p:spPr>
          <a:xfrm>
            <a:off x="457200" y="502920"/>
            <a:ext cx="822960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What Good Looks Like — Hackathon End State</a:t>
            </a:r>
            <a:endParaRPr lang="en-US" sz="2200" dirty="0"/>
          </a:p>
        </p:txBody>
      </p:sp>
      <p:sp>
        <p:nvSpPr>
          <p:cNvPr id="5" name="Shape 3"/>
          <p:cNvSpPr/>
          <p:nvPr/>
        </p:nvSpPr>
        <p:spPr>
          <a:xfrm>
            <a:off x="457200" y="960120"/>
            <a:ext cx="8229600" cy="493776"/>
          </a:xfrm>
          <a:prstGeom prst="rect">
            <a:avLst/>
          </a:prstGeom>
          <a:solidFill>
            <a:srgbClr val="112240"/>
          </a:solidFill>
          <a:ln w="6350">
            <a:solidFill>
              <a:srgbClr val="1E3A5F"/>
            </a:solidFill>
            <a:prstDash val="solid"/>
          </a:ln>
        </p:spPr>
      </p:sp>
      <p:sp>
        <p:nvSpPr>
          <p:cNvPr id="6" name="Shape 4"/>
          <p:cNvSpPr/>
          <p:nvPr/>
        </p:nvSpPr>
        <p:spPr>
          <a:xfrm>
            <a:off x="457200" y="960120"/>
            <a:ext cx="457200" cy="493776"/>
          </a:xfrm>
          <a:prstGeom prst="rect">
            <a:avLst/>
          </a:prstGeom>
          <a:solidFill>
            <a:srgbClr val="38A169"/>
          </a:solidFill>
          <a:ln w="12700">
            <a:solidFill>
              <a:srgbClr val="38A169"/>
            </a:solidFill>
            <a:prstDash val="solid"/>
          </a:ln>
        </p:spPr>
      </p:sp>
      <p:sp>
        <p:nvSpPr>
          <p:cNvPr id="7" name="Text 5"/>
          <p:cNvSpPr/>
          <p:nvPr/>
        </p:nvSpPr>
        <p:spPr>
          <a:xfrm>
            <a:off x="457200" y="960120"/>
            <a:ext cx="457200" cy="493776"/>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a:t>
            </a:r>
            <a:endParaRPr lang="en-US" sz="1400" dirty="0"/>
          </a:p>
        </p:txBody>
      </p:sp>
      <p:sp>
        <p:nvSpPr>
          <p:cNvPr id="8" name="Text 6"/>
          <p:cNvSpPr/>
          <p:nvPr/>
        </p:nvSpPr>
        <p:spPr>
          <a:xfrm>
            <a:off x="1005840" y="1005840"/>
            <a:ext cx="3200400" cy="20116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Token counts update live</a:t>
            </a:r>
            <a:endParaRPr lang="en-US" sz="1000" dirty="0"/>
          </a:p>
        </p:txBody>
      </p:sp>
      <p:sp>
        <p:nvSpPr>
          <p:cNvPr id="9" name="Text 7"/>
          <p:cNvSpPr/>
          <p:nvPr/>
        </p:nvSpPr>
        <p:spPr>
          <a:xfrm>
            <a:off x="1005840" y="1216152"/>
            <a:ext cx="7498080" cy="201168"/>
          </a:xfrm>
          <a:prstGeom prst="rect">
            <a:avLst/>
          </a:prstGeom>
          <a:noFill/>
          <a:ln/>
        </p:spPr>
        <p:txBody>
          <a:bodyPr wrap="square" lIns="0" tIns="0" rIns="0" bIns="0" rtlCol="0" anchor="ctr"/>
          <a:lstStyle/>
          <a:p>
            <a:pPr indent="0" marL="0">
              <a:buNone/>
            </a:pPr>
            <a:r>
              <a:rPr lang="en-US" sz="900" dirty="0">
                <a:solidFill>
                  <a:srgbClr val="90E0EF"/>
                </a:solidFill>
                <a:latin typeface="Calibri" pitchFamily="34" charset="0"/>
                <a:ea typeface="Calibri" pitchFamily="34" charset="-122"/>
                <a:cs typeface="Calibri" pitchFamily="34" charset="-120"/>
              </a:rPr>
              <a:t>Send a message → GET /api/aria/context/stats returns a non-null ContextTokenReport within 1 second</a:t>
            </a:r>
            <a:endParaRPr lang="en-US" sz="900" dirty="0"/>
          </a:p>
        </p:txBody>
      </p:sp>
      <p:sp>
        <p:nvSpPr>
          <p:cNvPr id="10" name="Shape 8"/>
          <p:cNvSpPr/>
          <p:nvPr/>
        </p:nvSpPr>
        <p:spPr>
          <a:xfrm>
            <a:off x="457200" y="1527048"/>
            <a:ext cx="8229600" cy="493776"/>
          </a:xfrm>
          <a:prstGeom prst="rect">
            <a:avLst/>
          </a:prstGeom>
          <a:solidFill>
            <a:srgbClr val="112240"/>
          </a:solidFill>
          <a:ln w="6350">
            <a:solidFill>
              <a:srgbClr val="1E3A5F"/>
            </a:solidFill>
            <a:prstDash val="solid"/>
          </a:ln>
        </p:spPr>
      </p:sp>
      <p:sp>
        <p:nvSpPr>
          <p:cNvPr id="11" name="Shape 9"/>
          <p:cNvSpPr/>
          <p:nvPr/>
        </p:nvSpPr>
        <p:spPr>
          <a:xfrm>
            <a:off x="457200" y="1527048"/>
            <a:ext cx="457200" cy="493776"/>
          </a:xfrm>
          <a:prstGeom prst="rect">
            <a:avLst/>
          </a:prstGeom>
          <a:solidFill>
            <a:srgbClr val="38A169"/>
          </a:solidFill>
          <a:ln w="12700">
            <a:solidFill>
              <a:srgbClr val="38A169"/>
            </a:solidFill>
            <a:prstDash val="solid"/>
          </a:ln>
        </p:spPr>
      </p:sp>
      <p:sp>
        <p:nvSpPr>
          <p:cNvPr id="12" name="Text 10"/>
          <p:cNvSpPr/>
          <p:nvPr/>
        </p:nvSpPr>
        <p:spPr>
          <a:xfrm>
            <a:off x="457200" y="1527048"/>
            <a:ext cx="457200" cy="493776"/>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a:t>
            </a:r>
            <a:endParaRPr lang="en-US" sz="1400" dirty="0"/>
          </a:p>
        </p:txBody>
      </p:sp>
      <p:sp>
        <p:nvSpPr>
          <p:cNvPr id="13" name="Text 11"/>
          <p:cNvSpPr/>
          <p:nvPr/>
        </p:nvSpPr>
        <p:spPr>
          <a:xfrm>
            <a:off x="1005840" y="1572768"/>
            <a:ext cx="3200400" cy="20116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Exact costs captured</a:t>
            </a:r>
            <a:endParaRPr lang="en-US" sz="1000" dirty="0"/>
          </a:p>
        </p:txBody>
      </p:sp>
      <p:sp>
        <p:nvSpPr>
          <p:cNvPr id="14" name="Text 12"/>
          <p:cNvSpPr/>
          <p:nvPr/>
        </p:nvSpPr>
        <p:spPr>
          <a:xfrm>
            <a:off x="1005840" y="1783080"/>
            <a:ext cx="7498080" cy="201168"/>
          </a:xfrm>
          <a:prstGeom prst="rect">
            <a:avLst/>
          </a:prstGeom>
          <a:noFill/>
          <a:ln/>
        </p:spPr>
        <p:txBody>
          <a:bodyPr wrap="square" lIns="0" tIns="0" rIns="0" bIns="0" rtlCol="0" anchor="ctr"/>
          <a:lstStyle/>
          <a:p>
            <a:pPr indent="0" marL="0">
              <a:buNone/>
            </a:pPr>
            <a:r>
              <a:rPr lang="en-US" sz="900" dirty="0">
                <a:solidFill>
                  <a:srgbClr val="90E0EF"/>
                </a:solidFill>
                <a:latin typeface="Calibri" pitchFamily="34" charset="0"/>
                <a:ea typeface="Calibri" pitchFamily="34" charset="-122"/>
                <a:cs typeface="Calibri" pitchFamily="34" charset="-120"/>
              </a:rPr>
              <a:t>AriaProxyInterceptor captures inputTokens, outputTokens, cacheReadTokens from Anthropic response. No approximations.</a:t>
            </a:r>
            <a:endParaRPr lang="en-US" sz="900" dirty="0"/>
          </a:p>
        </p:txBody>
      </p:sp>
      <p:sp>
        <p:nvSpPr>
          <p:cNvPr id="15" name="Shape 13"/>
          <p:cNvSpPr/>
          <p:nvPr/>
        </p:nvSpPr>
        <p:spPr>
          <a:xfrm>
            <a:off x="457200" y="2093976"/>
            <a:ext cx="8229600" cy="493776"/>
          </a:xfrm>
          <a:prstGeom prst="rect">
            <a:avLst/>
          </a:prstGeom>
          <a:solidFill>
            <a:srgbClr val="112240"/>
          </a:solidFill>
          <a:ln w="6350">
            <a:solidFill>
              <a:srgbClr val="1E3A5F"/>
            </a:solidFill>
            <a:prstDash val="solid"/>
          </a:ln>
        </p:spPr>
      </p:sp>
      <p:sp>
        <p:nvSpPr>
          <p:cNvPr id="16" name="Shape 14"/>
          <p:cNvSpPr/>
          <p:nvPr/>
        </p:nvSpPr>
        <p:spPr>
          <a:xfrm>
            <a:off x="457200" y="2093976"/>
            <a:ext cx="457200" cy="493776"/>
          </a:xfrm>
          <a:prstGeom prst="rect">
            <a:avLst/>
          </a:prstGeom>
          <a:solidFill>
            <a:srgbClr val="38A169"/>
          </a:solidFill>
          <a:ln w="12700">
            <a:solidFill>
              <a:srgbClr val="38A169"/>
            </a:solidFill>
            <a:prstDash val="solid"/>
          </a:ln>
        </p:spPr>
      </p:sp>
      <p:sp>
        <p:nvSpPr>
          <p:cNvPr id="17" name="Text 15"/>
          <p:cNvSpPr/>
          <p:nvPr/>
        </p:nvSpPr>
        <p:spPr>
          <a:xfrm>
            <a:off x="457200" y="2093976"/>
            <a:ext cx="457200" cy="493776"/>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a:t>
            </a:r>
            <a:endParaRPr lang="en-US" sz="1400" dirty="0"/>
          </a:p>
        </p:txBody>
      </p:sp>
      <p:sp>
        <p:nvSpPr>
          <p:cNvPr id="18" name="Text 16"/>
          <p:cNvSpPr/>
          <p:nvPr/>
        </p:nvSpPr>
        <p:spPr>
          <a:xfrm>
            <a:off x="1005840" y="2139696"/>
            <a:ext cx="3200400" cy="20116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Cost records in DB</a:t>
            </a:r>
            <a:endParaRPr lang="en-US" sz="1000" dirty="0"/>
          </a:p>
        </p:txBody>
      </p:sp>
      <p:sp>
        <p:nvSpPr>
          <p:cNvPr id="19" name="Text 17"/>
          <p:cNvSpPr/>
          <p:nvPr/>
        </p:nvSpPr>
        <p:spPr>
          <a:xfrm>
            <a:off x="1005840" y="2350008"/>
            <a:ext cx="7498080" cy="201168"/>
          </a:xfrm>
          <a:prstGeom prst="rect">
            <a:avLst/>
          </a:prstGeom>
          <a:noFill/>
          <a:ln/>
        </p:spPr>
        <p:txBody>
          <a:bodyPr wrap="square" lIns="0" tIns="0" rIns="0" bIns="0" rtlCol="0" anchor="ctr"/>
          <a:lstStyle/>
          <a:p>
            <a:pPr indent="0" marL="0">
              <a:buNone/>
            </a:pPr>
            <a:r>
              <a:rPr lang="en-US" sz="900" dirty="0">
                <a:solidFill>
                  <a:srgbClr val="90E0EF"/>
                </a:solidFill>
                <a:latin typeface="Calibri" pitchFamily="34" charset="0"/>
                <a:ea typeface="Calibri" pitchFamily="34" charset="-122"/>
                <a:cs typeface="Calibri" pitchFamily="34" charset="-120"/>
              </a:rPr>
              <a:t>Within 5 seconds of any LLM call, aria_call_records has a new row with sessionId, featureId, costUsd populated</a:t>
            </a:r>
            <a:endParaRPr lang="en-US" sz="900" dirty="0"/>
          </a:p>
        </p:txBody>
      </p:sp>
      <p:sp>
        <p:nvSpPr>
          <p:cNvPr id="20" name="Shape 18"/>
          <p:cNvSpPr/>
          <p:nvPr/>
        </p:nvSpPr>
        <p:spPr>
          <a:xfrm>
            <a:off x="457200" y="2660904"/>
            <a:ext cx="8229600" cy="493776"/>
          </a:xfrm>
          <a:prstGeom prst="rect">
            <a:avLst/>
          </a:prstGeom>
          <a:solidFill>
            <a:srgbClr val="112240"/>
          </a:solidFill>
          <a:ln w="6350">
            <a:solidFill>
              <a:srgbClr val="1E3A5F"/>
            </a:solidFill>
            <a:prstDash val="solid"/>
          </a:ln>
        </p:spPr>
      </p:sp>
      <p:sp>
        <p:nvSpPr>
          <p:cNvPr id="21" name="Shape 19"/>
          <p:cNvSpPr/>
          <p:nvPr/>
        </p:nvSpPr>
        <p:spPr>
          <a:xfrm>
            <a:off x="457200" y="2660904"/>
            <a:ext cx="457200" cy="493776"/>
          </a:xfrm>
          <a:prstGeom prst="rect">
            <a:avLst/>
          </a:prstGeom>
          <a:solidFill>
            <a:srgbClr val="38A169"/>
          </a:solidFill>
          <a:ln w="12700">
            <a:solidFill>
              <a:srgbClr val="38A169"/>
            </a:solidFill>
            <a:prstDash val="solid"/>
          </a:ln>
        </p:spPr>
      </p:sp>
      <p:sp>
        <p:nvSpPr>
          <p:cNvPr id="22" name="Text 20"/>
          <p:cNvSpPr/>
          <p:nvPr/>
        </p:nvSpPr>
        <p:spPr>
          <a:xfrm>
            <a:off x="457200" y="2660904"/>
            <a:ext cx="457200" cy="493776"/>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a:t>
            </a:r>
            <a:endParaRPr lang="en-US" sz="1400" dirty="0"/>
          </a:p>
        </p:txBody>
      </p:sp>
      <p:sp>
        <p:nvSpPr>
          <p:cNvPr id="23" name="Text 21"/>
          <p:cNvSpPr/>
          <p:nvPr/>
        </p:nvSpPr>
        <p:spPr>
          <a:xfrm>
            <a:off x="1005840" y="2706624"/>
            <a:ext cx="3200400" cy="20116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Dashboard shows live data</a:t>
            </a:r>
            <a:endParaRPr lang="en-US" sz="1000" dirty="0"/>
          </a:p>
        </p:txBody>
      </p:sp>
      <p:sp>
        <p:nvSpPr>
          <p:cNvPr id="24" name="Text 22"/>
          <p:cNvSpPr/>
          <p:nvPr/>
        </p:nvSpPr>
        <p:spPr>
          <a:xfrm>
            <a:off x="1005840" y="2916936"/>
            <a:ext cx="7498080" cy="201168"/>
          </a:xfrm>
          <a:prstGeom prst="rect">
            <a:avLst/>
          </a:prstGeom>
          <a:noFill/>
          <a:ln/>
        </p:spPr>
        <p:txBody>
          <a:bodyPr wrap="square" lIns="0" tIns="0" rIns="0" bIns="0" rtlCol="0" anchor="ctr"/>
          <a:lstStyle/>
          <a:p>
            <a:pPr indent="0" marL="0">
              <a:buNone/>
            </a:pPr>
            <a:r>
              <a:rPr lang="en-US" sz="900" dirty="0">
                <a:solidFill>
                  <a:srgbClr val="90E0EF"/>
                </a:solidFill>
                <a:latin typeface="Calibri" pitchFamily="34" charset="0"/>
                <a:ea typeface="Calibri" pitchFamily="34" charset="-122"/>
                <a:cs typeface="Calibri" pitchFamily="34" charset="-120"/>
              </a:rPr>
              <a:t>React Overview tab renders correct MTD spend and budget % matching a direct DB query</a:t>
            </a:r>
            <a:endParaRPr lang="en-US" sz="900" dirty="0"/>
          </a:p>
        </p:txBody>
      </p:sp>
      <p:sp>
        <p:nvSpPr>
          <p:cNvPr id="25" name="Shape 23"/>
          <p:cNvSpPr/>
          <p:nvPr/>
        </p:nvSpPr>
        <p:spPr>
          <a:xfrm>
            <a:off x="457200" y="3227832"/>
            <a:ext cx="8229600" cy="493776"/>
          </a:xfrm>
          <a:prstGeom prst="rect">
            <a:avLst/>
          </a:prstGeom>
          <a:solidFill>
            <a:srgbClr val="112240"/>
          </a:solidFill>
          <a:ln w="6350">
            <a:solidFill>
              <a:srgbClr val="1E3A5F"/>
            </a:solidFill>
            <a:prstDash val="solid"/>
          </a:ln>
        </p:spPr>
      </p:sp>
      <p:sp>
        <p:nvSpPr>
          <p:cNvPr id="26" name="Shape 24"/>
          <p:cNvSpPr/>
          <p:nvPr/>
        </p:nvSpPr>
        <p:spPr>
          <a:xfrm>
            <a:off x="457200" y="3227832"/>
            <a:ext cx="457200" cy="493776"/>
          </a:xfrm>
          <a:prstGeom prst="rect">
            <a:avLst/>
          </a:prstGeom>
          <a:solidFill>
            <a:srgbClr val="38A169"/>
          </a:solidFill>
          <a:ln w="12700">
            <a:solidFill>
              <a:srgbClr val="38A169"/>
            </a:solidFill>
            <a:prstDash val="solid"/>
          </a:ln>
        </p:spPr>
      </p:sp>
      <p:sp>
        <p:nvSpPr>
          <p:cNvPr id="27" name="Text 25"/>
          <p:cNvSpPr/>
          <p:nvPr/>
        </p:nvSpPr>
        <p:spPr>
          <a:xfrm>
            <a:off x="457200" y="3227832"/>
            <a:ext cx="457200" cy="493776"/>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a:t>
            </a:r>
            <a:endParaRPr lang="en-US" sz="1400" dirty="0"/>
          </a:p>
        </p:txBody>
      </p:sp>
      <p:sp>
        <p:nvSpPr>
          <p:cNvPr id="28" name="Text 26"/>
          <p:cNvSpPr/>
          <p:nvPr/>
        </p:nvSpPr>
        <p:spPr>
          <a:xfrm>
            <a:off x="1005840" y="3273552"/>
            <a:ext cx="3200400" cy="20116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Features tab working</a:t>
            </a:r>
            <a:endParaRPr lang="en-US" sz="1000" dirty="0"/>
          </a:p>
        </p:txBody>
      </p:sp>
      <p:sp>
        <p:nvSpPr>
          <p:cNvPr id="29" name="Text 27"/>
          <p:cNvSpPr/>
          <p:nvPr/>
        </p:nvSpPr>
        <p:spPr>
          <a:xfrm>
            <a:off x="1005840" y="3483864"/>
            <a:ext cx="7498080" cy="201168"/>
          </a:xfrm>
          <a:prstGeom prst="rect">
            <a:avLst/>
          </a:prstGeom>
          <a:noFill/>
          <a:ln/>
        </p:spPr>
        <p:txBody>
          <a:bodyPr wrap="square" lIns="0" tIns="0" rIns="0" bIns="0" rtlCol="0" anchor="ctr"/>
          <a:lstStyle/>
          <a:p>
            <a:pPr indent="0" marL="0">
              <a:buNone/>
            </a:pPr>
            <a:r>
              <a:rPr lang="en-US" sz="900" dirty="0">
                <a:solidFill>
                  <a:srgbClr val="90E0EF"/>
                </a:solidFill>
                <a:latin typeface="Calibri" pitchFamily="34" charset="0"/>
                <a:ea typeface="Calibri" pitchFamily="34" charset="-122"/>
                <a:cs typeface="Calibri" pitchFamily="34" charset="-120"/>
              </a:rPr>
              <a:t>At least 3 features show non-zero cost after integration test (KYC, AML, and one more)</a:t>
            </a:r>
            <a:endParaRPr lang="en-US" sz="900" dirty="0"/>
          </a:p>
        </p:txBody>
      </p:sp>
      <p:sp>
        <p:nvSpPr>
          <p:cNvPr id="30" name="Shape 28"/>
          <p:cNvSpPr/>
          <p:nvPr/>
        </p:nvSpPr>
        <p:spPr>
          <a:xfrm>
            <a:off x="457200" y="3794760"/>
            <a:ext cx="8229600" cy="493776"/>
          </a:xfrm>
          <a:prstGeom prst="rect">
            <a:avLst/>
          </a:prstGeom>
          <a:solidFill>
            <a:srgbClr val="112240"/>
          </a:solidFill>
          <a:ln w="6350">
            <a:solidFill>
              <a:srgbClr val="1E3A5F"/>
            </a:solidFill>
            <a:prstDash val="solid"/>
          </a:ln>
        </p:spPr>
      </p:sp>
      <p:sp>
        <p:nvSpPr>
          <p:cNvPr id="31" name="Shape 29"/>
          <p:cNvSpPr/>
          <p:nvPr/>
        </p:nvSpPr>
        <p:spPr>
          <a:xfrm>
            <a:off x="457200" y="3794760"/>
            <a:ext cx="457200" cy="493776"/>
          </a:xfrm>
          <a:prstGeom prst="rect">
            <a:avLst/>
          </a:prstGeom>
          <a:solidFill>
            <a:srgbClr val="38A169"/>
          </a:solidFill>
          <a:ln w="12700">
            <a:solidFill>
              <a:srgbClr val="38A169"/>
            </a:solidFill>
            <a:prstDash val="solid"/>
          </a:ln>
        </p:spPr>
      </p:sp>
      <p:sp>
        <p:nvSpPr>
          <p:cNvPr id="32" name="Text 30"/>
          <p:cNvSpPr/>
          <p:nvPr/>
        </p:nvSpPr>
        <p:spPr>
          <a:xfrm>
            <a:off x="457200" y="3794760"/>
            <a:ext cx="457200" cy="493776"/>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a:t>
            </a:r>
            <a:endParaRPr lang="en-US" sz="1400" dirty="0"/>
          </a:p>
        </p:txBody>
      </p:sp>
      <p:sp>
        <p:nvSpPr>
          <p:cNvPr id="33" name="Text 31"/>
          <p:cNvSpPr/>
          <p:nvPr/>
        </p:nvSpPr>
        <p:spPr>
          <a:xfrm>
            <a:off x="1005840" y="3840480"/>
            <a:ext cx="3200400" cy="20116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Context Window tab working</a:t>
            </a:r>
            <a:endParaRPr lang="en-US" sz="1000" dirty="0"/>
          </a:p>
        </p:txBody>
      </p:sp>
      <p:sp>
        <p:nvSpPr>
          <p:cNvPr id="34" name="Text 32"/>
          <p:cNvSpPr/>
          <p:nvPr/>
        </p:nvSpPr>
        <p:spPr>
          <a:xfrm>
            <a:off x="1005840" y="4050792"/>
            <a:ext cx="7498080" cy="201168"/>
          </a:xfrm>
          <a:prstGeom prst="rect">
            <a:avLst/>
          </a:prstGeom>
          <a:noFill/>
          <a:ln/>
        </p:spPr>
        <p:txBody>
          <a:bodyPr wrap="square" lIns="0" tIns="0" rIns="0" bIns="0" rtlCol="0" anchor="ctr"/>
          <a:lstStyle/>
          <a:p>
            <a:pPr indent="0" marL="0">
              <a:buNone/>
            </a:pPr>
            <a:r>
              <a:rPr lang="en-US" sz="900" dirty="0">
                <a:solidFill>
                  <a:srgbClr val="90E0EF"/>
                </a:solidFill>
                <a:latin typeface="Calibri" pitchFamily="34" charset="0"/>
                <a:ea typeface="Calibri" pitchFamily="34" charset="-122"/>
                <a:cs typeface="Calibri" pitchFamily="34" charset="-120"/>
              </a:rPr>
              <a:t>5-segment donut chart renders for a real session ID with correct token proportions</a:t>
            </a:r>
            <a:endParaRPr lang="en-US" sz="900" dirty="0"/>
          </a:p>
        </p:txBody>
      </p:sp>
      <p:sp>
        <p:nvSpPr>
          <p:cNvPr id="35" name="Shape 33"/>
          <p:cNvSpPr/>
          <p:nvPr/>
        </p:nvSpPr>
        <p:spPr>
          <a:xfrm>
            <a:off x="457200" y="4361688"/>
            <a:ext cx="8229600" cy="493776"/>
          </a:xfrm>
          <a:prstGeom prst="rect">
            <a:avLst/>
          </a:prstGeom>
          <a:solidFill>
            <a:srgbClr val="1A1060"/>
          </a:solidFill>
          <a:ln w="6350">
            <a:solidFill>
              <a:srgbClr val="1E3A5F"/>
            </a:solidFill>
            <a:prstDash val="solid"/>
          </a:ln>
        </p:spPr>
      </p:sp>
      <p:sp>
        <p:nvSpPr>
          <p:cNvPr id="36" name="Shape 34"/>
          <p:cNvSpPr/>
          <p:nvPr/>
        </p:nvSpPr>
        <p:spPr>
          <a:xfrm>
            <a:off x="457200" y="4361688"/>
            <a:ext cx="457200" cy="493776"/>
          </a:xfrm>
          <a:prstGeom prst="rect">
            <a:avLst/>
          </a:prstGeom>
          <a:solidFill>
            <a:srgbClr val="D97706"/>
          </a:solidFill>
          <a:ln w="12700">
            <a:solidFill>
              <a:srgbClr val="D97706"/>
            </a:solidFill>
            <a:prstDash val="solid"/>
          </a:ln>
        </p:spPr>
      </p:sp>
      <p:sp>
        <p:nvSpPr>
          <p:cNvPr id="37" name="Text 35"/>
          <p:cNvSpPr/>
          <p:nvPr/>
        </p:nvSpPr>
        <p:spPr>
          <a:xfrm>
            <a:off x="457200" y="4361688"/>
            <a:ext cx="457200" cy="493776"/>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a:t>
            </a:r>
            <a:endParaRPr lang="en-US" sz="1400" dirty="0"/>
          </a:p>
        </p:txBody>
      </p:sp>
      <p:sp>
        <p:nvSpPr>
          <p:cNvPr id="38" name="Text 36"/>
          <p:cNvSpPr/>
          <p:nvPr/>
        </p:nvSpPr>
        <p:spPr>
          <a:xfrm>
            <a:off x="1005840" y="4407408"/>
            <a:ext cx="3200400" cy="20116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STRETCH: Optimizer fires</a:t>
            </a:r>
            <a:endParaRPr lang="en-US" sz="1000" dirty="0"/>
          </a:p>
        </p:txBody>
      </p:sp>
      <p:sp>
        <p:nvSpPr>
          <p:cNvPr id="39" name="Text 37"/>
          <p:cNvSpPr/>
          <p:nvPr/>
        </p:nvSpPr>
        <p:spPr>
          <a:xfrm>
            <a:off x="1005840" y="4617720"/>
            <a:ext cx="7498080" cy="201168"/>
          </a:xfrm>
          <a:prstGeom prst="rect">
            <a:avLst/>
          </a:prstGeom>
          <a:noFill/>
          <a:ln/>
        </p:spPr>
        <p:txBody>
          <a:bodyPr wrap="square" lIns="0" tIns="0" rIns="0" bIns="0" rtlCol="0" anchor="ctr"/>
          <a:lstStyle/>
          <a:p>
            <a:pPr indent="0" marL="0">
              <a:buNone/>
            </a:pPr>
            <a:r>
              <a:rPr lang="en-US" sz="900" dirty="0">
                <a:solidFill>
                  <a:srgbClr val="90E0EF"/>
                </a:solidFill>
                <a:latin typeface="Calibri" pitchFamily="34" charset="0"/>
                <a:ea typeface="Calibri" pitchFamily="34" charset="-122"/>
                <a:cs typeface="Calibri" pitchFamily="34" charset="-120"/>
              </a:rPr>
              <a:t>Simple Q&amp;A routes to claude-haiku-4-5 automatically. Model in aria_call_records confirms haiku, not sonnet.</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457200" y="137160"/>
            <a:ext cx="2011680" cy="256032"/>
          </a:xfrm>
          <a:prstGeom prst="roundRect">
            <a:avLst>
              <a:gd name="adj" fmla="val 17857"/>
            </a:avLst>
          </a:prstGeom>
          <a:solidFill>
            <a:srgbClr val="00B4D8"/>
          </a:solidFill>
          <a:ln w="12700">
            <a:solidFill>
              <a:srgbClr val="00B4D8"/>
            </a:solidFill>
            <a:prstDash val="solid"/>
          </a:ln>
        </p:spPr>
      </p:sp>
      <p:sp>
        <p:nvSpPr>
          <p:cNvPr id="3" name="Text 1"/>
          <p:cNvSpPr/>
          <p:nvPr/>
        </p:nvSpPr>
        <p:spPr>
          <a:xfrm>
            <a:off x="457200" y="137160"/>
            <a:ext cx="2011680" cy="256032"/>
          </a:xfrm>
          <a:prstGeom prst="rect">
            <a:avLst/>
          </a:prstGeom>
          <a:noFill/>
          <a:ln/>
        </p:spPr>
        <p:txBody>
          <a:bodyPr wrap="square" lIns="0" tIns="0" rIns="0" bIns="0" rtlCol="0" anchor="ctr"/>
          <a:lstStyle/>
          <a:p>
            <a:pPr algn="ctr" indent="0" marL="0">
              <a:buNone/>
            </a:pPr>
            <a:r>
              <a:rPr lang="en-US" sz="800" b="1" dirty="0">
                <a:solidFill>
                  <a:srgbClr val="0A1628"/>
                </a:solidFill>
                <a:latin typeface="Calibri" pitchFamily="34" charset="0"/>
                <a:ea typeface="Calibri" pitchFamily="34" charset="-122"/>
                <a:cs typeface="Calibri" pitchFamily="34" charset="-120"/>
              </a:rPr>
              <a:t>TECHNICAL DECISIONS</a:t>
            </a:r>
            <a:endParaRPr lang="en-US" sz="800" dirty="0"/>
          </a:p>
        </p:txBody>
      </p:sp>
      <p:sp>
        <p:nvSpPr>
          <p:cNvPr id="4" name="Text 2"/>
          <p:cNvSpPr/>
          <p:nvPr/>
        </p:nvSpPr>
        <p:spPr>
          <a:xfrm>
            <a:off x="457200" y="502920"/>
            <a:ext cx="8229600" cy="457200"/>
          </a:xfrm>
          <a:prstGeom prst="rect">
            <a:avLst/>
          </a:prstGeom>
          <a:noFill/>
          <a:ln/>
        </p:spPr>
        <p:txBody>
          <a:bodyPr wrap="square" lIns="0" tIns="0" rIns="0" bIns="0" rtlCol="0" anchor="ctr"/>
          <a:lstStyle/>
          <a:p>
            <a:pPr indent="0" marL="0">
              <a:buNone/>
            </a:pPr>
            <a:r>
              <a:rPr lang="en-US" sz="2200" b="1" dirty="0">
                <a:solidFill>
                  <a:srgbClr val="0A1628"/>
                </a:solidFill>
                <a:latin typeface="Calibri" pitchFamily="34" charset="0"/>
                <a:ea typeface="Calibri" pitchFamily="34" charset="-122"/>
                <a:cs typeface="Calibri" pitchFamily="34" charset="-120"/>
              </a:rPr>
              <a:t>Key Engineering Decisions — Why We Built It This Way</a:t>
            </a:r>
            <a:endParaRPr lang="en-US" sz="2200" dirty="0"/>
          </a:p>
        </p:txBody>
      </p:sp>
      <p:sp>
        <p:nvSpPr>
          <p:cNvPr id="5" name="Shape 3"/>
          <p:cNvSpPr/>
          <p:nvPr/>
        </p:nvSpPr>
        <p:spPr>
          <a:xfrm>
            <a:off x="457200" y="1005840"/>
            <a:ext cx="4069080" cy="1719072"/>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2000"/>
              </a:srgbClr>
            </a:outerShdw>
          </a:effectLst>
        </p:spPr>
      </p:sp>
      <p:sp>
        <p:nvSpPr>
          <p:cNvPr id="6" name="Shape 4"/>
          <p:cNvSpPr/>
          <p:nvPr/>
        </p:nvSpPr>
        <p:spPr>
          <a:xfrm>
            <a:off x="457200" y="1005840"/>
            <a:ext cx="45720" cy="1719072"/>
          </a:xfrm>
          <a:prstGeom prst="rect">
            <a:avLst/>
          </a:prstGeom>
          <a:solidFill>
            <a:srgbClr val="00B4D8"/>
          </a:solidFill>
          <a:ln w="12700">
            <a:solidFill>
              <a:srgbClr val="00B4D8"/>
            </a:solidFill>
            <a:prstDash val="solid"/>
          </a:ln>
        </p:spPr>
      </p:sp>
      <p:sp>
        <p:nvSpPr>
          <p:cNvPr id="7" name="Text 5"/>
          <p:cNvSpPr/>
          <p:nvPr/>
        </p:nvSpPr>
        <p:spPr>
          <a:xfrm>
            <a:off x="658368" y="1115568"/>
            <a:ext cx="3749040" cy="274320"/>
          </a:xfrm>
          <a:prstGeom prst="rect">
            <a:avLst/>
          </a:prstGeom>
          <a:noFill/>
          <a:ln/>
        </p:spPr>
        <p:txBody>
          <a:bodyPr wrap="square" lIns="0" tIns="0" rIns="0" bIns="0" rtlCol="0" anchor="ctr"/>
          <a:lstStyle/>
          <a:p>
            <a:pPr indent="0" marL="0">
              <a:buNone/>
            </a:pPr>
            <a:r>
              <a:rPr lang="en-US" sz="1100" b="1" dirty="0">
                <a:solidFill>
                  <a:srgbClr val="0A1628"/>
                </a:solidFill>
                <a:latin typeface="Calibri" pitchFamily="34" charset="0"/>
                <a:ea typeface="Calibri" pitchFamily="34" charset="-122"/>
                <a:cs typeface="Calibri" pitchFamily="34" charset="-120"/>
              </a:rPr>
              <a:t>Proxy-first token capture</a:t>
            </a:r>
            <a:endParaRPr lang="en-US" sz="1100" dirty="0"/>
          </a:p>
        </p:txBody>
      </p:sp>
      <p:sp>
        <p:nvSpPr>
          <p:cNvPr id="8" name="Text 6"/>
          <p:cNvSpPr/>
          <p:nvPr/>
        </p:nvSpPr>
        <p:spPr>
          <a:xfrm>
            <a:off x="658368" y="1463040"/>
            <a:ext cx="3749040" cy="1170432"/>
          </a:xfrm>
          <a:prstGeom prst="rect">
            <a:avLst/>
          </a:prstGeom>
          <a:noFill/>
          <a:ln/>
        </p:spPr>
        <p:txBody>
          <a:bodyPr wrap="square" rtlCol="0" anchor="t"/>
          <a:lstStyle/>
          <a:p>
            <a:pPr indent="0" marL="0">
              <a:buNone/>
            </a:pPr>
            <a:r>
              <a:rPr lang="en-US" sz="1000" dirty="0">
                <a:solidFill>
                  <a:srgbClr val="4A5568"/>
                </a:solidFill>
                <a:latin typeface="Calibri" pitchFamily="34" charset="0"/>
                <a:ea typeface="Calibri" pitchFamily="34" charset="-122"/>
                <a:cs typeface="Calibri" pitchFamily="34" charset="-120"/>
              </a:rPr>
              <a:t>Spring AI doesn't expose cache token counts from its advisor chain. Intercepting the raw Anthropic HTTP response gives us exact counts — including cache_read_input_tokens worth capturing for prompt caching savings.</a:t>
            </a:r>
            <a:endParaRPr lang="en-US" sz="1000" dirty="0"/>
          </a:p>
        </p:txBody>
      </p:sp>
      <p:sp>
        <p:nvSpPr>
          <p:cNvPr id="9" name="Shape 7"/>
          <p:cNvSpPr/>
          <p:nvPr/>
        </p:nvSpPr>
        <p:spPr>
          <a:xfrm>
            <a:off x="4800600" y="1005840"/>
            <a:ext cx="4069080" cy="1719072"/>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2000"/>
              </a:srgbClr>
            </a:outerShdw>
          </a:effectLst>
        </p:spPr>
      </p:sp>
      <p:sp>
        <p:nvSpPr>
          <p:cNvPr id="10" name="Shape 8"/>
          <p:cNvSpPr/>
          <p:nvPr/>
        </p:nvSpPr>
        <p:spPr>
          <a:xfrm>
            <a:off x="4800600" y="1005840"/>
            <a:ext cx="45720" cy="1719072"/>
          </a:xfrm>
          <a:prstGeom prst="rect">
            <a:avLst/>
          </a:prstGeom>
          <a:solidFill>
            <a:srgbClr val="0077A8"/>
          </a:solidFill>
          <a:ln w="12700">
            <a:solidFill>
              <a:srgbClr val="0077A8"/>
            </a:solidFill>
            <a:prstDash val="solid"/>
          </a:ln>
        </p:spPr>
      </p:sp>
      <p:sp>
        <p:nvSpPr>
          <p:cNvPr id="11" name="Text 9"/>
          <p:cNvSpPr/>
          <p:nvPr/>
        </p:nvSpPr>
        <p:spPr>
          <a:xfrm>
            <a:off x="5001768" y="1115568"/>
            <a:ext cx="3749040" cy="274320"/>
          </a:xfrm>
          <a:prstGeom prst="rect">
            <a:avLst/>
          </a:prstGeom>
          <a:noFill/>
          <a:ln/>
        </p:spPr>
        <p:txBody>
          <a:bodyPr wrap="square" lIns="0" tIns="0" rIns="0" bIns="0" rtlCol="0" anchor="ctr"/>
          <a:lstStyle/>
          <a:p>
            <a:pPr indent="0" marL="0">
              <a:buNone/>
            </a:pPr>
            <a:r>
              <a:rPr lang="en-US" sz="1100" b="1" dirty="0">
                <a:solidFill>
                  <a:srgbClr val="0A1628"/>
                </a:solidFill>
                <a:latin typeface="Calibri" pitchFamily="34" charset="0"/>
                <a:ea typeface="Calibri" pitchFamily="34" charset="-122"/>
                <a:cs typeface="Calibri" pitchFamily="34" charset="-120"/>
              </a:rPr>
              <a:t>Async writes — non-blocking</a:t>
            </a:r>
            <a:endParaRPr lang="en-US" sz="1100" dirty="0"/>
          </a:p>
        </p:txBody>
      </p:sp>
      <p:sp>
        <p:nvSpPr>
          <p:cNvPr id="12" name="Text 10"/>
          <p:cNvSpPr/>
          <p:nvPr/>
        </p:nvSpPr>
        <p:spPr>
          <a:xfrm>
            <a:off x="5001768" y="1463040"/>
            <a:ext cx="3749040" cy="1170432"/>
          </a:xfrm>
          <a:prstGeom prst="rect">
            <a:avLst/>
          </a:prstGeom>
          <a:noFill/>
          <a:ln/>
        </p:spPr>
        <p:txBody>
          <a:bodyPr wrap="square" rtlCol="0" anchor="t"/>
          <a:lstStyle/>
          <a:p>
            <a:pPr indent="0" marL="0">
              <a:buNone/>
            </a:pPr>
            <a:r>
              <a:rPr lang="en-US" sz="1000" dirty="0">
                <a:solidFill>
                  <a:srgbClr val="4A5568"/>
                </a:solidFill>
                <a:latin typeface="Calibri" pitchFamily="34" charset="0"/>
                <a:ea typeface="Calibri" pitchFamily="34" charset="-122"/>
                <a:cs typeface="Calibri" pitchFamily="34" charset="-120"/>
              </a:rPr>
              <a:t>Token capture and DB writes happen in CompletableFuture.runAsync() so they never add latency to the LLM response path. The agent's performance is unaffected.</a:t>
            </a:r>
            <a:endParaRPr lang="en-US" sz="1000" dirty="0"/>
          </a:p>
        </p:txBody>
      </p:sp>
      <p:sp>
        <p:nvSpPr>
          <p:cNvPr id="13" name="Shape 11"/>
          <p:cNvSpPr/>
          <p:nvPr/>
        </p:nvSpPr>
        <p:spPr>
          <a:xfrm>
            <a:off x="457200" y="2926080"/>
            <a:ext cx="4069080" cy="1719072"/>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2000"/>
              </a:srgbClr>
            </a:outerShdw>
          </a:effectLst>
        </p:spPr>
      </p:sp>
      <p:sp>
        <p:nvSpPr>
          <p:cNvPr id="14" name="Shape 12"/>
          <p:cNvSpPr/>
          <p:nvPr/>
        </p:nvSpPr>
        <p:spPr>
          <a:xfrm>
            <a:off x="457200" y="2926080"/>
            <a:ext cx="45720" cy="1719072"/>
          </a:xfrm>
          <a:prstGeom prst="rect">
            <a:avLst/>
          </a:prstGeom>
          <a:solidFill>
            <a:srgbClr val="5B6EAE"/>
          </a:solidFill>
          <a:ln w="12700">
            <a:solidFill>
              <a:srgbClr val="5B6EAE"/>
            </a:solidFill>
            <a:prstDash val="solid"/>
          </a:ln>
        </p:spPr>
      </p:sp>
      <p:sp>
        <p:nvSpPr>
          <p:cNvPr id="15" name="Text 13"/>
          <p:cNvSpPr/>
          <p:nvPr/>
        </p:nvSpPr>
        <p:spPr>
          <a:xfrm>
            <a:off x="658368" y="3035808"/>
            <a:ext cx="3749040" cy="274320"/>
          </a:xfrm>
          <a:prstGeom prst="rect">
            <a:avLst/>
          </a:prstGeom>
          <a:noFill/>
          <a:ln/>
        </p:spPr>
        <p:txBody>
          <a:bodyPr wrap="square" lIns="0" tIns="0" rIns="0" bIns="0" rtlCol="0" anchor="ctr"/>
          <a:lstStyle/>
          <a:p>
            <a:pPr indent="0" marL="0">
              <a:buNone/>
            </a:pPr>
            <a:r>
              <a:rPr lang="en-US" sz="1100" b="1" dirty="0">
                <a:solidFill>
                  <a:srgbClr val="0A1628"/>
                </a:solidFill>
                <a:latin typeface="Calibri" pitchFamily="34" charset="0"/>
                <a:ea typeface="Calibri" pitchFamily="34" charset="-122"/>
                <a:cs typeface="Calibri" pitchFamily="34" charset="-120"/>
              </a:rPr>
              <a:t>pgvector not just Postgres</a:t>
            </a:r>
            <a:endParaRPr lang="en-US" sz="1100" dirty="0"/>
          </a:p>
        </p:txBody>
      </p:sp>
      <p:sp>
        <p:nvSpPr>
          <p:cNvPr id="16" name="Text 14"/>
          <p:cNvSpPr/>
          <p:nvPr/>
        </p:nvSpPr>
        <p:spPr>
          <a:xfrm>
            <a:off x="658368" y="3383280"/>
            <a:ext cx="3749040" cy="1170432"/>
          </a:xfrm>
          <a:prstGeom prst="rect">
            <a:avLst/>
          </a:prstGeom>
          <a:noFill/>
          <a:ln/>
        </p:spPr>
        <p:txBody>
          <a:bodyPr wrap="square" rtlCol="0" anchor="t"/>
          <a:lstStyle/>
          <a:p>
            <a:pPr indent="0" marL="0">
              <a:buNone/>
            </a:pPr>
            <a:r>
              <a:rPr lang="en-US" sz="1000" dirty="0">
                <a:solidFill>
                  <a:srgbClr val="4A5568"/>
                </a:solidFill>
                <a:latin typeface="Calibri" pitchFamily="34" charset="0"/>
                <a:ea typeface="Calibri" pitchFamily="34" charset="-122"/>
                <a:cs typeface="Calibri" pitchFamily="34" charset="-120"/>
              </a:rPr>
              <a:t>Using pgvector as the trajectory store enables future semantic search over sessions (find all sessions similar to this one) and provides the training corpus for fine-tuning a smaller model on ARIA's banking task distribution.</a:t>
            </a:r>
            <a:endParaRPr lang="en-US" sz="1000" dirty="0"/>
          </a:p>
        </p:txBody>
      </p:sp>
      <p:sp>
        <p:nvSpPr>
          <p:cNvPr id="17" name="Shape 15"/>
          <p:cNvSpPr/>
          <p:nvPr/>
        </p:nvSpPr>
        <p:spPr>
          <a:xfrm>
            <a:off x="4800600" y="2926080"/>
            <a:ext cx="4069080" cy="1719072"/>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2000"/>
              </a:srgbClr>
            </a:outerShdw>
          </a:effectLst>
        </p:spPr>
      </p:sp>
      <p:sp>
        <p:nvSpPr>
          <p:cNvPr id="18" name="Shape 16"/>
          <p:cNvSpPr/>
          <p:nvPr/>
        </p:nvSpPr>
        <p:spPr>
          <a:xfrm>
            <a:off x="4800600" y="2926080"/>
            <a:ext cx="45720" cy="1719072"/>
          </a:xfrm>
          <a:prstGeom prst="rect">
            <a:avLst/>
          </a:prstGeom>
          <a:solidFill>
            <a:srgbClr val="7C3AED"/>
          </a:solidFill>
          <a:ln w="12700">
            <a:solidFill>
              <a:srgbClr val="7C3AED"/>
            </a:solidFill>
            <a:prstDash val="solid"/>
          </a:ln>
        </p:spPr>
      </p:sp>
      <p:sp>
        <p:nvSpPr>
          <p:cNvPr id="19" name="Text 17"/>
          <p:cNvSpPr/>
          <p:nvPr/>
        </p:nvSpPr>
        <p:spPr>
          <a:xfrm>
            <a:off x="5001768" y="3035808"/>
            <a:ext cx="3749040" cy="274320"/>
          </a:xfrm>
          <a:prstGeom prst="rect">
            <a:avLst/>
          </a:prstGeom>
          <a:noFill/>
          <a:ln/>
        </p:spPr>
        <p:txBody>
          <a:bodyPr wrap="square" lIns="0" tIns="0" rIns="0" bIns="0" rtlCol="0" anchor="ctr"/>
          <a:lstStyle/>
          <a:p>
            <a:pPr indent="0" marL="0">
              <a:buNone/>
            </a:pPr>
            <a:r>
              <a:rPr lang="en-US" sz="1100" b="1" dirty="0">
                <a:solidFill>
                  <a:srgbClr val="0A1628"/>
                </a:solidFill>
                <a:latin typeface="Calibri" pitchFamily="34" charset="0"/>
                <a:ea typeface="Calibri" pitchFamily="34" charset="-122"/>
                <a:cs typeface="Calibri" pitchFamily="34" charset="-120"/>
              </a:rPr>
              <a:t>ThreadLocal session context</a:t>
            </a:r>
            <a:endParaRPr lang="en-US" sz="1100" dirty="0"/>
          </a:p>
        </p:txBody>
      </p:sp>
      <p:sp>
        <p:nvSpPr>
          <p:cNvPr id="20" name="Text 18"/>
          <p:cNvSpPr/>
          <p:nvPr/>
        </p:nvSpPr>
        <p:spPr>
          <a:xfrm>
            <a:off x="5001768" y="3383280"/>
            <a:ext cx="3749040" cy="1170432"/>
          </a:xfrm>
          <a:prstGeom prst="rect">
            <a:avLst/>
          </a:prstGeom>
          <a:noFill/>
          <a:ln/>
        </p:spPr>
        <p:txBody>
          <a:bodyPr wrap="square" rtlCol="0" anchor="t"/>
          <a:lstStyle/>
          <a:p>
            <a:pPr indent="0" marL="0">
              <a:buNone/>
            </a:pPr>
            <a:r>
              <a:rPr lang="en-US" sz="1000" dirty="0">
                <a:solidFill>
                  <a:srgbClr val="4A5568"/>
                </a:solidFill>
                <a:latin typeface="Calibri" pitchFamily="34" charset="0"/>
                <a:ea typeface="Calibri" pitchFamily="34" charset="-122"/>
                <a:cs typeface="Calibri" pitchFamily="34" charset="-120"/>
              </a:rPr>
              <a:t>AriaSessionContext propagates sessionId, featureId, userId, departmentId across every component without passing them as method parameters. The proxy interceptor reads them transparently — zero coupling to the agent logic.</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457200" y="137160"/>
            <a:ext cx="1645920" cy="256032"/>
          </a:xfrm>
          <a:prstGeom prst="roundRect">
            <a:avLst>
              <a:gd name="adj" fmla="val 17857"/>
            </a:avLst>
          </a:prstGeom>
          <a:solidFill>
            <a:srgbClr val="7C3AED"/>
          </a:solidFill>
          <a:ln w="12700">
            <a:solidFill>
              <a:srgbClr val="7C3AED"/>
            </a:solidFill>
            <a:prstDash val="solid"/>
          </a:ln>
        </p:spPr>
      </p:sp>
      <p:sp>
        <p:nvSpPr>
          <p:cNvPr id="3" name="Text 1"/>
          <p:cNvSpPr/>
          <p:nvPr/>
        </p:nvSpPr>
        <p:spPr>
          <a:xfrm>
            <a:off x="457200" y="137160"/>
            <a:ext cx="1645920" cy="256032"/>
          </a:xfrm>
          <a:prstGeom prst="rect">
            <a:avLst/>
          </a:prstGeom>
          <a:noFill/>
          <a:ln/>
        </p:spPr>
        <p:txBody>
          <a:bodyPr wrap="square" lIns="0" tIns="0" rIns="0" bIns="0" rtlCol="0" anchor="ctr"/>
          <a:lstStyle/>
          <a:p>
            <a:pPr algn="ctr" indent="0" marL="0">
              <a:buNone/>
            </a:pPr>
            <a:r>
              <a:rPr lang="en-US" sz="800" b="1" dirty="0">
                <a:solidFill>
                  <a:srgbClr val="0A1628"/>
                </a:solidFill>
                <a:latin typeface="Calibri" pitchFamily="34" charset="0"/>
                <a:ea typeface="Calibri" pitchFamily="34" charset="-122"/>
                <a:cs typeface="Calibri" pitchFamily="34" charset="-120"/>
              </a:rPr>
              <a:t>WHAT'S NEXT</a:t>
            </a:r>
            <a:endParaRPr lang="en-US" sz="800" dirty="0"/>
          </a:p>
        </p:txBody>
      </p:sp>
      <p:sp>
        <p:nvSpPr>
          <p:cNvPr id="4" name="Text 2"/>
          <p:cNvSpPr/>
          <p:nvPr/>
        </p:nvSpPr>
        <p:spPr>
          <a:xfrm>
            <a:off x="457200" y="502920"/>
            <a:ext cx="822960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Beyond the Hackathon — ARIA's Full Roadmap</a:t>
            </a:r>
            <a:endParaRPr lang="en-US" sz="2200" dirty="0"/>
          </a:p>
        </p:txBody>
      </p:sp>
      <p:sp>
        <p:nvSpPr>
          <p:cNvPr id="5" name="Shape 3"/>
          <p:cNvSpPr/>
          <p:nvPr/>
        </p:nvSpPr>
        <p:spPr>
          <a:xfrm>
            <a:off x="457200" y="1005840"/>
            <a:ext cx="8229600" cy="1188720"/>
          </a:xfrm>
          <a:prstGeom prst="rect">
            <a:avLst/>
          </a:prstGeom>
          <a:solidFill>
            <a:srgbClr val="112240"/>
          </a:solidFill>
          <a:ln w="6350">
            <a:solidFill>
              <a:srgbClr val="1E3A5F"/>
            </a:solidFill>
            <a:prstDash val="solid"/>
          </a:ln>
        </p:spPr>
      </p:sp>
      <p:sp>
        <p:nvSpPr>
          <p:cNvPr id="6" name="Shape 4"/>
          <p:cNvSpPr/>
          <p:nvPr/>
        </p:nvSpPr>
        <p:spPr>
          <a:xfrm>
            <a:off x="457200" y="1005840"/>
            <a:ext cx="1097280" cy="1188720"/>
          </a:xfrm>
          <a:prstGeom prst="rect">
            <a:avLst/>
          </a:prstGeom>
          <a:solidFill>
            <a:srgbClr val="7C3AED"/>
          </a:solidFill>
          <a:ln w="12700">
            <a:solidFill>
              <a:srgbClr val="7C3AED"/>
            </a:solidFill>
            <a:prstDash val="solid"/>
          </a:ln>
        </p:spPr>
      </p:sp>
      <p:sp>
        <p:nvSpPr>
          <p:cNvPr id="7" name="Text 5"/>
          <p:cNvSpPr/>
          <p:nvPr/>
        </p:nvSpPr>
        <p:spPr>
          <a:xfrm>
            <a:off x="457200" y="1188720"/>
            <a:ext cx="109728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Phase 7</a:t>
            </a:r>
            <a:endParaRPr lang="en-US" sz="1400" dirty="0"/>
          </a:p>
        </p:txBody>
      </p:sp>
      <p:sp>
        <p:nvSpPr>
          <p:cNvPr id="8" name="Text 6"/>
          <p:cNvSpPr/>
          <p:nvPr/>
        </p:nvSpPr>
        <p:spPr>
          <a:xfrm>
            <a:off x="457200" y="1572768"/>
            <a:ext cx="1097280" cy="502920"/>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Agent Trap Hardening</a:t>
            </a:r>
            <a:endParaRPr lang="en-US" sz="900" dirty="0"/>
          </a:p>
        </p:txBody>
      </p:sp>
      <p:sp>
        <p:nvSpPr>
          <p:cNvPr id="9" name="Text 7"/>
          <p:cNvSpPr/>
          <p:nvPr/>
        </p:nvSpPr>
        <p:spPr>
          <a:xfrm>
            <a:off x="1664208" y="1097280"/>
            <a:ext cx="676656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Agent Trap Hardening</a:t>
            </a:r>
            <a:endParaRPr lang="en-US" sz="1200" dirty="0"/>
          </a:p>
        </p:txBody>
      </p:sp>
      <p:sp>
        <p:nvSpPr>
          <p:cNvPr id="10" name="Text 8"/>
          <p:cNvSpPr/>
          <p:nvPr/>
        </p:nvSpPr>
        <p:spPr>
          <a:xfrm>
            <a:off x="1664208" y="1389888"/>
            <a:ext cx="6766560" cy="731520"/>
          </a:xfrm>
          <a:prstGeom prst="rect">
            <a:avLst/>
          </a:prstGeom>
          <a:noFill/>
          <a:ln/>
        </p:spPr>
        <p:txBody>
          <a:bodyPr wrap="square" rtlCol="0" anchor="t"/>
          <a:lstStyle/>
          <a:p>
            <a:pPr indent="0" marL="0">
              <a:buNone/>
            </a:pPr>
            <a:r>
              <a:rPr lang="en-US" sz="950" dirty="0">
                <a:solidFill>
                  <a:srgbClr val="90E0EF"/>
                </a:solidFill>
                <a:latin typeface="Calibri" pitchFamily="34" charset="0"/>
                <a:ea typeface="Calibri" pitchFamily="34" charset="-122"/>
                <a:cs typeface="Calibri" pitchFamily="34" charset="-120"/>
              </a:rPr>
              <a:t>6 DeepMind attack categories mitigated — Content Injection, Cognitive State (RAG poisoning), Behavioural Control (circuit breaker), Systemic (cross-tenant), Human-in-the-Loop. Directly relevant to banking compliance.</a:t>
            </a:r>
            <a:endParaRPr lang="en-US" sz="950" dirty="0"/>
          </a:p>
        </p:txBody>
      </p:sp>
      <p:sp>
        <p:nvSpPr>
          <p:cNvPr id="11" name="Shape 9"/>
          <p:cNvSpPr/>
          <p:nvPr/>
        </p:nvSpPr>
        <p:spPr>
          <a:xfrm>
            <a:off x="457200" y="2350008"/>
            <a:ext cx="8229600" cy="1188720"/>
          </a:xfrm>
          <a:prstGeom prst="rect">
            <a:avLst/>
          </a:prstGeom>
          <a:solidFill>
            <a:srgbClr val="112240"/>
          </a:solidFill>
          <a:ln w="6350">
            <a:solidFill>
              <a:srgbClr val="1E3A5F"/>
            </a:solidFill>
            <a:prstDash val="solid"/>
          </a:ln>
        </p:spPr>
      </p:sp>
      <p:sp>
        <p:nvSpPr>
          <p:cNvPr id="12" name="Shape 10"/>
          <p:cNvSpPr/>
          <p:nvPr/>
        </p:nvSpPr>
        <p:spPr>
          <a:xfrm>
            <a:off x="457200" y="2350008"/>
            <a:ext cx="1097280" cy="1188720"/>
          </a:xfrm>
          <a:prstGeom prst="rect">
            <a:avLst/>
          </a:prstGeom>
          <a:solidFill>
            <a:srgbClr val="0077A8"/>
          </a:solidFill>
          <a:ln w="12700">
            <a:solidFill>
              <a:srgbClr val="0077A8"/>
            </a:solidFill>
            <a:prstDash val="solid"/>
          </a:ln>
        </p:spPr>
      </p:sp>
      <p:sp>
        <p:nvSpPr>
          <p:cNvPr id="13" name="Text 11"/>
          <p:cNvSpPr/>
          <p:nvPr/>
        </p:nvSpPr>
        <p:spPr>
          <a:xfrm>
            <a:off x="457200" y="2532888"/>
            <a:ext cx="109728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Phase 8</a:t>
            </a:r>
            <a:endParaRPr lang="en-US" sz="1400" dirty="0"/>
          </a:p>
        </p:txBody>
      </p:sp>
      <p:sp>
        <p:nvSpPr>
          <p:cNvPr id="14" name="Text 12"/>
          <p:cNvSpPr/>
          <p:nvPr/>
        </p:nvSpPr>
        <p:spPr>
          <a:xfrm>
            <a:off x="457200" y="2916936"/>
            <a:ext cx="1097280" cy="502920"/>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Managed Agent Architecture</a:t>
            </a:r>
            <a:endParaRPr lang="en-US" sz="900" dirty="0"/>
          </a:p>
        </p:txBody>
      </p:sp>
      <p:sp>
        <p:nvSpPr>
          <p:cNvPr id="15" name="Text 13"/>
          <p:cNvSpPr/>
          <p:nvPr/>
        </p:nvSpPr>
        <p:spPr>
          <a:xfrm>
            <a:off x="1664208" y="2441448"/>
            <a:ext cx="676656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Managed Agent Architecture</a:t>
            </a:r>
            <a:endParaRPr lang="en-US" sz="1200" dirty="0"/>
          </a:p>
        </p:txBody>
      </p:sp>
      <p:sp>
        <p:nvSpPr>
          <p:cNvPr id="16" name="Text 14"/>
          <p:cNvSpPr/>
          <p:nvPr/>
        </p:nvSpPr>
        <p:spPr>
          <a:xfrm>
            <a:off x="1664208" y="2734056"/>
            <a:ext cx="6766560" cy="731520"/>
          </a:xfrm>
          <a:prstGeom prst="rect">
            <a:avLst/>
          </a:prstGeom>
          <a:noFill/>
          <a:ln/>
        </p:spPr>
        <p:txBody>
          <a:bodyPr wrap="square" rtlCol="0" anchor="t"/>
          <a:lstStyle/>
          <a:p>
            <a:pPr indent="0" marL="0">
              <a:buNone/>
            </a:pPr>
            <a:r>
              <a:rPr lang="en-US" sz="950" dirty="0">
                <a:solidFill>
                  <a:srgbClr val="90E0EF"/>
                </a:solidFill>
                <a:latin typeface="Calibri" pitchFamily="34" charset="0"/>
                <a:ea typeface="Calibri" pitchFamily="34" charset="-122"/>
                <a:cs typeface="Calibri" pitchFamily="34" charset="-120"/>
              </a:rPr>
              <a:t>Decouple brain (harness) from hands (tools) — lazy tool provisioning for 60% TTFT reduction, durable session event log for crash recovery, credential vault + MCP proxy for zero-trust tool access.</a:t>
            </a:r>
            <a:endParaRPr lang="en-US" sz="950" dirty="0"/>
          </a:p>
        </p:txBody>
      </p:sp>
      <p:sp>
        <p:nvSpPr>
          <p:cNvPr id="17" name="Shape 15"/>
          <p:cNvSpPr/>
          <p:nvPr/>
        </p:nvSpPr>
        <p:spPr>
          <a:xfrm>
            <a:off x="457200" y="3694176"/>
            <a:ext cx="8229600" cy="1188720"/>
          </a:xfrm>
          <a:prstGeom prst="rect">
            <a:avLst/>
          </a:prstGeom>
          <a:solidFill>
            <a:srgbClr val="112240"/>
          </a:solidFill>
          <a:ln w="6350">
            <a:solidFill>
              <a:srgbClr val="1E3A5F"/>
            </a:solidFill>
            <a:prstDash val="solid"/>
          </a:ln>
        </p:spPr>
      </p:sp>
      <p:sp>
        <p:nvSpPr>
          <p:cNvPr id="18" name="Shape 16"/>
          <p:cNvSpPr/>
          <p:nvPr/>
        </p:nvSpPr>
        <p:spPr>
          <a:xfrm>
            <a:off x="457200" y="3694176"/>
            <a:ext cx="1097280" cy="1188720"/>
          </a:xfrm>
          <a:prstGeom prst="rect">
            <a:avLst/>
          </a:prstGeom>
          <a:solidFill>
            <a:srgbClr val="38A169"/>
          </a:solidFill>
          <a:ln w="12700">
            <a:solidFill>
              <a:srgbClr val="38A169"/>
            </a:solidFill>
            <a:prstDash val="solid"/>
          </a:ln>
        </p:spPr>
      </p:sp>
      <p:sp>
        <p:nvSpPr>
          <p:cNvPr id="19" name="Text 17"/>
          <p:cNvSpPr/>
          <p:nvPr/>
        </p:nvSpPr>
        <p:spPr>
          <a:xfrm>
            <a:off x="457200" y="3877056"/>
            <a:ext cx="109728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Phase 9</a:t>
            </a:r>
            <a:endParaRPr lang="en-US" sz="1400" dirty="0"/>
          </a:p>
        </p:txBody>
      </p:sp>
      <p:sp>
        <p:nvSpPr>
          <p:cNvPr id="20" name="Text 18"/>
          <p:cNvSpPr/>
          <p:nvPr/>
        </p:nvSpPr>
        <p:spPr>
          <a:xfrm>
            <a:off x="457200" y="4261104"/>
            <a:ext cx="1097280" cy="502920"/>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Business Outcome FinOps</a:t>
            </a:r>
            <a:endParaRPr lang="en-US" sz="900" dirty="0"/>
          </a:p>
        </p:txBody>
      </p:sp>
      <p:sp>
        <p:nvSpPr>
          <p:cNvPr id="21" name="Text 19"/>
          <p:cNvSpPr/>
          <p:nvPr/>
        </p:nvSpPr>
        <p:spPr>
          <a:xfrm>
            <a:off x="1664208" y="3785616"/>
            <a:ext cx="676656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Business Outcome FinOps</a:t>
            </a:r>
            <a:endParaRPr lang="en-US" sz="1200" dirty="0"/>
          </a:p>
        </p:txBody>
      </p:sp>
      <p:sp>
        <p:nvSpPr>
          <p:cNvPr id="22" name="Text 20"/>
          <p:cNvSpPr/>
          <p:nvPr/>
        </p:nvSpPr>
        <p:spPr>
          <a:xfrm>
            <a:off x="1664208" y="4078224"/>
            <a:ext cx="6766560" cy="731520"/>
          </a:xfrm>
          <a:prstGeom prst="rect">
            <a:avLst/>
          </a:prstGeom>
          <a:noFill/>
          <a:ln/>
        </p:spPr>
        <p:txBody>
          <a:bodyPr wrap="square" rtlCol="0" anchor="t"/>
          <a:lstStyle/>
          <a:p>
            <a:pPr indent="0" marL="0">
              <a:buNone/>
            </a:pPr>
            <a:r>
              <a:rPr lang="en-US" sz="950" dirty="0">
                <a:solidFill>
                  <a:srgbClr val="90E0EF"/>
                </a:solidFill>
                <a:latin typeface="Calibri" pitchFamily="34" charset="0"/>
                <a:ea typeface="Calibri" pitchFamily="34" charset="-122"/>
                <a:cs typeface="Calibri" pitchFamily="34" charset="-120"/>
              </a:rPr>
              <a:t>Move from token cost to cost per KYC check, cost per AML alert triaged, cost per regulatory report. Governance multiplier (2–5× raw token cost) and industry benchmark comparison vs Linthicum's agentic AI cost benchmarks.</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0B4D8"/>
          </a:solidFill>
          <a:ln w="12700">
            <a:solidFill>
              <a:srgbClr val="00B4D8"/>
            </a:solidFill>
            <a:prstDash val="solid"/>
          </a:ln>
        </p:spPr>
      </p:sp>
      <p:sp>
        <p:nvSpPr>
          <p:cNvPr id="3" name="Text 1"/>
          <p:cNvSpPr/>
          <p:nvPr/>
        </p:nvSpPr>
        <p:spPr>
          <a:xfrm>
            <a:off x="457200" y="822960"/>
            <a:ext cx="8229600" cy="1097280"/>
          </a:xfrm>
          <a:prstGeom prst="rect">
            <a:avLst/>
          </a:prstGeom>
          <a:noFill/>
          <a:ln/>
        </p:spPr>
        <p:txBody>
          <a:bodyPr wrap="square" lIns="0" tIns="0" rIns="0" bIns="0" rtlCol="0" anchor="ctr"/>
          <a:lstStyle/>
          <a:p>
            <a:pPr indent="0" marL="0">
              <a:buNone/>
            </a:pPr>
            <a:r>
              <a:rPr lang="en-US" sz="7200" b="1" dirty="0">
                <a:solidFill>
                  <a:srgbClr val="FFFFFF"/>
                </a:solidFill>
                <a:latin typeface="Calibri" pitchFamily="34" charset="0"/>
                <a:ea typeface="Calibri" pitchFamily="34" charset="-122"/>
                <a:cs typeface="Calibri" pitchFamily="34" charset="-120"/>
              </a:rPr>
              <a:t>Let's Build.</a:t>
            </a:r>
            <a:endParaRPr lang="en-US" sz="7200" dirty="0"/>
          </a:p>
        </p:txBody>
      </p:sp>
      <p:sp>
        <p:nvSpPr>
          <p:cNvPr id="4" name="Text 2"/>
          <p:cNvSpPr/>
          <p:nvPr/>
        </p:nvSpPr>
        <p:spPr>
          <a:xfrm>
            <a:off x="457200" y="1828800"/>
            <a:ext cx="8229600" cy="457200"/>
          </a:xfrm>
          <a:prstGeom prst="rect">
            <a:avLst/>
          </a:prstGeom>
          <a:noFill/>
          <a:ln/>
        </p:spPr>
        <p:txBody>
          <a:bodyPr wrap="square" lIns="0" tIns="0" rIns="0" bIns="0" rtlCol="0" anchor="ctr"/>
          <a:lstStyle/>
          <a:p>
            <a:pPr indent="0" marL="0">
              <a:buNone/>
            </a:pPr>
            <a:r>
              <a:rPr lang="en-US" sz="2000" i="1" dirty="0">
                <a:solidFill>
                  <a:srgbClr val="90E0EF"/>
                </a:solidFill>
                <a:latin typeface="Calibri" pitchFamily="34" charset="0"/>
                <a:ea typeface="Calibri" pitchFamily="34" charset="-122"/>
                <a:cs typeface="Calibri" pitchFamily="34" charset="-120"/>
              </a:rPr>
              <a:t>One day. One platform. Real cost intelligence.</a:t>
            </a:r>
            <a:endParaRPr lang="en-US" sz="2000" dirty="0"/>
          </a:p>
        </p:txBody>
      </p:sp>
      <p:sp>
        <p:nvSpPr>
          <p:cNvPr id="5" name="Shape 3"/>
          <p:cNvSpPr/>
          <p:nvPr/>
        </p:nvSpPr>
        <p:spPr>
          <a:xfrm>
            <a:off x="457200" y="2423160"/>
            <a:ext cx="8229600" cy="0"/>
          </a:xfrm>
          <a:prstGeom prst="line">
            <a:avLst/>
          </a:prstGeom>
          <a:noFill/>
          <a:ln w="12700">
            <a:solidFill>
              <a:srgbClr val="0077A8"/>
            </a:solidFill>
            <a:prstDash val="solid"/>
          </a:ln>
        </p:spPr>
      </p:sp>
      <p:sp>
        <p:nvSpPr>
          <p:cNvPr id="6" name="Text 4"/>
          <p:cNvSpPr/>
          <p:nvPr/>
        </p:nvSpPr>
        <p:spPr>
          <a:xfrm>
            <a:off x="457200" y="2651760"/>
            <a:ext cx="8229600" cy="38404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  Each phase has a full spec .docx — hand it directly to Cursor/IntelliJ AI</a:t>
            </a:r>
            <a:endParaRPr lang="en-US" sz="1300" dirty="0"/>
          </a:p>
        </p:txBody>
      </p:sp>
      <p:sp>
        <p:nvSpPr>
          <p:cNvPr id="7" name="Text 5"/>
          <p:cNvSpPr/>
          <p:nvPr/>
        </p:nvSpPr>
        <p:spPr>
          <a:xfrm>
            <a:off x="457200" y="3127248"/>
            <a:ext cx="8229600" cy="38404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  Acceptance criteria on Slide 13 — verify each one before the demo</a:t>
            </a:r>
            <a:endParaRPr lang="en-US" sz="1300" dirty="0"/>
          </a:p>
        </p:txBody>
      </p:sp>
      <p:sp>
        <p:nvSpPr>
          <p:cNvPr id="8" name="Text 6"/>
          <p:cNvSpPr/>
          <p:nvPr/>
        </p:nvSpPr>
        <p:spPr>
          <a:xfrm>
            <a:off x="457200" y="3602736"/>
            <a:ext cx="8229600" cy="38404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  Phase 1 + 2 are your foundation — get those right first, everything else follows</a:t>
            </a:r>
            <a:endParaRPr lang="en-US" sz="1300" dirty="0"/>
          </a:p>
        </p:txBody>
      </p:sp>
      <p:sp>
        <p:nvSpPr>
          <p:cNvPr id="9" name="Text 7"/>
          <p:cNvSpPr/>
          <p:nvPr/>
        </p:nvSpPr>
        <p:spPr>
          <a:xfrm>
            <a:off x="457200" y="4663440"/>
            <a:ext cx="8229600" cy="274320"/>
          </a:xfrm>
          <a:prstGeom prst="rect">
            <a:avLst/>
          </a:prstGeom>
          <a:noFill/>
          <a:ln/>
        </p:spPr>
        <p:txBody>
          <a:bodyPr wrap="square" lIns="0" tIns="0" rIns="0" bIns="0" rtlCol="0" anchor="ctr"/>
          <a:lstStyle/>
          <a:p>
            <a:pPr indent="0" marL="0">
              <a:buNone/>
            </a:pPr>
            <a:r>
              <a:rPr lang="en-US" sz="1000" dirty="0">
                <a:solidFill>
                  <a:srgbClr val="718096"/>
                </a:solidFill>
                <a:latin typeface="Calibri" pitchFamily="34" charset="0"/>
                <a:ea typeface="Calibri" pitchFamily="34" charset="-122"/>
                <a:cs typeface="Calibri" pitchFamily="34" charset="-120"/>
              </a:rPr>
              <a:t>ARIA  ·  Hackathon Edition  ·  June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ARIA — Hackathon Kickoff</dc:title>
  <dc:subject>PptxGenJS Presentation</dc:subject>
  <dc:creator>PptxGenJS</dc:creator>
  <cp:lastModifiedBy>PptxGenJS</cp:lastModifiedBy>
  <cp:revision>1</cp:revision>
  <dcterms:created xsi:type="dcterms:W3CDTF">2026-06-09T02:02:37Z</dcterms:created>
  <dcterms:modified xsi:type="dcterms:W3CDTF">2026-06-09T02:02:37Z</dcterms:modified>
</cp:coreProperties>
</file>